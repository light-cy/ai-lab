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330" r:id="rId3"/>
    <p:sldId id="343" r:id="rId4"/>
    <p:sldId id="344" r:id="rId5"/>
    <p:sldId id="345" r:id="rId6"/>
    <p:sldId id="369" r:id="rId7"/>
    <p:sldId id="348" r:id="rId8"/>
    <p:sldId id="266" r:id="rId9"/>
    <p:sldId id="267" r:id="rId10"/>
    <p:sldId id="299" r:id="rId11"/>
    <p:sldId id="268" r:id="rId12"/>
    <p:sldId id="332" r:id="rId13"/>
    <p:sldId id="327" r:id="rId14"/>
    <p:sldId id="338" r:id="rId15"/>
    <p:sldId id="339" r:id="rId16"/>
    <p:sldId id="341" r:id="rId17"/>
    <p:sldId id="271" r:id="rId18"/>
    <p:sldId id="342" r:id="rId19"/>
    <p:sldId id="272" r:id="rId20"/>
    <p:sldId id="351" r:id="rId21"/>
    <p:sldId id="312" r:id="rId22"/>
    <p:sldId id="323" r:id="rId23"/>
    <p:sldId id="275" r:id="rId24"/>
    <p:sldId id="315" r:id="rId25"/>
    <p:sldId id="314" r:id="rId26"/>
    <p:sldId id="350" r:id="rId27"/>
    <p:sldId id="317" r:id="rId28"/>
    <p:sldId id="318" r:id="rId29"/>
    <p:sldId id="371" r:id="rId30"/>
    <p:sldId id="372" r:id="rId31"/>
    <p:sldId id="370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63" r:id="rId42"/>
    <p:sldId id="364" r:id="rId43"/>
    <p:sldId id="365" r:id="rId44"/>
    <p:sldId id="367" r:id="rId45"/>
    <p:sldId id="368" r:id="rId46"/>
    <p:sldId id="263" r:id="rId47"/>
    <p:sldId id="276" r:id="rId48"/>
    <p:sldId id="333" r:id="rId49"/>
    <p:sldId id="292" r:id="rId50"/>
    <p:sldId id="293" r:id="rId51"/>
    <p:sldId id="309" r:id="rId52"/>
    <p:sldId id="336" r:id="rId53"/>
    <p:sldId id="294" r:id="rId54"/>
    <p:sldId id="353" r:id="rId55"/>
    <p:sldId id="347" r:id="rId56"/>
    <p:sldId id="373" r:id="rId57"/>
    <p:sldId id="374" r:id="rId58"/>
    <p:sldId id="375" r:id="rId59"/>
    <p:sldId id="329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E194F8-B9E7-4FE7-A917-9D82033124E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E55CF-4F64-4245-92C8-4857EE598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E55CF-4F64-4245-92C8-4857EE598E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72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eaLnBrk="1" hangingPunct="1"/>
            <a:fld id="{E661C101-A347-4003-B1FE-BC7BE47B5899}" type="slidenum">
              <a:rPr lang="en-GB" altLang="en-US" sz="1200"/>
              <a:pPr eaLnBrk="1" hangingPunct="1"/>
              <a:t>18</a:t>
            </a:fld>
            <a:endParaRPr lang="en-GB" altLang="en-US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2812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eaLnBrk="1" hangingPunct="1"/>
            <a:fld id="{4FC6E571-1F75-4999-A392-6F716B975DEF}" type="slidenum">
              <a:rPr lang="en-GB" altLang="en-US" sz="1200"/>
              <a:pPr eaLnBrk="1" hangingPunct="1"/>
              <a:t>27</a:t>
            </a:fld>
            <a:endParaRPr lang="en-GB" alt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/>
              <a:t>Insert fig 4.15</a:t>
            </a:r>
          </a:p>
        </p:txBody>
      </p:sp>
    </p:spTree>
    <p:extLst>
      <p:ext uri="{BB962C8B-B14F-4D97-AF65-F5344CB8AC3E}">
        <p14:creationId xmlns:p14="http://schemas.microsoft.com/office/powerpoint/2010/main" val="315002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9695FA-DE73-434C-9DAD-15FC43633AC5}" type="slidenum">
              <a:rPr lang="en-US" altLang="en-US">
                <a:cs typeface="Arial" pitchFamily="34" charset="0"/>
              </a:rPr>
              <a:pPr/>
              <a:t>51</a:t>
            </a:fld>
            <a:endParaRPr lang="en-US" altLang="en-US">
              <a:cs typeface="Arial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82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AD8EE-95A1-4506-ABE6-A9AD0BFBAC61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11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2A0-5CA7-48C2-B137-AC9A2C842045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599C-B773-4718-A546-1DCFB821D485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20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F676-89CD-4BF4-997F-1052FD623528}" type="datetime1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80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22-D63F-45DC-BAC5-C12134746534}" type="datetime1">
              <a:rPr lang="en-US" smtClean="0"/>
              <a:t>4/18/2022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7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D294-2412-48EB-8866-6B46A77C6717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7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70C8C-1DBF-421B-8268-513D1324C3E5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3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A688-2DF2-4476-919E-572DC449039B}" type="datetime1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0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7DA37-8509-4D3F-82DA-B998B5260E08}" type="datetime1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70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6238-FC3C-48ED-ABD1-8FB59B6D9378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9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8A79-46A8-46C0-B399-F75CB86C21E3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17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11C22005-6B7A-4668-B880-B86B5AD870C5}" type="datetime1">
              <a:rPr lang="en-US" altLang="x-none" smtClean="0"/>
              <a:t>4/18/2022</a:t>
            </a:fld>
            <a:endParaRPr lang="en-GB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9A5B1077-DFDC-4177-BEA9-F4BA4D7541A9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032176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67A59B39-0B04-415F-BEAC-088FA52B5FD1}" type="datetime1">
              <a:rPr lang="en-US" altLang="x-none" smtClean="0"/>
              <a:t>4/18/2022</a:t>
            </a:fld>
            <a:endParaRPr lang="en-GB" altLang="x-none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x-none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829DB524-A9BB-4FB5-8B75-CA1443C913EA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95903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C6C52-E6E2-4221-8D17-841165310C87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2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2.png"/><Relationship Id="rId4" Type="http://schemas.openxmlformats.org/officeDocument/2006/relationships/oleObject" Target="../embeddings/oleObject1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tochastic_hill_climbing" TargetMode="External"/><Relationship Id="rId2" Type="http://schemas.openxmlformats.org/officeDocument/2006/relationships/hyperlink" Target="https://en.wikipedia.org/wiki/Best-first_search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513" y="62158"/>
            <a:ext cx="9144000" cy="2387600"/>
          </a:xfrm>
        </p:spPr>
        <p:txBody>
          <a:bodyPr/>
          <a:lstStyle/>
          <a:p>
            <a:r>
              <a:rPr lang="en-US" dirty="0"/>
              <a:t>Local </a:t>
            </a:r>
            <a:r>
              <a:rPr lang="en-US"/>
              <a:t>Search and </a:t>
            </a:r>
            <a:r>
              <a:rPr lang="en-US" dirty="0"/>
              <a:t>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513" y="2896360"/>
            <a:ext cx="9144000" cy="16557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39970" y="2688572"/>
            <a:ext cx="6671086" cy="4169428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25DBB-6CCD-462D-9054-5C0A98893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31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Search Algorithms</a:t>
            </a:r>
          </a:p>
        </p:txBody>
      </p:sp>
      <p:sp>
        <p:nvSpPr>
          <p:cNvPr id="178184" name="Rectangle 8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 fontScale="92500" lnSpcReduction="10000"/>
          </a:bodyPr>
          <a:lstStyle/>
          <a:p>
            <a:r>
              <a:rPr lang="en-US" dirty="0">
                <a:cs typeface="Times New Roman" pitchFamily="18" charset="0"/>
              </a:rPr>
              <a:t>The search algorithms we have seen so far keep track of the </a:t>
            </a:r>
            <a:r>
              <a:rPr lang="en-US" dirty="0">
                <a:solidFill>
                  <a:schemeClr val="hlink"/>
                </a:solidFill>
                <a:cs typeface="Times New Roman" pitchFamily="18" charset="0"/>
              </a:rPr>
              <a:t>current state</a:t>
            </a:r>
            <a:r>
              <a:rPr lang="en-US" dirty="0">
                <a:cs typeface="Times New Roman" pitchFamily="18" charset="0"/>
              </a:rPr>
              <a:t>, the “</a:t>
            </a:r>
            <a:r>
              <a:rPr lang="en-US" dirty="0">
                <a:solidFill>
                  <a:schemeClr val="hlink"/>
                </a:solidFill>
                <a:cs typeface="Times New Roman" pitchFamily="18" charset="0"/>
              </a:rPr>
              <a:t>fringe</a:t>
            </a:r>
            <a:r>
              <a:rPr lang="en-US" dirty="0">
                <a:cs typeface="Times New Roman" pitchFamily="18" charset="0"/>
              </a:rPr>
              <a:t>” of the search space, and the </a:t>
            </a:r>
            <a:r>
              <a:rPr lang="en-US" i="1" dirty="0">
                <a:solidFill>
                  <a:schemeClr val="hlink"/>
                </a:solidFill>
                <a:cs typeface="Times New Roman" pitchFamily="18" charset="0"/>
              </a:rPr>
              <a:t>path</a:t>
            </a:r>
            <a:r>
              <a:rPr lang="en-US" dirty="0">
                <a:cs typeface="Times New Roman" pitchFamily="18" charset="0"/>
              </a:rPr>
              <a:t> to the final state.</a:t>
            </a:r>
          </a:p>
          <a:p>
            <a:endParaRPr lang="en-US" dirty="0">
              <a:cs typeface="Times New Roman" pitchFamily="18" charset="0"/>
            </a:endParaRPr>
          </a:p>
          <a:p>
            <a:r>
              <a:rPr lang="en-US" dirty="0">
                <a:cs typeface="Times New Roman" pitchFamily="18" charset="0"/>
              </a:rPr>
              <a:t>In some problems, one doesn’t care about a solution path but only the </a:t>
            </a:r>
            <a:r>
              <a:rPr lang="en-US" dirty="0">
                <a:solidFill>
                  <a:schemeClr val="hlink"/>
                </a:solidFill>
                <a:cs typeface="Times New Roman" pitchFamily="18" charset="0"/>
              </a:rPr>
              <a:t>orientation of the final goal state</a:t>
            </a:r>
          </a:p>
          <a:p>
            <a:pPr lvl="1"/>
            <a:r>
              <a:rPr lang="en-US" sz="2800" dirty="0">
                <a:cs typeface="Times New Roman" pitchFamily="18" charset="0"/>
              </a:rPr>
              <a:t>Example: 8-queen problem</a:t>
            </a:r>
          </a:p>
          <a:p>
            <a:endParaRPr lang="en-US" dirty="0">
              <a:cs typeface="Times New Roman" pitchFamily="18" charset="0"/>
            </a:endParaRPr>
          </a:p>
          <a:p>
            <a:r>
              <a:rPr lang="en-US" dirty="0">
                <a:cs typeface="Times New Roman" pitchFamily="18" charset="0"/>
              </a:rPr>
              <a:t>Local search algorithms operate on a </a:t>
            </a:r>
            <a:r>
              <a:rPr lang="en-US" i="1" dirty="0">
                <a:solidFill>
                  <a:schemeClr val="hlink"/>
                </a:solidFill>
                <a:cs typeface="Times New Roman" pitchFamily="18" charset="0"/>
              </a:rPr>
              <a:t>single</a:t>
            </a:r>
            <a:r>
              <a:rPr lang="en-US" dirty="0">
                <a:solidFill>
                  <a:schemeClr val="hlink"/>
                </a:solidFill>
                <a:cs typeface="Times New Roman" pitchFamily="18" charset="0"/>
              </a:rPr>
              <a:t> state – current state</a:t>
            </a:r>
            <a:r>
              <a:rPr lang="en-US" dirty="0">
                <a:cs typeface="Times New Roman" pitchFamily="18" charset="0"/>
              </a:rPr>
              <a:t> – and move to one of its </a:t>
            </a:r>
            <a:r>
              <a:rPr lang="en-US" dirty="0">
                <a:solidFill>
                  <a:schemeClr val="hlink"/>
                </a:solidFill>
                <a:cs typeface="Times New Roman" pitchFamily="18" charset="0"/>
              </a:rPr>
              <a:t>neighboring states</a:t>
            </a:r>
          </a:p>
          <a:p>
            <a:pPr lvl="1"/>
            <a:r>
              <a:rPr lang="en-US" sz="2800" dirty="0">
                <a:cs typeface="Times New Roman" pitchFamily="18" charset="0"/>
              </a:rPr>
              <a:t>Solution path needs not be maintained</a:t>
            </a:r>
          </a:p>
          <a:p>
            <a:pPr lvl="1"/>
            <a:r>
              <a:rPr lang="en-US" sz="2800" dirty="0">
                <a:cs typeface="Times New Roman" pitchFamily="18" charset="0"/>
              </a:rPr>
              <a:t>Hence, the search is “local”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A7481-3E88-4AC3-9D3C-7D18B55AF391}" type="slidenum">
              <a:rPr lang="en-GB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27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2" name="Picture 4" descr="australia-solu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1" y="1295400"/>
            <a:ext cx="3781425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Map-Coloring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4943061"/>
            <a:ext cx="10515600" cy="1233902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accent2"/>
                </a:solidFill>
              </a:rPr>
              <a:t>Solutions</a:t>
            </a:r>
            <a:r>
              <a:rPr lang="en-US" altLang="en-US" dirty="0"/>
              <a:t> are </a:t>
            </a:r>
            <a:r>
              <a:rPr lang="en-US" altLang="en-US" dirty="0">
                <a:solidFill>
                  <a:srgbClr val="FF0000"/>
                </a:solidFill>
              </a:rPr>
              <a:t>complete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FF0000"/>
                </a:solidFill>
              </a:rPr>
              <a:t>consistent</a:t>
            </a:r>
            <a:r>
              <a:rPr lang="en-US" altLang="en-US" dirty="0"/>
              <a:t> assignments, e.g., WA = red, NT = </a:t>
            </a:r>
            <a:r>
              <a:rPr lang="en-US" altLang="en-US" dirty="0" err="1"/>
              <a:t>green,Q</a:t>
            </a:r>
            <a:r>
              <a:rPr lang="en-US" altLang="en-US" dirty="0"/>
              <a:t> = </a:t>
            </a:r>
            <a:r>
              <a:rPr lang="en-US" altLang="en-US" dirty="0" err="1"/>
              <a:t>red,NSW</a:t>
            </a:r>
            <a:r>
              <a:rPr lang="en-US" altLang="en-US" dirty="0"/>
              <a:t> = </a:t>
            </a:r>
            <a:r>
              <a:rPr lang="en-US" altLang="en-US" dirty="0" err="1"/>
              <a:t>green,V</a:t>
            </a:r>
            <a:r>
              <a:rPr lang="en-US" altLang="en-US" dirty="0"/>
              <a:t> = </a:t>
            </a:r>
            <a:r>
              <a:rPr lang="en-US" altLang="en-US" dirty="0" err="1"/>
              <a:t>red,SA</a:t>
            </a:r>
            <a:r>
              <a:rPr lang="en-US" altLang="en-US" dirty="0"/>
              <a:t> = </a:t>
            </a:r>
            <a:r>
              <a:rPr lang="en-US" altLang="en-US" dirty="0" err="1"/>
              <a:t>blue,T</a:t>
            </a:r>
            <a:r>
              <a:rPr lang="en-US" altLang="en-US" dirty="0"/>
              <a:t> = green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FFA00-C68E-4320-8B08-43DA02288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43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Constraint graph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It can be helpful to visualize a CSP as a </a:t>
            </a:r>
            <a:r>
              <a:rPr lang="en-US" sz="2400" b="1" dirty="0"/>
              <a:t>constraint graph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304" y="2360688"/>
            <a:ext cx="6957391" cy="429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86DA7A-B182-4301-BE11-EC5DA1F23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38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152400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pic>
        <p:nvPicPr>
          <p:cNvPr id="19460" name="Picture 4" descr="backtrack-progress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338" y="1690688"/>
            <a:ext cx="7631323" cy="4715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 flipH="1">
            <a:off x="5105400" y="5410200"/>
            <a:ext cx="2286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7FA727-68CD-43CB-B5E5-9DB48A28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78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Search Algorithms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there is no need to memorize the path to the goal, just to find the goal.</a:t>
            </a:r>
          </a:p>
          <a:p>
            <a:r>
              <a:rPr lang="en-US" dirty="0"/>
              <a:t>Cost of the path and finding optimal path to the goal is not required.</a:t>
            </a:r>
          </a:p>
          <a:p>
            <a:r>
              <a:rPr lang="en-US" dirty="0"/>
              <a:t>Start from a single current state and check the neighboring states</a:t>
            </a:r>
          </a:p>
          <a:p>
            <a:r>
              <a:rPr lang="en-US" dirty="0"/>
              <a:t>Consumes little memory</a:t>
            </a:r>
          </a:p>
          <a:p>
            <a:r>
              <a:rPr lang="en-US" dirty="0"/>
              <a:t>Useful with large state space.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D9647A-D904-4AAC-B249-5E5117202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89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Local Search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400" dirty="0"/>
              <a:t>Tree search keeps unexplored alternatives on the fringe (ensures completeness)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Local search: improve a single option until you can’t make it better (no fringe!)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New successor function: local changes</a:t>
            </a:r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Generally much faster and more memory efficient (but incomplete and suboptimal)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6172200" y="3339765"/>
            <a:ext cx="3886200" cy="1994235"/>
            <a:chOff x="1981200" y="2209800"/>
            <a:chExt cx="5791200" cy="2971800"/>
          </a:xfrm>
        </p:grpSpPr>
        <p:sp>
          <p:nvSpPr>
            <p:cNvPr id="6" name="Oval 5"/>
            <p:cNvSpPr/>
            <p:nvPr/>
          </p:nvSpPr>
          <p:spPr>
            <a:xfrm>
              <a:off x="1981200" y="3429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3200400" y="3429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/>
            <p:cNvCxnSpPr>
              <a:stCxn id="6" idx="6"/>
              <a:endCxn id="7" idx="2"/>
            </p:cNvCxnSpPr>
            <p:nvPr/>
          </p:nvCxnSpPr>
          <p:spPr>
            <a:xfrm>
              <a:off x="2590800" y="3733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TP_tmp.png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2819400" y="3352800"/>
              <a:ext cx="178307" cy="254507"/>
            </a:xfrm>
            <a:prstGeom prst="rect">
              <a:avLst/>
            </a:prstGeom>
          </p:spPr>
        </p:pic>
        <p:sp>
          <p:nvSpPr>
            <p:cNvPr id="13" name="Oval 12"/>
            <p:cNvSpPr/>
            <p:nvPr/>
          </p:nvSpPr>
          <p:spPr>
            <a:xfrm>
              <a:off x="5943600" y="3048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7162800" y="3048000"/>
              <a:ext cx="609600" cy="609600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/>
            <p:cNvCxnSpPr>
              <a:stCxn id="13" idx="6"/>
              <a:endCxn id="14" idx="2"/>
            </p:cNvCxnSpPr>
            <p:nvPr/>
          </p:nvCxnSpPr>
          <p:spPr>
            <a:xfrm>
              <a:off x="6553200" y="3352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 descr="TP_tmp.png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781800" y="2971800"/>
              <a:ext cx="178307" cy="254507"/>
            </a:xfrm>
            <a:prstGeom prst="rect">
              <a:avLst/>
            </a:prstGeom>
          </p:spPr>
        </p:pic>
        <p:sp>
          <p:nvSpPr>
            <p:cNvPr id="17" name="Oval 16"/>
            <p:cNvSpPr/>
            <p:nvPr/>
          </p:nvSpPr>
          <p:spPr>
            <a:xfrm>
              <a:off x="5943600" y="3810000"/>
              <a:ext cx="609600" cy="609600"/>
            </a:xfrm>
            <a:prstGeom prst="ellipse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7162800" y="3810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/>
            <p:cNvCxnSpPr>
              <a:stCxn id="17" idx="6"/>
              <a:endCxn id="18" idx="2"/>
            </p:cNvCxnSpPr>
            <p:nvPr/>
          </p:nvCxnSpPr>
          <p:spPr>
            <a:xfrm>
              <a:off x="6553200" y="4114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Picture 19" descr="TP_tmp.png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781800" y="3733800"/>
              <a:ext cx="178307" cy="254507"/>
            </a:xfrm>
            <a:prstGeom prst="rect">
              <a:avLst/>
            </a:prstGeom>
          </p:spPr>
        </p:pic>
        <p:sp>
          <p:nvSpPr>
            <p:cNvPr id="21" name="Oval 20"/>
            <p:cNvSpPr/>
            <p:nvPr/>
          </p:nvSpPr>
          <p:spPr>
            <a:xfrm>
              <a:off x="5943600" y="4572000"/>
              <a:ext cx="609600" cy="609600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162800" y="4572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>
              <a:stCxn id="21" idx="6"/>
              <a:endCxn id="22" idx="2"/>
            </p:cNvCxnSpPr>
            <p:nvPr/>
          </p:nvCxnSpPr>
          <p:spPr>
            <a:xfrm>
              <a:off x="6553200" y="4876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 descr="TP_tmp.png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781800" y="4495800"/>
              <a:ext cx="178307" cy="254507"/>
            </a:xfrm>
            <a:prstGeom prst="rect">
              <a:avLst/>
            </a:prstGeom>
          </p:spPr>
        </p:pic>
        <p:cxnSp>
          <p:nvCxnSpPr>
            <p:cNvPr id="27" name="Straight Arrow Connector 26"/>
            <p:cNvCxnSpPr/>
            <p:nvPr/>
          </p:nvCxnSpPr>
          <p:spPr>
            <a:xfrm flipV="1">
              <a:off x="4114800" y="3352800"/>
              <a:ext cx="1524000" cy="381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4114800" y="2590800"/>
              <a:ext cx="1524000" cy="1143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4114800" y="3733800"/>
              <a:ext cx="1524000" cy="1143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5943600" y="2286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7162800" y="2286000"/>
              <a:ext cx="609600" cy="609600"/>
            </a:xfrm>
            <a:prstGeom prst="ellipse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/>
            <p:cNvCxnSpPr>
              <a:stCxn id="33" idx="6"/>
              <a:endCxn id="34" idx="2"/>
            </p:cNvCxnSpPr>
            <p:nvPr/>
          </p:nvCxnSpPr>
          <p:spPr>
            <a:xfrm>
              <a:off x="6553200" y="2590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35" descr="TP_tmp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781800" y="2209800"/>
              <a:ext cx="178307" cy="254507"/>
            </a:xfrm>
            <a:prstGeom prst="rect">
              <a:avLst/>
            </a:prstGeom>
          </p:spPr>
        </p:pic>
        <p:cxnSp>
          <p:nvCxnSpPr>
            <p:cNvPr id="42" name="Straight Arrow Connector 41"/>
            <p:cNvCxnSpPr/>
            <p:nvPr/>
          </p:nvCxnSpPr>
          <p:spPr>
            <a:xfrm>
              <a:off x="4114800" y="3733800"/>
              <a:ext cx="1524000" cy="381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694476-94ED-461E-A98A-2AFEE7912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35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Local Search Methods – Applications </a:t>
            </a:r>
            <a:endParaRPr lang="en-GB" altLang="x-none" dirty="0"/>
          </a:p>
        </p:txBody>
      </p:sp>
      <p:sp>
        <p:nvSpPr>
          <p:cNvPr id="163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x-none" dirty="0">
                <a:solidFill>
                  <a:srgbClr val="FF0000"/>
                </a:solidFill>
              </a:rPr>
              <a:t>Applicable when seeking Goal State &amp; don't care how to get there</a:t>
            </a:r>
            <a:r>
              <a:rPr lang="en-US" altLang="x-none" dirty="0"/>
              <a:t>. E.g.,</a:t>
            </a:r>
          </a:p>
          <a:p>
            <a:endParaRPr lang="en-US" altLang="x-none" sz="500" dirty="0"/>
          </a:p>
          <a:p>
            <a:pPr lvl="1"/>
            <a:r>
              <a:rPr lang="en-US" altLang="x-none" sz="3000" dirty="0"/>
              <a:t>N-queens, </a:t>
            </a:r>
          </a:p>
          <a:p>
            <a:pPr lvl="1"/>
            <a:r>
              <a:rPr lang="en-US" altLang="x-none" sz="3000" dirty="0"/>
              <a:t>finding shortest/cheapest round trips</a:t>
            </a:r>
            <a:r>
              <a:rPr lang="en-US" altLang="x-none" sz="3000" b="1" dirty="0">
                <a:solidFill>
                  <a:srgbClr val="FF0000"/>
                </a:solidFill>
              </a:rPr>
              <a:t> </a:t>
            </a:r>
          </a:p>
          <a:p>
            <a:pPr lvl="2"/>
            <a:r>
              <a:rPr lang="en-US" altLang="x-none" sz="2600" b="1" dirty="0">
                <a:solidFill>
                  <a:srgbClr val="FF0000"/>
                </a:solidFill>
              </a:rPr>
              <a:t>(Travel Salesman Problem, Vehicle Routing Problem)</a:t>
            </a:r>
          </a:p>
          <a:p>
            <a:pPr lvl="1"/>
            <a:r>
              <a:rPr lang="en-US" altLang="x-none" sz="3000" dirty="0"/>
              <a:t>finding models of propositional formulae </a:t>
            </a:r>
            <a:r>
              <a:rPr lang="en-US" altLang="x-none" sz="3000" dirty="0">
                <a:solidFill>
                  <a:srgbClr val="FF0000"/>
                </a:solidFill>
              </a:rPr>
              <a:t>(SAT solvers)</a:t>
            </a:r>
          </a:p>
          <a:p>
            <a:pPr lvl="1"/>
            <a:r>
              <a:rPr lang="en-US" altLang="x-none" sz="3000" dirty="0"/>
              <a:t>VLSI layout, planning, scheduling, time-tabling, . . . </a:t>
            </a:r>
          </a:p>
          <a:p>
            <a:pPr lvl="1"/>
            <a:r>
              <a:rPr lang="en-US" altLang="x-none" sz="3000" dirty="0"/>
              <a:t>map coloring, </a:t>
            </a:r>
          </a:p>
          <a:p>
            <a:pPr lvl="1"/>
            <a:r>
              <a:rPr lang="en-US" altLang="x-none" sz="3000" dirty="0"/>
              <a:t>resource allocation</a:t>
            </a:r>
          </a:p>
          <a:p>
            <a:pPr lvl="1"/>
            <a:r>
              <a:rPr lang="en-US" altLang="x-none" sz="3000" dirty="0"/>
              <a:t>protein structure prediction</a:t>
            </a:r>
          </a:p>
          <a:p>
            <a:pPr lvl="1"/>
            <a:r>
              <a:rPr lang="en-US" altLang="x-none" sz="3000" dirty="0"/>
              <a:t>genome sequence assembly</a:t>
            </a:r>
            <a:endParaRPr lang="en-US" altLang="x-none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B4C54-3620-40E9-9359-3A5F36A01203}" type="slidenum">
              <a:rPr lang="en-GB" altLang="x-none" smtClean="0"/>
              <a:pPr/>
              <a:t>8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810191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Search Algorithms</a:t>
            </a: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x-none" dirty="0"/>
              <a:t>In many optimization problems, the </a:t>
            </a:r>
            <a:r>
              <a:rPr lang="en-US" altLang="x-none" b="1" dirty="0">
                <a:solidFill>
                  <a:srgbClr val="FF0000"/>
                </a:solidFill>
              </a:rPr>
              <a:t>path</a:t>
            </a:r>
            <a:r>
              <a:rPr lang="en-US" altLang="x-none" dirty="0"/>
              <a:t> to the goal is irrelevant; </a:t>
            </a:r>
            <a:r>
              <a:rPr lang="en-US" altLang="x-none" dirty="0">
                <a:solidFill>
                  <a:srgbClr val="FF0000"/>
                </a:solidFill>
              </a:rPr>
              <a:t>the goal state itself is the solution</a:t>
            </a:r>
            <a:endParaRPr lang="en-US" altLang="x-none" dirty="0"/>
          </a:p>
          <a:p>
            <a:r>
              <a:rPr lang="en-US" altLang="x-none" dirty="0"/>
              <a:t>State space = set of configurations</a:t>
            </a:r>
          </a:p>
          <a:p>
            <a:pPr lvl="1"/>
            <a:r>
              <a:rPr lang="en-US" altLang="x-none" dirty="0">
                <a:solidFill>
                  <a:schemeClr val="tx2">
                    <a:lumMod val="75000"/>
                  </a:schemeClr>
                </a:solidFill>
              </a:rPr>
              <a:t>Find a configuration satisfying your constraints</a:t>
            </a:r>
            <a:r>
              <a:rPr lang="en-US" altLang="x-none" dirty="0"/>
              <a:t>, e.g., n-queens</a:t>
            </a:r>
          </a:p>
          <a:p>
            <a:pPr lvl="1"/>
            <a:r>
              <a:rPr lang="en-US" altLang="x-none" sz="3000" dirty="0"/>
              <a:t>Find the best possible state according to a given</a:t>
            </a:r>
            <a:r>
              <a:rPr lang="en-US" altLang="x-none" sz="3000" dirty="0">
                <a:solidFill>
                  <a:srgbClr val="FF0000"/>
                </a:solidFill>
              </a:rPr>
              <a:t> objective function</a:t>
            </a:r>
            <a:endParaRPr lang="en-US" altLang="x-none" sz="3000" dirty="0"/>
          </a:p>
          <a:p>
            <a:r>
              <a:rPr lang="en-US" altLang="x-none" dirty="0"/>
              <a:t>In such cases, we can </a:t>
            </a:r>
            <a:r>
              <a:rPr lang="en-US" altLang="x-none" b="1" dirty="0">
                <a:solidFill>
                  <a:srgbClr val="FF0000"/>
                </a:solidFill>
              </a:rPr>
              <a:t>use local search algorithms</a:t>
            </a:r>
          </a:p>
          <a:p>
            <a:pPr lvl="1"/>
            <a:r>
              <a:rPr lang="en-US" altLang="x-none" dirty="0">
                <a:solidFill>
                  <a:srgbClr val="FF0000"/>
                </a:solidFill>
              </a:rPr>
              <a:t>Keeps a single "current" state,</a:t>
            </a:r>
            <a:r>
              <a:rPr lang="en-US" altLang="x-none" dirty="0"/>
              <a:t> and then shift states, but </a:t>
            </a:r>
            <a:r>
              <a:rPr lang="en-US" altLang="x-none" dirty="0">
                <a:solidFill>
                  <a:schemeClr val="tx2">
                    <a:lumMod val="75000"/>
                  </a:schemeClr>
                </a:solidFill>
              </a:rPr>
              <a:t>don’t keep track of paths</a:t>
            </a:r>
            <a:r>
              <a:rPr lang="en-US" altLang="x-none" dirty="0"/>
              <a:t>.</a:t>
            </a:r>
          </a:p>
          <a:p>
            <a:pPr lvl="1"/>
            <a:r>
              <a:rPr lang="en-US" altLang="x-none" dirty="0"/>
              <a:t>Use very limited memory</a:t>
            </a:r>
          </a:p>
          <a:p>
            <a:pPr lvl="1"/>
            <a:r>
              <a:rPr lang="en-US" altLang="x-none" dirty="0">
                <a:solidFill>
                  <a:srgbClr val="FF0000"/>
                </a:solidFill>
              </a:rPr>
              <a:t>Find reasonable solutions </a:t>
            </a:r>
            <a:r>
              <a:rPr lang="en-US" altLang="x-none" dirty="0"/>
              <a:t>in large state spaces.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5D5C-46F7-49D1-B1DB-AFAF2E76CF2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38200" y="4161972"/>
            <a:ext cx="10515600" cy="201499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79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search algorithms work as follows: </a:t>
            </a:r>
          </a:p>
          <a:p>
            <a:pPr lvl="1"/>
            <a:r>
              <a:rPr lang="en-US" dirty="0"/>
              <a:t>Pick a “solution” from the search space and evaluate it. Define this as the current solution.</a:t>
            </a:r>
          </a:p>
          <a:p>
            <a:pPr lvl="1"/>
            <a:r>
              <a:rPr lang="en-US" dirty="0"/>
              <a:t>Apply a transformation to the current solution to generate and evaluate a new solution.</a:t>
            </a:r>
          </a:p>
          <a:p>
            <a:pPr lvl="1"/>
            <a:r>
              <a:rPr lang="en-US" dirty="0"/>
              <a:t>If the new solution is better than the current solution then exchange it with the current solution; otherwise discard the new solution.</a:t>
            </a:r>
          </a:p>
          <a:p>
            <a:pPr lvl="1"/>
            <a:r>
              <a:rPr lang="en-US" dirty="0"/>
              <a:t>Repeat steps 2 and 3 until no transformation in the given set improves the current solution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8839D-536D-4074-A736-8E950E942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96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Local search</a:t>
            </a:r>
            <a:endParaRPr lang="en-GB" altLang="x-none"/>
          </a:p>
        </p:txBody>
      </p:sp>
      <p:sp>
        <p:nvSpPr>
          <p:cNvPr id="3676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  <a:buFont typeface="Wingdings" pitchFamily="2" charset="2"/>
              <a:buChar char="w"/>
            </a:pPr>
            <a:r>
              <a:rPr lang="en-US" altLang="x-none" b="1" dirty="0">
                <a:solidFill>
                  <a:schemeClr val="tx2">
                    <a:lumMod val="75000"/>
                  </a:schemeClr>
                </a:solidFill>
              </a:rPr>
              <a:t>Key idea </a:t>
            </a:r>
            <a:r>
              <a:rPr lang="en-US" altLang="x-none" b="1" dirty="0"/>
              <a:t>(surprisingly simple):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Char char="w"/>
            </a:pPr>
            <a:endParaRPr lang="en-US" altLang="x-none" dirty="0"/>
          </a:p>
          <a:p>
            <a:pPr marL="838200" lvl="1" indent="-3810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x-none" dirty="0"/>
              <a:t>Select (random) initial state (</a:t>
            </a:r>
            <a:r>
              <a:rPr lang="en-US" altLang="x-none" dirty="0">
                <a:solidFill>
                  <a:srgbClr val="FF0000"/>
                </a:solidFill>
              </a:rPr>
              <a:t>generate an initial guess</a:t>
            </a:r>
            <a:r>
              <a:rPr lang="en-US" altLang="x-none" dirty="0"/>
              <a:t>) </a:t>
            </a:r>
          </a:p>
          <a:p>
            <a:pPr marL="838200" lvl="1" indent="-381000">
              <a:lnSpc>
                <a:spcPct val="80000"/>
              </a:lnSpc>
              <a:buFont typeface="Wingdings" pitchFamily="2" charset="2"/>
              <a:buAutoNum type="arabicPeriod"/>
            </a:pPr>
            <a:endParaRPr lang="en-US" altLang="x-none" dirty="0"/>
          </a:p>
          <a:p>
            <a:pPr marL="838200" lvl="1" indent="-3810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x-none" dirty="0"/>
              <a:t>Make </a:t>
            </a:r>
            <a:r>
              <a:rPr lang="en-US" altLang="x-none" b="1" u="sng" dirty="0">
                <a:solidFill>
                  <a:srgbClr val="0000FF"/>
                </a:solidFill>
              </a:rPr>
              <a:t>local modification</a:t>
            </a:r>
            <a:r>
              <a:rPr lang="en-US" altLang="x-none" dirty="0"/>
              <a:t> to </a:t>
            </a:r>
            <a:r>
              <a:rPr lang="en-US" altLang="x-none" b="1" dirty="0"/>
              <a:t>improve</a:t>
            </a:r>
            <a:r>
              <a:rPr lang="en-US" altLang="x-none" dirty="0"/>
              <a:t> current state </a:t>
            </a:r>
          </a:p>
          <a:p>
            <a:pPr marL="1238250" lvl="2" indent="-381000">
              <a:lnSpc>
                <a:spcPct val="80000"/>
              </a:lnSpc>
            </a:pPr>
            <a:r>
              <a:rPr lang="en-US" altLang="x-none" dirty="0"/>
              <a:t>Evaluate current state and </a:t>
            </a:r>
            <a:r>
              <a:rPr lang="en-US" altLang="x-none" dirty="0">
                <a:solidFill>
                  <a:srgbClr val="FF0000"/>
                </a:solidFill>
              </a:rPr>
              <a:t>move to other states</a:t>
            </a:r>
            <a:endParaRPr lang="en-US" altLang="x-none" dirty="0"/>
          </a:p>
          <a:p>
            <a:pPr marL="838200" lvl="1" indent="-381000">
              <a:lnSpc>
                <a:spcPct val="80000"/>
              </a:lnSpc>
              <a:buFont typeface="Wingdings" pitchFamily="2" charset="2"/>
              <a:buAutoNum type="arabicPeriod"/>
            </a:pPr>
            <a:endParaRPr lang="en-US" altLang="x-none" dirty="0"/>
          </a:p>
          <a:p>
            <a:pPr marL="838200" lvl="1" indent="-3810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x-none" dirty="0"/>
              <a:t>Repeat Step 2 until goal state found (or out of time) </a:t>
            </a:r>
            <a:endParaRPr lang="en-GB" altLang="x-none" dirty="0"/>
          </a:p>
        </p:txBody>
      </p:sp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6E24F-A1F7-42EC-BE2F-E944BC29DC16}" type="slidenum">
              <a:rPr lang="en-GB" altLang="x-none" smtClean="0"/>
              <a:pPr/>
              <a:t>11</a:t>
            </a:fld>
            <a:endParaRPr lang="en-GB" altLang="x-none"/>
          </a:p>
        </p:txBody>
      </p:sp>
      <p:sp>
        <p:nvSpPr>
          <p:cNvPr id="367620" name="Arc 4"/>
          <p:cNvSpPr>
            <a:spLocks/>
          </p:cNvSpPr>
          <p:nvPr/>
        </p:nvSpPr>
        <p:spPr bwMode="auto">
          <a:xfrm flipH="1" flipV="1">
            <a:off x="783376" y="3570543"/>
            <a:ext cx="507207" cy="1003339"/>
          </a:xfrm>
          <a:custGeom>
            <a:avLst/>
            <a:gdLst>
              <a:gd name="G0" fmla="+- 530 0 0"/>
              <a:gd name="G1" fmla="+- 21600 0 0"/>
              <a:gd name="G2" fmla="+- 21600 0 0"/>
              <a:gd name="T0" fmla="*/ 530 w 22130"/>
              <a:gd name="T1" fmla="*/ 0 h 43200"/>
              <a:gd name="T2" fmla="*/ 0 w 22130"/>
              <a:gd name="T3" fmla="*/ 43193 h 43200"/>
              <a:gd name="T4" fmla="*/ 530 w 2213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130" h="43200" fill="none" extrusionOk="0">
                <a:moveTo>
                  <a:pt x="529" y="0"/>
                </a:moveTo>
                <a:cubicBezTo>
                  <a:pt x="12459" y="0"/>
                  <a:pt x="22130" y="9670"/>
                  <a:pt x="22130" y="21600"/>
                </a:cubicBezTo>
                <a:cubicBezTo>
                  <a:pt x="22130" y="33529"/>
                  <a:pt x="12459" y="43200"/>
                  <a:pt x="530" y="43200"/>
                </a:cubicBezTo>
                <a:cubicBezTo>
                  <a:pt x="353" y="43200"/>
                  <a:pt x="176" y="43197"/>
                  <a:pt x="-1" y="43193"/>
                </a:cubicBezTo>
              </a:path>
              <a:path w="22130" h="43200" stroke="0" extrusionOk="0">
                <a:moveTo>
                  <a:pt x="529" y="0"/>
                </a:moveTo>
                <a:cubicBezTo>
                  <a:pt x="12459" y="0"/>
                  <a:pt x="22130" y="9670"/>
                  <a:pt x="22130" y="21600"/>
                </a:cubicBezTo>
                <a:cubicBezTo>
                  <a:pt x="22130" y="33529"/>
                  <a:pt x="12459" y="43200"/>
                  <a:pt x="530" y="43200"/>
                </a:cubicBezTo>
                <a:cubicBezTo>
                  <a:pt x="353" y="43200"/>
                  <a:pt x="176" y="43197"/>
                  <a:pt x="-1" y="43193"/>
                </a:cubicBezTo>
                <a:lnTo>
                  <a:pt x="530" y="21600"/>
                </a:lnTo>
                <a:close/>
              </a:path>
            </a:pathLst>
          </a:custGeom>
          <a:noFill/>
          <a:ln w="28575">
            <a:solidFill>
              <a:schemeClr val="folHlink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x-none" altLang="x-none"/>
          </a:p>
        </p:txBody>
      </p:sp>
      <p:grpSp>
        <p:nvGrpSpPr>
          <p:cNvPr id="367621" name="Group 5"/>
          <p:cNvGrpSpPr>
            <a:grpSpLocks/>
          </p:cNvGrpSpPr>
          <p:nvPr/>
        </p:nvGrpSpPr>
        <p:grpSpPr bwMode="auto">
          <a:xfrm>
            <a:off x="8610600" y="1825625"/>
            <a:ext cx="2743200" cy="3452830"/>
            <a:chOff x="1633" y="1872"/>
            <a:chExt cx="1295" cy="1630"/>
          </a:xfrm>
        </p:grpSpPr>
        <p:sp>
          <p:nvSpPr>
            <p:cNvPr id="367622" name="Oval 6"/>
            <p:cNvSpPr>
              <a:spLocks noChangeArrowheads="1"/>
            </p:cNvSpPr>
            <p:nvPr/>
          </p:nvSpPr>
          <p:spPr bwMode="auto">
            <a:xfrm>
              <a:off x="1633" y="3024"/>
              <a:ext cx="478" cy="478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3" name="Oval 7"/>
            <p:cNvSpPr>
              <a:spLocks noChangeArrowheads="1"/>
            </p:cNvSpPr>
            <p:nvPr/>
          </p:nvSpPr>
          <p:spPr bwMode="auto">
            <a:xfrm rot="837724">
              <a:off x="1872" y="2784"/>
              <a:ext cx="288" cy="432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4" name="Oval 8"/>
            <p:cNvSpPr>
              <a:spLocks noChangeArrowheads="1"/>
            </p:cNvSpPr>
            <p:nvPr/>
          </p:nvSpPr>
          <p:spPr bwMode="auto">
            <a:xfrm>
              <a:off x="1824" y="2592"/>
              <a:ext cx="576" cy="288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5" name="Oval 9"/>
            <p:cNvSpPr>
              <a:spLocks noChangeArrowheads="1"/>
            </p:cNvSpPr>
            <p:nvPr/>
          </p:nvSpPr>
          <p:spPr bwMode="auto">
            <a:xfrm>
              <a:off x="1824" y="331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6" name="Line 10"/>
            <p:cNvSpPr>
              <a:spLocks noChangeShapeType="1"/>
            </p:cNvSpPr>
            <p:nvPr/>
          </p:nvSpPr>
          <p:spPr bwMode="auto">
            <a:xfrm flipV="1">
              <a:off x="1872" y="3144"/>
              <a:ext cx="120" cy="16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27" name="Oval 11"/>
            <p:cNvSpPr>
              <a:spLocks noChangeArrowheads="1"/>
            </p:cNvSpPr>
            <p:nvPr/>
          </p:nvSpPr>
          <p:spPr bwMode="auto">
            <a:xfrm>
              <a:off x="1968" y="312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8" name="Oval 12"/>
            <p:cNvSpPr>
              <a:spLocks noChangeArrowheads="1"/>
            </p:cNvSpPr>
            <p:nvPr/>
          </p:nvSpPr>
          <p:spPr bwMode="auto">
            <a:xfrm>
              <a:off x="2016" y="2832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9" name="Oval 13"/>
            <p:cNvSpPr>
              <a:spLocks noChangeArrowheads="1"/>
            </p:cNvSpPr>
            <p:nvPr/>
          </p:nvSpPr>
          <p:spPr bwMode="auto">
            <a:xfrm>
              <a:off x="1920" y="264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30" name="Line 14"/>
            <p:cNvSpPr>
              <a:spLocks noChangeShapeType="1"/>
            </p:cNvSpPr>
            <p:nvPr/>
          </p:nvSpPr>
          <p:spPr bwMode="auto">
            <a:xfrm flipV="1">
              <a:off x="1992" y="2880"/>
              <a:ext cx="48" cy="24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31" name="Line 15"/>
            <p:cNvSpPr>
              <a:spLocks noChangeShapeType="1"/>
            </p:cNvSpPr>
            <p:nvPr/>
          </p:nvSpPr>
          <p:spPr bwMode="auto">
            <a:xfrm flipH="1" flipV="1">
              <a:off x="1968" y="2688"/>
              <a:ext cx="48" cy="1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32" name="Oval 16"/>
            <p:cNvSpPr>
              <a:spLocks noChangeArrowheads="1"/>
            </p:cNvSpPr>
            <p:nvPr/>
          </p:nvSpPr>
          <p:spPr bwMode="auto">
            <a:xfrm>
              <a:off x="1680" y="2256"/>
              <a:ext cx="432" cy="480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33" name="Line 17"/>
            <p:cNvSpPr>
              <a:spLocks noChangeShapeType="1"/>
            </p:cNvSpPr>
            <p:nvPr/>
          </p:nvSpPr>
          <p:spPr bwMode="auto">
            <a:xfrm flipV="1">
              <a:off x="1920" y="2448"/>
              <a:ext cx="48" cy="1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34" name="Oval 18"/>
            <p:cNvSpPr>
              <a:spLocks noChangeArrowheads="1"/>
            </p:cNvSpPr>
            <p:nvPr/>
          </p:nvSpPr>
          <p:spPr bwMode="auto">
            <a:xfrm>
              <a:off x="1968" y="240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35" name="Oval 19"/>
            <p:cNvSpPr>
              <a:spLocks noChangeArrowheads="1"/>
            </p:cNvSpPr>
            <p:nvPr/>
          </p:nvSpPr>
          <p:spPr bwMode="auto">
            <a:xfrm>
              <a:off x="2160" y="216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36" name="Oval 20"/>
            <p:cNvSpPr>
              <a:spLocks noChangeArrowheads="1"/>
            </p:cNvSpPr>
            <p:nvPr/>
          </p:nvSpPr>
          <p:spPr bwMode="auto">
            <a:xfrm rot="837724">
              <a:off x="1920" y="2064"/>
              <a:ext cx="288" cy="432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37" name="Line 21"/>
            <p:cNvSpPr>
              <a:spLocks noChangeShapeType="1"/>
            </p:cNvSpPr>
            <p:nvPr/>
          </p:nvSpPr>
          <p:spPr bwMode="auto">
            <a:xfrm flipV="1">
              <a:off x="2016" y="2208"/>
              <a:ext cx="144" cy="1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38" name="Oval 22"/>
            <p:cNvSpPr>
              <a:spLocks noChangeArrowheads="1"/>
            </p:cNvSpPr>
            <p:nvPr/>
          </p:nvSpPr>
          <p:spPr bwMode="auto">
            <a:xfrm>
              <a:off x="2064" y="2016"/>
              <a:ext cx="576" cy="288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39" name="Line 23"/>
            <p:cNvSpPr>
              <a:spLocks noChangeShapeType="1"/>
            </p:cNvSpPr>
            <p:nvPr/>
          </p:nvSpPr>
          <p:spPr bwMode="auto">
            <a:xfrm flipV="1">
              <a:off x="2208" y="2112"/>
              <a:ext cx="336" cy="4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40" name="Oval 24"/>
            <p:cNvSpPr>
              <a:spLocks noChangeArrowheads="1"/>
            </p:cNvSpPr>
            <p:nvPr/>
          </p:nvSpPr>
          <p:spPr bwMode="auto">
            <a:xfrm>
              <a:off x="2544" y="2112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41" name="Oval 25"/>
            <p:cNvSpPr>
              <a:spLocks noChangeArrowheads="1"/>
            </p:cNvSpPr>
            <p:nvPr/>
          </p:nvSpPr>
          <p:spPr bwMode="auto">
            <a:xfrm>
              <a:off x="2450" y="1872"/>
              <a:ext cx="478" cy="478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42" name="Line 26"/>
            <p:cNvSpPr>
              <a:spLocks noChangeShapeType="1"/>
            </p:cNvSpPr>
            <p:nvPr/>
          </p:nvSpPr>
          <p:spPr bwMode="auto">
            <a:xfrm flipV="1">
              <a:off x="2592" y="1968"/>
              <a:ext cx="96" cy="1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43" name="Oval 27"/>
            <p:cNvSpPr>
              <a:spLocks noChangeArrowheads="1"/>
            </p:cNvSpPr>
            <p:nvPr/>
          </p:nvSpPr>
          <p:spPr bwMode="auto">
            <a:xfrm>
              <a:off x="2688" y="192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9469951" y="5398855"/>
            <a:ext cx="1883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Neighborhoods </a:t>
            </a:r>
          </a:p>
        </p:txBody>
      </p:sp>
      <p:cxnSp>
        <p:nvCxnSpPr>
          <p:cNvPr id="4" name="Straight Arrow Connector 3"/>
          <p:cNvCxnSpPr>
            <a:stCxn id="2" idx="0"/>
            <a:endCxn id="367622" idx="5"/>
          </p:cNvCxnSpPr>
          <p:nvPr/>
        </p:nvCxnSpPr>
        <p:spPr>
          <a:xfrm flipH="1" flipV="1">
            <a:off x="9474864" y="5130171"/>
            <a:ext cx="937012" cy="2686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2" idx="0"/>
          </p:cNvCxnSpPr>
          <p:nvPr/>
        </p:nvCxnSpPr>
        <p:spPr>
          <a:xfrm flipH="1" flipV="1">
            <a:off x="9748095" y="4525627"/>
            <a:ext cx="663781" cy="8732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2" idx="0"/>
            <a:endCxn id="367624" idx="5"/>
          </p:cNvCxnSpPr>
          <p:nvPr/>
        </p:nvCxnSpPr>
        <p:spPr>
          <a:xfrm flipH="1" flipV="1">
            <a:off x="10056651" y="3871529"/>
            <a:ext cx="355225" cy="15273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2" idx="0"/>
            <a:endCxn id="367641" idx="4"/>
          </p:cNvCxnSpPr>
          <p:nvPr/>
        </p:nvCxnSpPr>
        <p:spPr>
          <a:xfrm flipV="1">
            <a:off x="10411876" y="2838173"/>
            <a:ext cx="435650" cy="25606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2" idx="0"/>
            <a:endCxn id="367638" idx="4"/>
          </p:cNvCxnSpPr>
          <p:nvPr/>
        </p:nvCxnSpPr>
        <p:spPr>
          <a:xfrm flipH="1" flipV="1">
            <a:off x="10133659" y="2740731"/>
            <a:ext cx="278217" cy="26581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489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Search Algorithms for optimization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060096" cy="435133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cs typeface="Times New Roman" pitchFamily="18" charset="0"/>
              </a:rPr>
              <a:t>Local search algorithms are very useful for optimization problems</a:t>
            </a:r>
          </a:p>
          <a:p>
            <a:pPr>
              <a:lnSpc>
                <a:spcPct val="80000"/>
              </a:lnSpc>
            </a:pPr>
            <a:endParaRPr lang="en-US" dirty="0"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cs typeface="Times New Roman" pitchFamily="18" charset="0"/>
              </a:rPr>
              <a:t>systematic search doesn’t work</a:t>
            </a:r>
          </a:p>
          <a:p>
            <a:pPr>
              <a:lnSpc>
                <a:spcPct val="80000"/>
              </a:lnSpc>
            </a:pPr>
            <a:endParaRPr lang="en-US" dirty="0"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cs typeface="Times New Roman" pitchFamily="18" charset="0"/>
              </a:rPr>
              <a:t>however, can start with a suboptimal solution and improve it</a:t>
            </a:r>
          </a:p>
          <a:p>
            <a:pPr>
              <a:lnSpc>
                <a:spcPct val="80000"/>
              </a:lnSpc>
            </a:pPr>
            <a:endParaRPr lang="en-US" dirty="0"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cs typeface="Times New Roman" pitchFamily="18" charset="0"/>
              </a:rPr>
              <a:t>Goal: find a state such that the objective function is optimized</a:t>
            </a:r>
          </a:p>
          <a:p>
            <a:pPr marL="609600" indent="-609600">
              <a:lnSpc>
                <a:spcPct val="80000"/>
              </a:lnSpc>
            </a:pPr>
            <a:endParaRPr lang="en-US" sz="2000" dirty="0">
              <a:latin typeface="Times New Roman" pitchFamily="18" charset="0"/>
            </a:endParaRPr>
          </a:p>
          <a:p>
            <a:pPr marL="609600" indent="-609600">
              <a:lnSpc>
                <a:spcPct val="80000"/>
              </a:lnSpc>
            </a:pPr>
            <a:endParaRPr lang="en-US" sz="2000" dirty="0">
              <a:latin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53400" y="2197100"/>
            <a:ext cx="3084513" cy="3084513"/>
          </a:xfrm>
          <a:prstGeom prst="rect">
            <a:avLst/>
          </a:prstGeom>
          <a:noFill/>
          <a:ln/>
        </p:spPr>
      </p:pic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8077200" y="5397500"/>
            <a:ext cx="32766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/>
              <a:t>Minimize the number </a:t>
            </a:r>
          </a:p>
          <a:p>
            <a:pPr algn="ctr">
              <a:spcBef>
                <a:spcPct val="50000"/>
              </a:spcBef>
            </a:pPr>
            <a:r>
              <a:rPr lang="en-US" b="1"/>
              <a:t>of attacks</a:t>
            </a:r>
            <a:endParaRPr lang="en-GB" b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4A4E6-A55E-4447-B23E-7A810009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84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n-Queen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61923"/>
          </a:xfrm>
        </p:spPr>
        <p:txBody>
          <a:bodyPr>
            <a:normAutofit fontScale="85000" lnSpcReduction="20000"/>
          </a:bodyPr>
          <a:lstStyle/>
          <a:p>
            <a:r>
              <a:rPr lang="en-US" altLang="x-none" dirty="0"/>
              <a:t>Put N Queens on an </a:t>
            </a:r>
            <a:r>
              <a:rPr lang="en-US" altLang="x-none" i="1" dirty="0"/>
              <a:t>n × n</a:t>
            </a:r>
            <a:r>
              <a:rPr lang="en-US" altLang="x-none" dirty="0"/>
              <a:t> board with no two queens on the same row, column, or diagonal</a:t>
            </a:r>
          </a:p>
          <a:p>
            <a:r>
              <a:rPr lang="en-US" altLang="x-none" dirty="0"/>
              <a:t>Move a queen to reduce number of conflicts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Almost always solves n-queens problems instantaneously for very large n, e.g.,</a:t>
            </a:r>
            <a:r>
              <a:rPr lang="en-US" dirty="0">
                <a:solidFill>
                  <a:srgbClr val="FF0000"/>
                </a:solidFill>
              </a:rPr>
              <a:t> n = 1 million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0" t="55187" r="14861" b="13149"/>
          <a:stretch/>
        </p:blipFill>
        <p:spPr bwMode="auto">
          <a:xfrm>
            <a:off x="3159452" y="2959082"/>
            <a:ext cx="6103819" cy="1827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401361" y="4787077"/>
            <a:ext cx="7620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400" b="1" dirty="0"/>
              <a:t>Initial state … Improve it … using local transformations  </a:t>
            </a:r>
            <a:endParaRPr lang="en-GB" altLang="x-none" sz="2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EC9A4-4540-458A-89B9-E05F16F7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00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n-Queen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Put N Queens on an </a:t>
            </a:r>
            <a:r>
              <a:rPr lang="en-US" altLang="x-none" i="1" dirty="0"/>
              <a:t>n × n</a:t>
            </a:r>
            <a:r>
              <a:rPr lang="en-US" altLang="x-none" dirty="0"/>
              <a:t> board with no two queens on the same row, column, or diagonal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403" y="2845905"/>
            <a:ext cx="3331058" cy="333105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8E3DB-AAA6-46F7-BF6F-D8007E0EF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39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n-Queen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Put N Queens on an </a:t>
            </a:r>
            <a:r>
              <a:rPr lang="en-US" altLang="x-none" i="1" dirty="0"/>
              <a:t>n × n</a:t>
            </a:r>
            <a:r>
              <a:rPr lang="en-US" altLang="x-none" dirty="0"/>
              <a:t> board with no two queens on the same row, column, or diagonal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2208" y="3019508"/>
            <a:ext cx="3551583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HEURISTIC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h = # of pairs of queens that are attacking each other, either </a:t>
            </a:r>
            <a:r>
              <a:rPr lang="en-US" b="1" dirty="0"/>
              <a:t>directly or indirectly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89" y="5374377"/>
            <a:ext cx="2962275" cy="11715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641" y="5659039"/>
            <a:ext cx="1866900" cy="10858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964" y="2298785"/>
            <a:ext cx="3360254" cy="33602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5E77A-95BC-455D-B2DE-7E7B9E2B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38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Travelling Salesman Problem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altLang="en-US" sz="2400" b="1" dirty="0"/>
              <a:t>Travelling Salesperson Problem (TSP)</a:t>
            </a:r>
            <a:endParaRPr lang="en-US" sz="2400" b="1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Suppose a salesman has five cities to visit and ten must return home.</a:t>
            </a:r>
          </a:p>
          <a:p>
            <a:endParaRPr lang="en-US" sz="2400" dirty="0"/>
          </a:p>
          <a:p>
            <a:pPr lvl="1"/>
            <a:r>
              <a:rPr lang="en-US" sz="2000" dirty="0"/>
              <a:t>The goal of the problem is to find the shortest path for salesman to travel, visiting each city, and then returning to the starting city.</a:t>
            </a:r>
          </a:p>
          <a:p>
            <a:endParaRPr lang="en-US" dirty="0"/>
          </a:p>
        </p:txBody>
      </p:sp>
      <p:pic>
        <p:nvPicPr>
          <p:cNvPr id="7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376437"/>
            <a:ext cx="5181600" cy="324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466BB5-9C79-4F25-8969-F7BA0787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75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Travelling Salesman Problem</a:t>
            </a:r>
          </a:p>
        </p:txBody>
      </p:sp>
      <p:pic>
        <p:nvPicPr>
          <p:cNvPr id="201732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252" y="2166100"/>
            <a:ext cx="4233657" cy="3363272"/>
          </a:xfrm>
        </p:spPr>
      </p:pic>
      <p:sp>
        <p:nvSpPr>
          <p:cNvPr id="201731" name="Rectangle 3"/>
          <p:cNvSpPr>
            <a:spLocks noGrp="1" noChangeArrowheads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altLang="x-none" dirty="0"/>
              <a:t>A </a:t>
            </a:r>
            <a:r>
              <a:rPr lang="en-US" altLang="x-none" dirty="0">
                <a:solidFill>
                  <a:srgbClr val="FF0000"/>
                </a:solidFill>
              </a:rPr>
              <a:t>Solution</a:t>
            </a:r>
            <a:r>
              <a:rPr lang="en-US" altLang="x-none" dirty="0"/>
              <a:t>: Exhaustive Search</a:t>
            </a:r>
          </a:p>
          <a:p>
            <a:pPr lvl="1"/>
            <a:r>
              <a:rPr lang="en-US" altLang="x-none" dirty="0"/>
              <a:t> </a:t>
            </a:r>
            <a:r>
              <a:rPr lang="en-US" altLang="x-none" dirty="0">
                <a:solidFill>
                  <a:srgbClr val="FF0000"/>
                </a:solidFill>
              </a:rPr>
              <a:t>(Generate and Test</a:t>
            </a:r>
            <a:r>
              <a:rPr lang="en-US" altLang="x-none" dirty="0"/>
              <a:t>) !!</a:t>
            </a:r>
          </a:p>
          <a:p>
            <a:r>
              <a:rPr lang="en-US" altLang="x-none" dirty="0"/>
              <a:t>The number of all tours is about (n-1)!/2</a:t>
            </a:r>
          </a:p>
          <a:p>
            <a:endParaRPr lang="en-US" altLang="x-none" dirty="0"/>
          </a:p>
          <a:p>
            <a:r>
              <a:rPr lang="en-US" altLang="x-none" dirty="0"/>
              <a:t>If n = 36 the number is about:</a:t>
            </a:r>
          </a:p>
          <a:p>
            <a:r>
              <a:rPr lang="en-US" altLang="x-none" dirty="0"/>
              <a:t>566573983193072464833325668761600000000</a:t>
            </a:r>
          </a:p>
          <a:p>
            <a:endParaRPr lang="en-US" altLang="x-none" dirty="0"/>
          </a:p>
          <a:p>
            <a:r>
              <a:rPr lang="en-US" altLang="x-none" dirty="0"/>
              <a:t>Not Viable Approach !!</a:t>
            </a:r>
            <a:endParaRPr lang="en-GB" altLang="x-none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A76B1-5880-4430-AF7E-4F319A6B1E7D}" type="slidenum">
              <a:rPr lang="en-GB" altLang="x-none" smtClean="0"/>
              <a:pPr/>
              <a:t>17</a:t>
            </a:fld>
            <a:endParaRPr lang="en-GB" altLang="x-none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24000" y="0"/>
            <a:ext cx="91440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altLang="x-none" dirty="0"/>
          </a:p>
        </p:txBody>
      </p:sp>
    </p:spTree>
    <p:extLst>
      <p:ext uri="{BB962C8B-B14F-4D97-AF65-F5344CB8AC3E}">
        <p14:creationId xmlns:p14="http://schemas.microsoft.com/office/powerpoint/2010/main" val="1588796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4724400" y="6572250"/>
            <a:ext cx="5562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200"/>
              <a:t>Luger: Artificial Intelligence, 6th edition. © Pearson Education Limited, 2009</a:t>
            </a: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189" y="904875"/>
            <a:ext cx="7667625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1905000" y="304801"/>
            <a:ext cx="845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000"/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1981200" y="304801"/>
            <a:ext cx="8458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 dirty="0"/>
              <a:t>Search for the travelling salesperson problem. Each arc is marked with 	the total weight of all paths from the start node (A) to its endpoint.</a:t>
            </a:r>
          </a:p>
        </p:txBody>
      </p:sp>
      <p:sp>
        <p:nvSpPr>
          <p:cNvPr id="34822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eaLnBrk="1" hangingPunct="1"/>
            <a:fld id="{F5EE43C7-D742-4B3A-8C53-68E31E2F3ADF}" type="slidenum">
              <a:rPr lang="en-GB" altLang="en-US" sz="1400"/>
              <a:pPr eaLnBrk="1" hangingPunct="1"/>
              <a:t>18</a:t>
            </a:fld>
            <a:endParaRPr lang="en-GB" altLang="en-US" sz="1400"/>
          </a:p>
        </p:txBody>
      </p:sp>
    </p:spTree>
    <p:extLst>
      <p:ext uri="{BB962C8B-B14F-4D97-AF65-F5344CB8AC3E}">
        <p14:creationId xmlns:p14="http://schemas.microsoft.com/office/powerpoint/2010/main" val="2709193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Travelling Salesman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Start with any complete tour, perform pairwise exchanges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Variants of this approach get within 1% of optimal very quickly with thousands of cities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19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50" t="38117" r="22681" b="32305"/>
          <a:stretch/>
        </p:blipFill>
        <p:spPr bwMode="auto">
          <a:xfrm>
            <a:off x="2286000" y="2246008"/>
            <a:ext cx="7391400" cy="2935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3623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59" y="2174704"/>
            <a:ext cx="7746882" cy="370559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7A8EE8-8D5F-4594-B07F-A3185046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76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 Climbing </a:t>
            </a:r>
            <a:br>
              <a:rPr lang="en-US" dirty="0"/>
            </a:br>
            <a:r>
              <a:rPr lang="en-US" dirty="0"/>
              <a:t>Algorithm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Ascent/Descent Algorithm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661" y="2468494"/>
            <a:ext cx="5794789" cy="362115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9DEB21-1EBF-4B5B-8F37-966F4A088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2898" y="365125"/>
            <a:ext cx="4750902" cy="2969314"/>
          </a:xfrm>
          <a:prstGeom prst="rect">
            <a:avLst/>
          </a:prstGeom>
          <a:noFill/>
        </p:spPr>
      </p:pic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Hill Climbing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Simple, general idea: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Start wherever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Repeat: move to the best neighboring state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If no neighbors better than current, quit</a:t>
            </a:r>
          </a:p>
          <a:p>
            <a:pPr eaLnBrk="1" hangingPunct="1">
              <a:lnSpc>
                <a:spcPct val="90000"/>
              </a:lnSpc>
            </a:pPr>
            <a:endParaRPr lang="en-US" sz="1900" dirty="0"/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What’s bad about this approach?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Complete?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Optimal?</a:t>
            </a:r>
          </a:p>
          <a:p>
            <a:pPr eaLnBrk="1" hangingPunct="1">
              <a:lnSpc>
                <a:spcPct val="90000"/>
              </a:lnSpc>
            </a:pPr>
            <a:endParaRPr lang="en-US" sz="1900" dirty="0"/>
          </a:p>
          <a:p>
            <a:endParaRPr lang="en-US" dirty="0"/>
          </a:p>
          <a:p>
            <a:r>
              <a:rPr lang="en-US" dirty="0"/>
              <a:t>Hill climbing algorithm (a.k.a. greedy local search) uses a </a:t>
            </a:r>
            <a:r>
              <a:rPr lang="en-US" dirty="0">
                <a:solidFill>
                  <a:srgbClr val="7030A0"/>
                </a:solidFill>
              </a:rPr>
              <a:t>loop</a:t>
            </a:r>
            <a:r>
              <a:rPr lang="en-US" dirty="0"/>
              <a:t> that continually moves in the direction of </a:t>
            </a:r>
            <a:r>
              <a:rPr lang="en-US" dirty="0">
                <a:solidFill>
                  <a:srgbClr val="7030A0"/>
                </a:solidFill>
              </a:rPr>
              <a:t>increasing values </a:t>
            </a:r>
            <a:r>
              <a:rPr lang="en-US" dirty="0"/>
              <a:t>(that is uphill).</a:t>
            </a:r>
          </a:p>
          <a:p>
            <a:r>
              <a:rPr lang="en-US" dirty="0"/>
              <a:t>It terminates when it reaches a peak where </a:t>
            </a:r>
            <a:r>
              <a:rPr lang="en-US" dirty="0">
                <a:solidFill>
                  <a:srgbClr val="7030A0"/>
                </a:solidFill>
              </a:rPr>
              <a:t>no neighbor has a higher value.</a:t>
            </a: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 rot="10800000" flipV="1">
            <a:off x="6347791" y="3334439"/>
            <a:ext cx="54731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x-none" sz="2000" dirty="0"/>
              <a:t>  "Like climbing Everest in thick fog with amnesia"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4843253"/>
            <a:ext cx="10515600" cy="1333710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368F15-5BD1-4C1C-B271-D84B807F3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52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Hill-Climbing Algorithm</a:t>
            </a:r>
            <a:endParaRPr lang="en-US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x-none" dirty="0"/>
              <a:t>Pick a </a:t>
            </a:r>
            <a:r>
              <a:rPr lang="en-US" altLang="x-none" dirty="0">
                <a:solidFill>
                  <a:srgbClr val="FF0000"/>
                </a:solidFill>
              </a:rPr>
              <a:t>random point </a:t>
            </a:r>
            <a:r>
              <a:rPr lang="en-US" altLang="x-none" dirty="0"/>
              <a:t>in the search space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x-none" dirty="0"/>
              <a:t>Consider all the neighbors of the current state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x-none" dirty="0"/>
              <a:t>Choose the neighbor with the best quality and move to that state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x-none" dirty="0"/>
              <a:t>Repeat 2 to 4 until all the neighboring states are of lower quality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x-none" dirty="0"/>
              <a:t>Return the current state as the solution state.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6EBCE-CDC9-47BC-9A92-8ADF2DF6BB57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465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 Climbing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Steepest Ascent Search, Greedy Local Search</a:t>
            </a:r>
          </a:p>
          <a:p>
            <a:r>
              <a:rPr lang="en-US" dirty="0"/>
              <a:t>Iteratively maximize value of current state by replacing its successors state that has highest value , as long as possible.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693" y="3505201"/>
            <a:ext cx="7839075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5352A-92A6-4721-B8BC-F12BF6E1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72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 Climbing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Hill-climbing strategies expand the current state of the search and evaluate its children. </a:t>
            </a:r>
          </a:p>
          <a:p>
            <a:r>
              <a:rPr lang="en-US" dirty="0"/>
              <a:t>The “best” child is selected for further expansion; neither its siblings nor its parent are retained.</a:t>
            </a:r>
          </a:p>
          <a:p>
            <a:r>
              <a:rPr lang="en-US" dirty="0"/>
              <a:t>Because it keeps no history, the algorithm cannot recover from failures of its strategy. </a:t>
            </a:r>
          </a:p>
          <a:p>
            <a:r>
              <a:rPr lang="en-US" dirty="0"/>
              <a:t>The algorithm does not maintain a search tree, so the data structure for the current node need only record the state and the value of the objective function.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042CE-7574-4B66-8800-9B02DC27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41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108" y="-38789"/>
            <a:ext cx="8904849" cy="668561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D8F2A4-D776-476B-A176-92A4A857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134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990601"/>
            <a:ext cx="6905625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Text Box 5"/>
          <p:cNvSpPr txBox="1">
            <a:spLocks noChangeArrowheads="1"/>
          </p:cNvSpPr>
          <p:nvPr/>
        </p:nvSpPr>
        <p:spPr bwMode="auto">
          <a:xfrm>
            <a:off x="1905000" y="304801"/>
            <a:ext cx="853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 dirty="0"/>
              <a:t>The heuristic f applied to states in the 8-puzzle.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96F621-E909-46F1-992C-1E36C6243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646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2174875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Hill climbing example (</a:t>
            </a:r>
            <a:r>
              <a:rPr lang="en-US" i="1" dirty="0"/>
              <a:t>minimizing</a:t>
            </a:r>
            <a:r>
              <a:rPr lang="en-US" dirty="0"/>
              <a:t> h)</a:t>
            </a:r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r>
              <a:rPr lang="en-US" altLang="en-US">
                <a:cs typeface="Arial" pitchFamily="34" charset="0"/>
              </a:rPr>
              <a:t>       </a:t>
            </a:r>
            <a:fld id="{BB71903E-7DFB-4449-A2F7-E869AC1DE824}" type="slidenum">
              <a:rPr lang="en-US" altLang="en-US">
                <a:cs typeface="Arial" pitchFamily="34" charset="0"/>
              </a:rPr>
              <a:pPr/>
              <a:t>28</a:t>
            </a:fld>
            <a:endParaRPr lang="en-US" altLang="en-US">
              <a:cs typeface="Arial" pitchFamily="34" charset="0"/>
            </a:endParaRPr>
          </a:p>
        </p:txBody>
      </p:sp>
      <p:grpSp>
        <p:nvGrpSpPr>
          <p:cNvPr id="10245" name="Group 312"/>
          <p:cNvGrpSpPr>
            <a:grpSpLocks/>
          </p:cNvGrpSpPr>
          <p:nvPr/>
        </p:nvGrpSpPr>
        <p:grpSpPr bwMode="auto">
          <a:xfrm>
            <a:off x="7754939" y="1106488"/>
            <a:ext cx="1209675" cy="1376362"/>
            <a:chOff x="3925" y="697"/>
            <a:chExt cx="762" cy="867"/>
          </a:xfrm>
        </p:grpSpPr>
        <p:grpSp>
          <p:nvGrpSpPr>
            <p:cNvPr id="10438" name="Group 159"/>
            <p:cNvGrpSpPr>
              <a:grpSpLocks/>
            </p:cNvGrpSpPr>
            <p:nvPr/>
          </p:nvGrpSpPr>
          <p:grpSpPr bwMode="auto">
            <a:xfrm>
              <a:off x="3935" y="712"/>
              <a:ext cx="752" cy="330"/>
              <a:chOff x="1282" y="2126"/>
              <a:chExt cx="752" cy="330"/>
            </a:xfrm>
          </p:grpSpPr>
          <p:grpSp>
            <p:nvGrpSpPr>
              <p:cNvPr id="10459" name="Group 160"/>
              <p:cNvGrpSpPr>
                <a:grpSpLocks/>
              </p:cNvGrpSpPr>
              <p:nvPr/>
            </p:nvGrpSpPr>
            <p:grpSpPr bwMode="auto">
              <a:xfrm>
                <a:off x="1282" y="2126"/>
                <a:ext cx="246" cy="330"/>
                <a:chOff x="1287" y="1865"/>
                <a:chExt cx="246" cy="330"/>
              </a:xfrm>
            </p:grpSpPr>
            <p:sp>
              <p:nvSpPr>
                <p:cNvPr id="10466" name="Rectangle 161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67" name="Text Box 162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1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 sz="2800"/>
                </a:p>
              </p:txBody>
            </p:sp>
          </p:grpSp>
          <p:grpSp>
            <p:nvGrpSpPr>
              <p:cNvPr id="10460" name="Group 163"/>
              <p:cNvGrpSpPr>
                <a:grpSpLocks/>
              </p:cNvGrpSpPr>
              <p:nvPr/>
            </p:nvGrpSpPr>
            <p:grpSpPr bwMode="auto">
              <a:xfrm>
                <a:off x="1528" y="2126"/>
                <a:ext cx="246" cy="330"/>
                <a:chOff x="1287" y="1865"/>
                <a:chExt cx="246" cy="330"/>
              </a:xfrm>
            </p:grpSpPr>
            <p:sp>
              <p:nvSpPr>
                <p:cNvPr id="10464" name="Rectangle 164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65" name="Text Box 165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1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 sz="2800"/>
                </a:p>
              </p:txBody>
            </p:sp>
          </p:grpSp>
          <p:grpSp>
            <p:nvGrpSpPr>
              <p:cNvPr id="10461" name="Group 166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0462" name="Rectangle 16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63" name="Text Box 16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2</a:t>
                  </a:r>
                </a:p>
              </p:txBody>
            </p:sp>
          </p:grpSp>
        </p:grpSp>
        <p:grpSp>
          <p:nvGrpSpPr>
            <p:cNvPr id="10439" name="Group 169"/>
            <p:cNvGrpSpPr>
              <a:grpSpLocks/>
            </p:cNvGrpSpPr>
            <p:nvPr/>
          </p:nvGrpSpPr>
          <p:grpSpPr bwMode="auto">
            <a:xfrm>
              <a:off x="3930" y="973"/>
              <a:ext cx="315" cy="330"/>
              <a:chOff x="1287" y="1865"/>
              <a:chExt cx="315" cy="330"/>
            </a:xfrm>
          </p:grpSpPr>
          <p:sp>
            <p:nvSpPr>
              <p:cNvPr id="10457" name="Rectangle 170"/>
              <p:cNvSpPr>
                <a:spLocks noChangeArrowheads="1"/>
              </p:cNvSpPr>
              <p:nvPr/>
            </p:nvSpPr>
            <p:spPr bwMode="auto"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10458" name="Text Box 171"/>
              <p:cNvSpPr txBox="1">
                <a:spLocks noChangeArrowheads="1"/>
              </p:cNvSpPr>
              <p:nvPr/>
            </p:nvSpPr>
            <p:spPr bwMode="auto">
              <a:xfrm>
                <a:off x="1316" y="1865"/>
                <a:ext cx="28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3 </a:t>
                </a:r>
              </a:p>
            </p:txBody>
          </p:sp>
        </p:grpSp>
        <p:grpSp>
          <p:nvGrpSpPr>
            <p:cNvPr id="10440" name="Group 172"/>
            <p:cNvGrpSpPr>
              <a:grpSpLocks/>
            </p:cNvGrpSpPr>
            <p:nvPr/>
          </p:nvGrpSpPr>
          <p:grpSpPr bwMode="auto">
            <a:xfrm>
              <a:off x="4176" y="973"/>
              <a:ext cx="260" cy="330"/>
              <a:chOff x="1287" y="1865"/>
              <a:chExt cx="260" cy="330"/>
            </a:xfrm>
          </p:grpSpPr>
          <p:sp>
            <p:nvSpPr>
              <p:cNvPr id="10455" name="Rectangle 173"/>
              <p:cNvSpPr>
                <a:spLocks noChangeArrowheads="1"/>
              </p:cNvSpPr>
              <p:nvPr/>
            </p:nvSpPr>
            <p:spPr bwMode="auto"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10456" name="Text Box 174"/>
              <p:cNvSpPr txBox="1">
                <a:spLocks noChangeArrowheads="1"/>
              </p:cNvSpPr>
              <p:nvPr/>
            </p:nvSpPr>
            <p:spPr bwMode="auto">
              <a:xfrm>
                <a:off x="1316" y="1865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4</a:t>
                </a:r>
              </a:p>
            </p:txBody>
          </p:sp>
        </p:grpSp>
        <p:grpSp>
          <p:nvGrpSpPr>
            <p:cNvPr id="10441" name="Group 175"/>
            <p:cNvGrpSpPr>
              <a:grpSpLocks/>
            </p:cNvGrpSpPr>
            <p:nvPr/>
          </p:nvGrpSpPr>
          <p:grpSpPr bwMode="auto">
            <a:xfrm>
              <a:off x="4422" y="973"/>
              <a:ext cx="260" cy="330"/>
              <a:chOff x="1287" y="1865"/>
              <a:chExt cx="260" cy="330"/>
            </a:xfrm>
          </p:grpSpPr>
          <p:sp>
            <p:nvSpPr>
              <p:cNvPr id="10453" name="Rectangle 176"/>
              <p:cNvSpPr>
                <a:spLocks noChangeArrowheads="1"/>
              </p:cNvSpPr>
              <p:nvPr/>
            </p:nvSpPr>
            <p:spPr bwMode="auto"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10454" name="Text Box 177"/>
              <p:cNvSpPr txBox="1">
                <a:spLocks noChangeArrowheads="1"/>
              </p:cNvSpPr>
              <p:nvPr/>
            </p:nvSpPr>
            <p:spPr bwMode="auto">
              <a:xfrm>
                <a:off x="1316" y="1865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5</a:t>
                </a:r>
              </a:p>
            </p:txBody>
          </p:sp>
        </p:grpSp>
        <p:grpSp>
          <p:nvGrpSpPr>
            <p:cNvPr id="10442" name="Group 178"/>
            <p:cNvGrpSpPr>
              <a:grpSpLocks/>
            </p:cNvGrpSpPr>
            <p:nvPr/>
          </p:nvGrpSpPr>
          <p:grpSpPr bwMode="auto">
            <a:xfrm>
              <a:off x="3925" y="1234"/>
              <a:ext cx="752" cy="330"/>
              <a:chOff x="1282" y="2126"/>
              <a:chExt cx="752" cy="330"/>
            </a:xfrm>
          </p:grpSpPr>
          <p:grpSp>
            <p:nvGrpSpPr>
              <p:cNvPr id="10444" name="Group 179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0451" name="Rectangle 18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52" name="Text Box 18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6</a:t>
                  </a:r>
                </a:p>
              </p:txBody>
            </p:sp>
          </p:grpSp>
          <p:grpSp>
            <p:nvGrpSpPr>
              <p:cNvPr id="10445" name="Group 182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0449" name="Rectangle 18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50" name="Text Box 18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7</a:t>
                  </a:r>
                </a:p>
              </p:txBody>
            </p:sp>
          </p:grpSp>
          <p:grpSp>
            <p:nvGrpSpPr>
              <p:cNvPr id="10446" name="Group 185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0447" name="Rectangle 18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48" name="Text Box 18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</p:grpSp>
        <p:sp>
          <p:nvSpPr>
            <p:cNvPr id="10443" name="Text Box 188"/>
            <p:cNvSpPr txBox="1">
              <a:spLocks noChangeArrowheads="1"/>
            </p:cNvSpPr>
            <p:nvPr/>
          </p:nvSpPr>
          <p:spPr bwMode="auto">
            <a:xfrm>
              <a:off x="4200" y="697"/>
              <a:ext cx="23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/>
                <a:t>1</a:t>
              </a:r>
            </a:p>
          </p:txBody>
        </p:sp>
      </p:grpSp>
      <p:sp>
        <p:nvSpPr>
          <p:cNvPr id="10246" name="Text Box 189"/>
          <p:cNvSpPr txBox="1">
            <a:spLocks noChangeArrowheads="1"/>
          </p:cNvSpPr>
          <p:nvPr/>
        </p:nvSpPr>
        <p:spPr bwMode="auto">
          <a:xfrm>
            <a:off x="2046288" y="1501775"/>
            <a:ext cx="6136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start</a:t>
            </a:r>
          </a:p>
        </p:txBody>
      </p:sp>
      <p:sp>
        <p:nvSpPr>
          <p:cNvPr id="10247" name="Text Box 190"/>
          <p:cNvSpPr txBox="1">
            <a:spLocks noChangeArrowheads="1"/>
          </p:cNvSpPr>
          <p:nvPr/>
        </p:nvSpPr>
        <p:spPr bwMode="auto">
          <a:xfrm>
            <a:off x="6923088" y="1568450"/>
            <a:ext cx="577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goal</a:t>
            </a:r>
          </a:p>
        </p:txBody>
      </p:sp>
      <p:grpSp>
        <p:nvGrpSpPr>
          <p:cNvPr id="14" name="Group 191"/>
          <p:cNvGrpSpPr>
            <a:grpSpLocks/>
          </p:cNvGrpSpPr>
          <p:nvPr/>
        </p:nvGrpSpPr>
        <p:grpSpPr bwMode="auto">
          <a:xfrm>
            <a:off x="2754314" y="2373314"/>
            <a:ext cx="1882775" cy="598487"/>
            <a:chOff x="686" y="1661"/>
            <a:chExt cx="1186" cy="377"/>
          </a:xfrm>
        </p:grpSpPr>
        <p:sp>
          <p:nvSpPr>
            <p:cNvPr id="10435" name="Line 192"/>
            <p:cNvSpPr>
              <a:spLocks noChangeShapeType="1"/>
            </p:cNvSpPr>
            <p:nvPr/>
          </p:nvSpPr>
          <p:spPr bwMode="auto">
            <a:xfrm>
              <a:off x="1258" y="1661"/>
              <a:ext cx="0" cy="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6" name="Line 193"/>
            <p:cNvSpPr>
              <a:spLocks noChangeShapeType="1"/>
            </p:cNvSpPr>
            <p:nvPr/>
          </p:nvSpPr>
          <p:spPr bwMode="auto">
            <a:xfrm>
              <a:off x="1288" y="1661"/>
              <a:ext cx="584" cy="2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7" name="Line 194"/>
            <p:cNvSpPr>
              <a:spLocks noChangeShapeType="1"/>
            </p:cNvSpPr>
            <p:nvPr/>
          </p:nvSpPr>
          <p:spPr bwMode="auto">
            <a:xfrm flipH="1">
              <a:off x="686" y="1661"/>
              <a:ext cx="572" cy="2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" name="Group 195"/>
          <p:cNvGrpSpPr>
            <a:grpSpLocks/>
          </p:cNvGrpSpPr>
          <p:nvPr/>
        </p:nvGrpSpPr>
        <p:grpSpPr bwMode="auto">
          <a:xfrm>
            <a:off x="2655888" y="4257675"/>
            <a:ext cx="908050" cy="598488"/>
            <a:chOff x="686" y="1661"/>
            <a:chExt cx="572" cy="377"/>
          </a:xfrm>
        </p:grpSpPr>
        <p:sp>
          <p:nvSpPr>
            <p:cNvPr id="10432" name="Line 196"/>
            <p:cNvSpPr>
              <a:spLocks noChangeShapeType="1"/>
            </p:cNvSpPr>
            <p:nvPr/>
          </p:nvSpPr>
          <p:spPr bwMode="auto">
            <a:xfrm>
              <a:off x="1258" y="1661"/>
              <a:ext cx="0" cy="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4" name="Line 198"/>
            <p:cNvSpPr>
              <a:spLocks noChangeShapeType="1"/>
            </p:cNvSpPr>
            <p:nvPr/>
          </p:nvSpPr>
          <p:spPr bwMode="auto">
            <a:xfrm flipH="1">
              <a:off x="686" y="1661"/>
              <a:ext cx="572" cy="2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82919" name="Text Box 199"/>
          <p:cNvSpPr txBox="1">
            <a:spLocks noChangeArrowheads="1"/>
          </p:cNvSpPr>
          <p:nvPr/>
        </p:nvSpPr>
        <p:spPr bwMode="auto">
          <a:xfrm>
            <a:off x="2316163" y="258603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182920" name="Text Box 200"/>
          <p:cNvSpPr txBox="1">
            <a:spLocks noChangeArrowheads="1"/>
          </p:cNvSpPr>
          <p:nvPr/>
        </p:nvSpPr>
        <p:spPr bwMode="auto">
          <a:xfrm>
            <a:off x="3124201" y="2438400"/>
            <a:ext cx="8883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</a:t>
            </a:r>
            <a:r>
              <a:rPr lang="en-US" baseline="-25000" dirty="0">
                <a:solidFill>
                  <a:schemeClr val="accent2"/>
                </a:solidFill>
              </a:rPr>
              <a:t>oop</a:t>
            </a:r>
            <a:r>
              <a:rPr lang="en-US" dirty="0">
                <a:solidFill>
                  <a:schemeClr val="accent2"/>
                </a:solidFill>
              </a:rPr>
              <a:t> = 4</a:t>
            </a:r>
          </a:p>
        </p:txBody>
      </p:sp>
      <p:sp>
        <p:nvSpPr>
          <p:cNvPr id="1182921" name="Text Box 201"/>
          <p:cNvSpPr txBox="1">
            <a:spLocks noChangeArrowheads="1"/>
          </p:cNvSpPr>
          <p:nvPr/>
        </p:nvSpPr>
        <p:spPr bwMode="auto">
          <a:xfrm>
            <a:off x="3048001" y="4338637"/>
            <a:ext cx="8883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</a:t>
            </a:r>
            <a:r>
              <a:rPr lang="en-US" baseline="-25000" dirty="0">
                <a:solidFill>
                  <a:schemeClr val="accent2"/>
                </a:solidFill>
              </a:rPr>
              <a:t>oop</a:t>
            </a:r>
            <a:r>
              <a:rPr lang="en-US" dirty="0">
                <a:solidFill>
                  <a:schemeClr val="accent2"/>
                </a:solidFill>
              </a:rPr>
              <a:t> = 3</a:t>
            </a:r>
          </a:p>
        </p:txBody>
      </p:sp>
      <p:sp>
        <p:nvSpPr>
          <p:cNvPr id="1182922" name="Text Box 202"/>
          <p:cNvSpPr txBox="1">
            <a:spLocks noChangeArrowheads="1"/>
          </p:cNvSpPr>
          <p:nvPr/>
        </p:nvSpPr>
        <p:spPr bwMode="auto">
          <a:xfrm>
            <a:off x="6400801" y="5257800"/>
            <a:ext cx="8883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h</a:t>
            </a:r>
            <a:r>
              <a:rPr lang="en-US" baseline="-25000">
                <a:solidFill>
                  <a:schemeClr val="accent2"/>
                </a:solidFill>
              </a:rPr>
              <a:t>oop</a:t>
            </a:r>
            <a:r>
              <a:rPr lang="en-US">
                <a:solidFill>
                  <a:schemeClr val="accent2"/>
                </a:solidFill>
              </a:rPr>
              <a:t> = 2</a:t>
            </a:r>
          </a:p>
        </p:txBody>
      </p:sp>
      <p:sp>
        <p:nvSpPr>
          <p:cNvPr id="1182923" name="Text Box 203"/>
          <p:cNvSpPr txBox="1">
            <a:spLocks noChangeArrowheads="1"/>
          </p:cNvSpPr>
          <p:nvPr/>
        </p:nvSpPr>
        <p:spPr bwMode="auto">
          <a:xfrm>
            <a:off x="7762877" y="4257675"/>
            <a:ext cx="8883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</a:t>
            </a:r>
            <a:r>
              <a:rPr lang="en-US" baseline="-25000" dirty="0">
                <a:solidFill>
                  <a:schemeClr val="accent2"/>
                </a:solidFill>
              </a:rPr>
              <a:t>oop</a:t>
            </a:r>
            <a:r>
              <a:rPr lang="en-US" dirty="0">
                <a:solidFill>
                  <a:schemeClr val="accent2"/>
                </a:solidFill>
              </a:rPr>
              <a:t> = 1</a:t>
            </a:r>
          </a:p>
        </p:txBody>
      </p:sp>
      <p:sp>
        <p:nvSpPr>
          <p:cNvPr id="1182924" name="Text Box 204"/>
          <p:cNvSpPr txBox="1">
            <a:spLocks noChangeArrowheads="1"/>
          </p:cNvSpPr>
          <p:nvPr/>
        </p:nvSpPr>
        <p:spPr bwMode="auto">
          <a:xfrm>
            <a:off x="7848601" y="2406085"/>
            <a:ext cx="8883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</a:t>
            </a:r>
            <a:r>
              <a:rPr lang="en-US" baseline="-25000" dirty="0">
                <a:solidFill>
                  <a:schemeClr val="accent2"/>
                </a:solidFill>
              </a:rPr>
              <a:t>oop</a:t>
            </a:r>
            <a:r>
              <a:rPr lang="en-US" dirty="0">
                <a:solidFill>
                  <a:schemeClr val="accent2"/>
                </a:solidFill>
              </a:rPr>
              <a:t> = 0</a:t>
            </a:r>
          </a:p>
        </p:txBody>
      </p:sp>
      <p:sp>
        <p:nvSpPr>
          <p:cNvPr id="10256" name="Text Box 205"/>
          <p:cNvSpPr txBox="1">
            <a:spLocks noChangeArrowheads="1"/>
          </p:cNvSpPr>
          <p:nvPr/>
        </p:nvSpPr>
        <p:spPr bwMode="auto">
          <a:xfrm>
            <a:off x="4419601" y="1611313"/>
            <a:ext cx="8883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h</a:t>
            </a:r>
            <a:r>
              <a:rPr lang="en-US" baseline="-25000">
                <a:solidFill>
                  <a:srgbClr val="FF0000"/>
                </a:solidFill>
              </a:rPr>
              <a:t>oop</a:t>
            </a:r>
            <a:r>
              <a:rPr lang="en-US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1182926" name="Text Box 206"/>
          <p:cNvSpPr txBox="1">
            <a:spLocks noChangeArrowheads="1"/>
          </p:cNvSpPr>
          <p:nvPr/>
        </p:nvSpPr>
        <p:spPr bwMode="auto">
          <a:xfrm>
            <a:off x="4538663" y="258603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182927" name="Text Box 207"/>
          <p:cNvSpPr txBox="1">
            <a:spLocks noChangeArrowheads="1"/>
          </p:cNvSpPr>
          <p:nvPr/>
        </p:nvSpPr>
        <p:spPr bwMode="auto">
          <a:xfrm>
            <a:off x="4895850" y="590867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182929" name="Text Box 209"/>
          <p:cNvSpPr txBox="1">
            <a:spLocks noChangeArrowheads="1"/>
          </p:cNvSpPr>
          <p:nvPr/>
        </p:nvSpPr>
        <p:spPr bwMode="auto">
          <a:xfrm>
            <a:off x="2217738" y="447357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182931" name="Line 211"/>
          <p:cNvSpPr>
            <a:spLocks noChangeShapeType="1"/>
          </p:cNvSpPr>
          <p:nvPr/>
        </p:nvSpPr>
        <p:spPr bwMode="auto">
          <a:xfrm flipV="1">
            <a:off x="8434388" y="4305300"/>
            <a:ext cx="0" cy="579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82932" name="Line 212"/>
          <p:cNvSpPr>
            <a:spLocks noChangeShapeType="1"/>
          </p:cNvSpPr>
          <p:nvPr/>
        </p:nvSpPr>
        <p:spPr bwMode="auto">
          <a:xfrm>
            <a:off x="4243388" y="5527675"/>
            <a:ext cx="3511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82933" name="Line 213"/>
          <p:cNvSpPr>
            <a:spLocks noChangeShapeType="1"/>
          </p:cNvSpPr>
          <p:nvPr/>
        </p:nvSpPr>
        <p:spPr bwMode="auto">
          <a:xfrm>
            <a:off x="4243389" y="5527675"/>
            <a:ext cx="73342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82934" name="Line 214"/>
          <p:cNvSpPr>
            <a:spLocks noChangeShapeType="1"/>
          </p:cNvSpPr>
          <p:nvPr/>
        </p:nvSpPr>
        <p:spPr bwMode="auto">
          <a:xfrm flipV="1">
            <a:off x="8310563" y="2416175"/>
            <a:ext cx="0" cy="579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" name="Group 346"/>
          <p:cNvGrpSpPr>
            <a:grpSpLocks/>
          </p:cNvGrpSpPr>
          <p:nvPr/>
        </p:nvGrpSpPr>
        <p:grpSpPr bwMode="auto">
          <a:xfrm>
            <a:off x="7924801" y="4800601"/>
            <a:ext cx="1209675" cy="1376363"/>
            <a:chOff x="4032" y="3024"/>
            <a:chExt cx="762" cy="867"/>
          </a:xfrm>
        </p:grpSpPr>
        <p:sp>
          <p:nvSpPr>
            <p:cNvPr id="10400" name="Text Box 249"/>
            <p:cNvSpPr txBox="1">
              <a:spLocks noChangeArrowheads="1"/>
            </p:cNvSpPr>
            <p:nvPr/>
          </p:nvSpPr>
          <p:spPr bwMode="auto">
            <a:xfrm>
              <a:off x="4080" y="3024"/>
              <a:ext cx="23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/>
                <a:t>3</a:t>
              </a:r>
            </a:p>
          </p:txBody>
        </p:sp>
        <p:grpSp>
          <p:nvGrpSpPr>
            <p:cNvPr id="10401" name="Group 281"/>
            <p:cNvGrpSpPr>
              <a:grpSpLocks/>
            </p:cNvGrpSpPr>
            <p:nvPr/>
          </p:nvGrpSpPr>
          <p:grpSpPr bwMode="auto">
            <a:xfrm>
              <a:off x="4032" y="3024"/>
              <a:ext cx="762" cy="867"/>
              <a:chOff x="3797" y="3132"/>
              <a:chExt cx="762" cy="867"/>
            </a:xfrm>
          </p:grpSpPr>
          <p:grpSp>
            <p:nvGrpSpPr>
              <p:cNvPr id="10402" name="Group 282"/>
              <p:cNvGrpSpPr>
                <a:grpSpLocks/>
              </p:cNvGrpSpPr>
              <p:nvPr/>
            </p:nvGrpSpPr>
            <p:grpSpPr bwMode="auto">
              <a:xfrm>
                <a:off x="3807" y="3147"/>
                <a:ext cx="752" cy="330"/>
                <a:chOff x="1282" y="2126"/>
                <a:chExt cx="752" cy="330"/>
              </a:xfrm>
            </p:grpSpPr>
            <p:grpSp>
              <p:nvGrpSpPr>
                <p:cNvPr id="10423" name="Group 283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430" name="Rectangle 284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431" name="Text Box 2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424" name="Group 286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428" name="Rectangle 287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429" name="Text Box 28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425" name="Group 289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426" name="Rectangle 290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427" name="Text Box 29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2</a:t>
                    </a:r>
                  </a:p>
                </p:txBody>
              </p:sp>
            </p:grpSp>
          </p:grpSp>
          <p:grpSp>
            <p:nvGrpSpPr>
              <p:cNvPr id="10403" name="Group 292"/>
              <p:cNvGrpSpPr>
                <a:grpSpLocks/>
              </p:cNvGrpSpPr>
              <p:nvPr/>
            </p:nvGrpSpPr>
            <p:grpSpPr bwMode="auto">
              <a:xfrm>
                <a:off x="3802" y="3408"/>
                <a:ext cx="260" cy="330"/>
                <a:chOff x="1287" y="1865"/>
                <a:chExt cx="260" cy="330"/>
              </a:xfrm>
            </p:grpSpPr>
            <p:sp>
              <p:nvSpPr>
                <p:cNvPr id="10421" name="Rectangle 29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22" name="Text Box 29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0404" name="Group 295"/>
              <p:cNvGrpSpPr>
                <a:grpSpLocks/>
              </p:cNvGrpSpPr>
              <p:nvPr/>
            </p:nvGrpSpPr>
            <p:grpSpPr bwMode="auto">
              <a:xfrm>
                <a:off x="4048" y="3408"/>
                <a:ext cx="248" cy="330"/>
                <a:chOff x="1287" y="1865"/>
                <a:chExt cx="248" cy="330"/>
              </a:xfrm>
            </p:grpSpPr>
            <p:sp>
              <p:nvSpPr>
                <p:cNvPr id="10419" name="Rectangle 29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20" name="Text Box 29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1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 </a:t>
                  </a:r>
                </a:p>
              </p:txBody>
            </p:sp>
          </p:grpSp>
          <p:grpSp>
            <p:nvGrpSpPr>
              <p:cNvPr id="10405" name="Group 298"/>
              <p:cNvGrpSpPr>
                <a:grpSpLocks/>
              </p:cNvGrpSpPr>
              <p:nvPr/>
            </p:nvGrpSpPr>
            <p:grpSpPr bwMode="auto">
              <a:xfrm>
                <a:off x="4294" y="3408"/>
                <a:ext cx="260" cy="330"/>
                <a:chOff x="1287" y="1865"/>
                <a:chExt cx="260" cy="330"/>
              </a:xfrm>
            </p:grpSpPr>
            <p:sp>
              <p:nvSpPr>
                <p:cNvPr id="10417" name="Rectangle 29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18" name="Text Box 30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  <p:grpSp>
            <p:nvGrpSpPr>
              <p:cNvPr id="10406" name="Group 301"/>
              <p:cNvGrpSpPr>
                <a:grpSpLocks/>
              </p:cNvGrpSpPr>
              <p:nvPr/>
            </p:nvGrpSpPr>
            <p:grpSpPr bwMode="auto">
              <a:xfrm>
                <a:off x="3797" y="3669"/>
                <a:ext cx="752" cy="330"/>
                <a:chOff x="1282" y="2126"/>
                <a:chExt cx="752" cy="330"/>
              </a:xfrm>
            </p:grpSpPr>
            <p:grpSp>
              <p:nvGrpSpPr>
                <p:cNvPr id="10408" name="Group 302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415" name="Rectangle 303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416" name="Text Box 3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6</a:t>
                    </a:r>
                  </a:p>
                </p:txBody>
              </p:sp>
            </p:grpSp>
            <p:grpSp>
              <p:nvGrpSpPr>
                <p:cNvPr id="10409" name="Group 305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413" name="Rectangle 306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414" name="Text Box 3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7</a:t>
                    </a:r>
                  </a:p>
                </p:txBody>
              </p:sp>
            </p:grpSp>
            <p:grpSp>
              <p:nvGrpSpPr>
                <p:cNvPr id="10410" name="Group 308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411" name="Rectangle 309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412" name="Text Box 3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8</a:t>
                    </a:r>
                  </a:p>
                </p:txBody>
              </p:sp>
            </p:grpSp>
          </p:grpSp>
          <p:sp>
            <p:nvSpPr>
              <p:cNvPr id="10407" name="Text Box 311"/>
              <p:cNvSpPr txBox="1">
                <a:spLocks noChangeArrowheads="1"/>
              </p:cNvSpPr>
              <p:nvPr/>
            </p:nvSpPr>
            <p:spPr bwMode="auto">
              <a:xfrm>
                <a:off x="4072" y="3132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1</a:t>
                </a:r>
              </a:p>
            </p:txBody>
          </p:sp>
        </p:grpSp>
      </p:grpSp>
      <p:grpSp>
        <p:nvGrpSpPr>
          <p:cNvPr id="29" name="Group 380"/>
          <p:cNvGrpSpPr>
            <a:grpSpLocks/>
          </p:cNvGrpSpPr>
          <p:nvPr/>
        </p:nvGrpSpPr>
        <p:grpSpPr bwMode="auto">
          <a:xfrm>
            <a:off x="3048001" y="4876801"/>
            <a:ext cx="1209675" cy="1376363"/>
            <a:chOff x="4032" y="3024"/>
            <a:chExt cx="762" cy="867"/>
          </a:xfrm>
        </p:grpSpPr>
        <p:sp>
          <p:nvSpPr>
            <p:cNvPr id="10368" name="Text Box 381"/>
            <p:cNvSpPr txBox="1">
              <a:spLocks noChangeArrowheads="1"/>
            </p:cNvSpPr>
            <p:nvPr/>
          </p:nvSpPr>
          <p:spPr bwMode="auto">
            <a:xfrm>
              <a:off x="4080" y="3024"/>
              <a:ext cx="23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/>
                <a:t>3</a:t>
              </a:r>
            </a:p>
          </p:txBody>
        </p:sp>
        <p:grpSp>
          <p:nvGrpSpPr>
            <p:cNvPr id="10369" name="Group 382"/>
            <p:cNvGrpSpPr>
              <a:grpSpLocks/>
            </p:cNvGrpSpPr>
            <p:nvPr/>
          </p:nvGrpSpPr>
          <p:grpSpPr bwMode="auto">
            <a:xfrm>
              <a:off x="4032" y="3024"/>
              <a:ext cx="762" cy="867"/>
              <a:chOff x="3797" y="3132"/>
              <a:chExt cx="762" cy="867"/>
            </a:xfrm>
          </p:grpSpPr>
          <p:grpSp>
            <p:nvGrpSpPr>
              <p:cNvPr id="10370" name="Group 383"/>
              <p:cNvGrpSpPr>
                <a:grpSpLocks/>
              </p:cNvGrpSpPr>
              <p:nvPr/>
            </p:nvGrpSpPr>
            <p:grpSpPr bwMode="auto">
              <a:xfrm>
                <a:off x="3807" y="3147"/>
                <a:ext cx="752" cy="330"/>
                <a:chOff x="1282" y="2126"/>
                <a:chExt cx="752" cy="330"/>
              </a:xfrm>
            </p:grpSpPr>
            <p:grpSp>
              <p:nvGrpSpPr>
                <p:cNvPr id="10391" name="Group 384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98" name="Rectangle 385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99" name="Text Box 38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392" name="Group 387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96" name="Rectangle 388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97" name="Text Box 38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393" name="Group 390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94" name="Rectangle 391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95" name="Text Box 39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2</a:t>
                    </a:r>
                  </a:p>
                </p:txBody>
              </p:sp>
            </p:grpSp>
          </p:grpSp>
          <p:grpSp>
            <p:nvGrpSpPr>
              <p:cNvPr id="10371" name="Group 393"/>
              <p:cNvGrpSpPr>
                <a:grpSpLocks/>
              </p:cNvGrpSpPr>
              <p:nvPr/>
            </p:nvGrpSpPr>
            <p:grpSpPr bwMode="auto">
              <a:xfrm>
                <a:off x="3802" y="3408"/>
                <a:ext cx="260" cy="330"/>
                <a:chOff x="1287" y="1865"/>
                <a:chExt cx="260" cy="330"/>
              </a:xfrm>
            </p:grpSpPr>
            <p:sp>
              <p:nvSpPr>
                <p:cNvPr id="10389" name="Rectangle 394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90" name="Text Box 395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0372" name="Group 396"/>
              <p:cNvGrpSpPr>
                <a:grpSpLocks/>
              </p:cNvGrpSpPr>
              <p:nvPr/>
            </p:nvGrpSpPr>
            <p:grpSpPr bwMode="auto">
              <a:xfrm>
                <a:off x="4048" y="3408"/>
                <a:ext cx="372" cy="330"/>
                <a:chOff x="1287" y="1865"/>
                <a:chExt cx="372" cy="330"/>
              </a:xfrm>
            </p:grpSpPr>
            <p:sp>
              <p:nvSpPr>
                <p:cNvPr id="10387" name="Rectangle 39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88" name="Text Box 39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34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  </a:t>
                  </a:r>
                </a:p>
              </p:txBody>
            </p:sp>
          </p:grpSp>
          <p:grpSp>
            <p:nvGrpSpPr>
              <p:cNvPr id="10373" name="Group 399"/>
              <p:cNvGrpSpPr>
                <a:grpSpLocks/>
              </p:cNvGrpSpPr>
              <p:nvPr/>
            </p:nvGrpSpPr>
            <p:grpSpPr bwMode="auto">
              <a:xfrm>
                <a:off x="4294" y="3408"/>
                <a:ext cx="246" cy="330"/>
                <a:chOff x="1287" y="1865"/>
                <a:chExt cx="246" cy="330"/>
              </a:xfrm>
            </p:grpSpPr>
            <p:sp>
              <p:nvSpPr>
                <p:cNvPr id="10385" name="Rectangle 40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86" name="Text Box 40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7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</a:t>
                  </a:r>
                </a:p>
              </p:txBody>
            </p:sp>
          </p:grpSp>
          <p:grpSp>
            <p:nvGrpSpPr>
              <p:cNvPr id="10374" name="Group 402"/>
              <p:cNvGrpSpPr>
                <a:grpSpLocks/>
              </p:cNvGrpSpPr>
              <p:nvPr/>
            </p:nvGrpSpPr>
            <p:grpSpPr bwMode="auto">
              <a:xfrm>
                <a:off x="3797" y="3669"/>
                <a:ext cx="752" cy="330"/>
                <a:chOff x="1282" y="2126"/>
                <a:chExt cx="752" cy="330"/>
              </a:xfrm>
            </p:grpSpPr>
            <p:grpSp>
              <p:nvGrpSpPr>
                <p:cNvPr id="10376" name="Group 403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83" name="Rectangle 404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84" name="Text Box 40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6</a:t>
                    </a:r>
                  </a:p>
                </p:txBody>
              </p:sp>
            </p:grpSp>
            <p:grpSp>
              <p:nvGrpSpPr>
                <p:cNvPr id="10377" name="Group 406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81" name="Rectangle 407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82" name="Text Box 40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7</a:t>
                    </a:r>
                  </a:p>
                </p:txBody>
              </p:sp>
            </p:grpSp>
            <p:grpSp>
              <p:nvGrpSpPr>
                <p:cNvPr id="10378" name="Group 409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79" name="Rectangle 410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80" name="Text Box 4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8</a:t>
                    </a:r>
                  </a:p>
                </p:txBody>
              </p:sp>
            </p:grpSp>
          </p:grpSp>
          <p:sp>
            <p:nvSpPr>
              <p:cNvPr id="10375" name="Text Box 412"/>
              <p:cNvSpPr txBox="1">
                <a:spLocks noChangeArrowheads="1"/>
              </p:cNvSpPr>
              <p:nvPr/>
            </p:nvSpPr>
            <p:spPr bwMode="auto">
              <a:xfrm>
                <a:off x="4072" y="3132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1</a:t>
                </a:r>
              </a:p>
            </p:txBody>
          </p:sp>
        </p:grpSp>
      </p:grpSp>
      <p:grpSp>
        <p:nvGrpSpPr>
          <p:cNvPr id="1182911" name="Group 413"/>
          <p:cNvGrpSpPr>
            <a:grpSpLocks/>
          </p:cNvGrpSpPr>
          <p:nvPr/>
        </p:nvGrpSpPr>
        <p:grpSpPr bwMode="auto">
          <a:xfrm>
            <a:off x="3124201" y="2971801"/>
            <a:ext cx="1209675" cy="1376363"/>
            <a:chOff x="4032" y="3024"/>
            <a:chExt cx="762" cy="867"/>
          </a:xfrm>
        </p:grpSpPr>
        <p:sp>
          <p:nvSpPr>
            <p:cNvPr id="10336" name="Text Box 414"/>
            <p:cNvSpPr txBox="1">
              <a:spLocks noChangeArrowheads="1"/>
            </p:cNvSpPr>
            <p:nvPr/>
          </p:nvSpPr>
          <p:spPr bwMode="auto">
            <a:xfrm>
              <a:off x="4080" y="3024"/>
              <a:ext cx="23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/>
                <a:t>3</a:t>
              </a:r>
            </a:p>
          </p:txBody>
        </p:sp>
        <p:grpSp>
          <p:nvGrpSpPr>
            <p:cNvPr id="10337" name="Group 415"/>
            <p:cNvGrpSpPr>
              <a:grpSpLocks/>
            </p:cNvGrpSpPr>
            <p:nvPr/>
          </p:nvGrpSpPr>
          <p:grpSpPr bwMode="auto">
            <a:xfrm>
              <a:off x="4032" y="3024"/>
              <a:ext cx="762" cy="867"/>
              <a:chOff x="3797" y="3132"/>
              <a:chExt cx="762" cy="867"/>
            </a:xfrm>
          </p:grpSpPr>
          <p:grpSp>
            <p:nvGrpSpPr>
              <p:cNvPr id="10338" name="Group 416"/>
              <p:cNvGrpSpPr>
                <a:grpSpLocks/>
              </p:cNvGrpSpPr>
              <p:nvPr/>
            </p:nvGrpSpPr>
            <p:grpSpPr bwMode="auto">
              <a:xfrm>
                <a:off x="3807" y="3147"/>
                <a:ext cx="752" cy="330"/>
                <a:chOff x="1282" y="2126"/>
                <a:chExt cx="752" cy="330"/>
              </a:xfrm>
            </p:grpSpPr>
            <p:grpSp>
              <p:nvGrpSpPr>
                <p:cNvPr id="10359" name="Group 417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66" name="Rectangle 418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67" name="Text Box 4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360" name="Group 420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64" name="Rectangle 421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65" name="Text Box 4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361" name="Group 423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62" name="Rectangle 424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63" name="Text Box 4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2</a:t>
                    </a:r>
                  </a:p>
                </p:txBody>
              </p:sp>
            </p:grpSp>
          </p:grpSp>
          <p:grpSp>
            <p:nvGrpSpPr>
              <p:cNvPr id="10339" name="Group 426"/>
              <p:cNvGrpSpPr>
                <a:grpSpLocks/>
              </p:cNvGrpSpPr>
              <p:nvPr/>
            </p:nvGrpSpPr>
            <p:grpSpPr bwMode="auto">
              <a:xfrm>
                <a:off x="3802" y="3408"/>
                <a:ext cx="260" cy="330"/>
                <a:chOff x="1287" y="1865"/>
                <a:chExt cx="260" cy="330"/>
              </a:xfrm>
            </p:grpSpPr>
            <p:sp>
              <p:nvSpPr>
                <p:cNvPr id="10357" name="Rectangle 42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58" name="Text Box 42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0340" name="Group 429"/>
              <p:cNvGrpSpPr>
                <a:grpSpLocks/>
              </p:cNvGrpSpPr>
              <p:nvPr/>
            </p:nvGrpSpPr>
            <p:grpSpPr bwMode="auto">
              <a:xfrm>
                <a:off x="4048" y="3408"/>
                <a:ext cx="372" cy="330"/>
                <a:chOff x="1287" y="1865"/>
                <a:chExt cx="372" cy="330"/>
              </a:xfrm>
            </p:grpSpPr>
            <p:sp>
              <p:nvSpPr>
                <p:cNvPr id="10355" name="Rectangle 43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56" name="Text Box 43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34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  </a:t>
                  </a:r>
                </a:p>
              </p:txBody>
            </p:sp>
          </p:grpSp>
          <p:grpSp>
            <p:nvGrpSpPr>
              <p:cNvPr id="10341" name="Group 432"/>
              <p:cNvGrpSpPr>
                <a:grpSpLocks/>
              </p:cNvGrpSpPr>
              <p:nvPr/>
            </p:nvGrpSpPr>
            <p:grpSpPr bwMode="auto">
              <a:xfrm>
                <a:off x="4294" y="3408"/>
                <a:ext cx="260" cy="330"/>
                <a:chOff x="1287" y="1865"/>
                <a:chExt cx="260" cy="330"/>
              </a:xfrm>
            </p:grpSpPr>
            <p:sp>
              <p:nvSpPr>
                <p:cNvPr id="10353" name="Rectangle 43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54" name="Text Box 43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  <p:grpSp>
            <p:nvGrpSpPr>
              <p:cNvPr id="10342" name="Group 435"/>
              <p:cNvGrpSpPr>
                <a:grpSpLocks/>
              </p:cNvGrpSpPr>
              <p:nvPr/>
            </p:nvGrpSpPr>
            <p:grpSpPr bwMode="auto">
              <a:xfrm>
                <a:off x="3797" y="3669"/>
                <a:ext cx="738" cy="330"/>
                <a:chOff x="1282" y="2126"/>
                <a:chExt cx="738" cy="330"/>
              </a:xfrm>
            </p:grpSpPr>
            <p:grpSp>
              <p:nvGrpSpPr>
                <p:cNvPr id="10344" name="Group 436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51" name="Rectangle 437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52" name="Text Box 4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6</a:t>
                    </a:r>
                  </a:p>
                </p:txBody>
              </p:sp>
            </p:grpSp>
            <p:grpSp>
              <p:nvGrpSpPr>
                <p:cNvPr id="10345" name="Group 439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49" name="Rectangle 440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50" name="Text Box 4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7</a:t>
                    </a:r>
                  </a:p>
                </p:txBody>
              </p:sp>
            </p:grpSp>
            <p:grpSp>
              <p:nvGrpSpPr>
                <p:cNvPr id="10346" name="Group 442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47" name="Rectangle 443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48" name="Text Box 4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</p:grpSp>
          <p:sp>
            <p:nvSpPr>
              <p:cNvPr id="10343" name="Text Box 445"/>
              <p:cNvSpPr txBox="1">
                <a:spLocks noChangeArrowheads="1"/>
              </p:cNvSpPr>
              <p:nvPr/>
            </p:nvSpPr>
            <p:spPr bwMode="auto">
              <a:xfrm>
                <a:off x="4072" y="3132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1</a:t>
                </a:r>
              </a:p>
            </p:txBody>
          </p:sp>
        </p:grpSp>
      </p:grpSp>
      <p:grpSp>
        <p:nvGrpSpPr>
          <p:cNvPr id="10270" name="Group 479"/>
          <p:cNvGrpSpPr>
            <a:grpSpLocks/>
          </p:cNvGrpSpPr>
          <p:nvPr/>
        </p:nvGrpSpPr>
        <p:grpSpPr bwMode="auto">
          <a:xfrm>
            <a:off x="3124200" y="1143001"/>
            <a:ext cx="1289050" cy="1376363"/>
            <a:chOff x="4032" y="3024"/>
            <a:chExt cx="812" cy="867"/>
          </a:xfrm>
        </p:grpSpPr>
        <p:sp>
          <p:nvSpPr>
            <p:cNvPr id="10304" name="Text Box 480"/>
            <p:cNvSpPr txBox="1">
              <a:spLocks noChangeArrowheads="1"/>
            </p:cNvSpPr>
            <p:nvPr/>
          </p:nvSpPr>
          <p:spPr bwMode="auto">
            <a:xfrm>
              <a:off x="4080" y="3024"/>
              <a:ext cx="23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/>
                <a:t>3</a:t>
              </a:r>
            </a:p>
          </p:txBody>
        </p:sp>
        <p:grpSp>
          <p:nvGrpSpPr>
            <p:cNvPr id="10305" name="Group 481"/>
            <p:cNvGrpSpPr>
              <a:grpSpLocks/>
            </p:cNvGrpSpPr>
            <p:nvPr/>
          </p:nvGrpSpPr>
          <p:grpSpPr bwMode="auto">
            <a:xfrm>
              <a:off x="4032" y="3024"/>
              <a:ext cx="812" cy="867"/>
              <a:chOff x="3797" y="3132"/>
              <a:chExt cx="812" cy="867"/>
            </a:xfrm>
          </p:grpSpPr>
          <p:grpSp>
            <p:nvGrpSpPr>
              <p:cNvPr id="10306" name="Group 482"/>
              <p:cNvGrpSpPr>
                <a:grpSpLocks/>
              </p:cNvGrpSpPr>
              <p:nvPr/>
            </p:nvGrpSpPr>
            <p:grpSpPr bwMode="auto">
              <a:xfrm>
                <a:off x="3807" y="3147"/>
                <a:ext cx="752" cy="330"/>
                <a:chOff x="1282" y="2126"/>
                <a:chExt cx="752" cy="330"/>
              </a:xfrm>
            </p:grpSpPr>
            <p:grpSp>
              <p:nvGrpSpPr>
                <p:cNvPr id="10327" name="Group 483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34" name="Rectangle 484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35" name="Text Box 4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328" name="Group 486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32" name="Rectangle 487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33" name="Text Box 48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329" name="Group 489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30" name="Rectangle 490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31" name="Text Box 49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2</a:t>
                    </a:r>
                  </a:p>
                </p:txBody>
              </p:sp>
            </p:grpSp>
          </p:grpSp>
          <p:grpSp>
            <p:nvGrpSpPr>
              <p:cNvPr id="10307" name="Group 492"/>
              <p:cNvGrpSpPr>
                <a:grpSpLocks/>
              </p:cNvGrpSpPr>
              <p:nvPr/>
            </p:nvGrpSpPr>
            <p:grpSpPr bwMode="auto">
              <a:xfrm>
                <a:off x="3802" y="3408"/>
                <a:ext cx="260" cy="330"/>
                <a:chOff x="1287" y="1865"/>
                <a:chExt cx="260" cy="330"/>
              </a:xfrm>
            </p:grpSpPr>
            <p:sp>
              <p:nvSpPr>
                <p:cNvPr id="10325" name="Rectangle 49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26" name="Text Box 49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0308" name="Group 495"/>
              <p:cNvGrpSpPr>
                <a:grpSpLocks/>
              </p:cNvGrpSpPr>
              <p:nvPr/>
            </p:nvGrpSpPr>
            <p:grpSpPr bwMode="auto">
              <a:xfrm>
                <a:off x="4048" y="3408"/>
                <a:ext cx="372" cy="330"/>
                <a:chOff x="1287" y="1865"/>
                <a:chExt cx="372" cy="330"/>
              </a:xfrm>
            </p:grpSpPr>
            <p:sp>
              <p:nvSpPr>
                <p:cNvPr id="10323" name="Rectangle 49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24" name="Text Box 49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34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  </a:t>
                  </a:r>
                </a:p>
              </p:txBody>
            </p:sp>
          </p:grpSp>
          <p:grpSp>
            <p:nvGrpSpPr>
              <p:cNvPr id="10309" name="Group 498"/>
              <p:cNvGrpSpPr>
                <a:grpSpLocks/>
              </p:cNvGrpSpPr>
              <p:nvPr/>
            </p:nvGrpSpPr>
            <p:grpSpPr bwMode="auto">
              <a:xfrm>
                <a:off x="4294" y="3408"/>
                <a:ext cx="315" cy="330"/>
                <a:chOff x="1287" y="1865"/>
                <a:chExt cx="315" cy="330"/>
              </a:xfrm>
            </p:grpSpPr>
            <p:sp>
              <p:nvSpPr>
                <p:cNvPr id="10321" name="Rectangle 49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22" name="Text Box 50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 </a:t>
                  </a:r>
                </a:p>
              </p:txBody>
            </p:sp>
          </p:grpSp>
          <p:grpSp>
            <p:nvGrpSpPr>
              <p:cNvPr id="10310" name="Group 501"/>
              <p:cNvGrpSpPr>
                <a:grpSpLocks/>
              </p:cNvGrpSpPr>
              <p:nvPr/>
            </p:nvGrpSpPr>
            <p:grpSpPr bwMode="auto">
              <a:xfrm>
                <a:off x="3797" y="3669"/>
                <a:ext cx="752" cy="330"/>
                <a:chOff x="1282" y="2126"/>
                <a:chExt cx="752" cy="330"/>
              </a:xfrm>
            </p:grpSpPr>
            <p:grpSp>
              <p:nvGrpSpPr>
                <p:cNvPr id="10312" name="Group 502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19" name="Rectangle 503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20" name="Text Box 5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6</a:t>
                    </a:r>
                  </a:p>
                </p:txBody>
              </p:sp>
            </p:grpSp>
            <p:grpSp>
              <p:nvGrpSpPr>
                <p:cNvPr id="10313" name="Group 505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17" name="Rectangle 506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18" name="Text Box 5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73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 </a:t>
                    </a:r>
                  </a:p>
                </p:txBody>
              </p:sp>
            </p:grpSp>
            <p:grpSp>
              <p:nvGrpSpPr>
                <p:cNvPr id="10314" name="Group 508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15" name="Rectangle 509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16" name="Text Box 5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7</a:t>
                    </a:r>
                  </a:p>
                </p:txBody>
              </p:sp>
            </p:grpSp>
          </p:grpSp>
          <p:sp>
            <p:nvSpPr>
              <p:cNvPr id="10311" name="Text Box 511"/>
              <p:cNvSpPr txBox="1">
                <a:spLocks noChangeArrowheads="1"/>
              </p:cNvSpPr>
              <p:nvPr/>
            </p:nvSpPr>
            <p:spPr bwMode="auto">
              <a:xfrm>
                <a:off x="4072" y="3132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1</a:t>
                </a:r>
              </a:p>
            </p:txBody>
          </p:sp>
        </p:grpSp>
      </p:grpSp>
      <p:grpSp>
        <p:nvGrpSpPr>
          <p:cNvPr id="231" name="Group 229"/>
          <p:cNvGrpSpPr>
            <a:grpSpLocks/>
          </p:cNvGrpSpPr>
          <p:nvPr/>
        </p:nvGrpSpPr>
        <p:grpSpPr bwMode="auto">
          <a:xfrm>
            <a:off x="7772401" y="2971801"/>
            <a:ext cx="1209675" cy="1376363"/>
            <a:chOff x="6248400" y="2971800"/>
            <a:chExt cx="1209675" cy="1376363"/>
          </a:xfrm>
        </p:grpSpPr>
        <p:grpSp>
          <p:nvGrpSpPr>
            <p:cNvPr id="10272" name="Group 217"/>
            <p:cNvGrpSpPr>
              <a:grpSpLocks/>
            </p:cNvGrpSpPr>
            <p:nvPr/>
          </p:nvGrpSpPr>
          <p:grpSpPr bwMode="auto">
            <a:xfrm>
              <a:off x="6248400" y="2971800"/>
              <a:ext cx="1209675" cy="1376363"/>
              <a:chOff x="3797" y="3132"/>
              <a:chExt cx="762" cy="867"/>
            </a:xfrm>
          </p:grpSpPr>
          <p:grpSp>
            <p:nvGrpSpPr>
              <p:cNvPr id="10274" name="Group 218"/>
              <p:cNvGrpSpPr>
                <a:grpSpLocks/>
              </p:cNvGrpSpPr>
              <p:nvPr/>
            </p:nvGrpSpPr>
            <p:grpSpPr bwMode="auto">
              <a:xfrm>
                <a:off x="3807" y="3147"/>
                <a:ext cx="752" cy="330"/>
                <a:chOff x="1282" y="2126"/>
                <a:chExt cx="752" cy="330"/>
              </a:xfrm>
            </p:grpSpPr>
            <p:grpSp>
              <p:nvGrpSpPr>
                <p:cNvPr id="10295" name="Group 219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02" name="Rectangle 220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03" name="Text Box 2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296" name="Group 222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00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01" name="Text Box 2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297" name="Group 225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298" name="Rectangle 226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299" name="Text Box 2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2</a:t>
                    </a:r>
                  </a:p>
                </p:txBody>
              </p:sp>
            </p:grpSp>
          </p:grpSp>
          <p:grpSp>
            <p:nvGrpSpPr>
              <p:cNvPr id="10275" name="Group 228"/>
              <p:cNvGrpSpPr>
                <a:grpSpLocks/>
              </p:cNvGrpSpPr>
              <p:nvPr/>
            </p:nvGrpSpPr>
            <p:grpSpPr bwMode="auto">
              <a:xfrm>
                <a:off x="3802" y="3408"/>
                <a:ext cx="248" cy="330"/>
                <a:chOff x="1287" y="1865"/>
                <a:chExt cx="248" cy="330"/>
              </a:xfrm>
            </p:grpSpPr>
            <p:sp>
              <p:nvSpPr>
                <p:cNvPr id="10293" name="Rectangle 22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294" name="Text Box 23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1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 </a:t>
                  </a:r>
                </a:p>
              </p:txBody>
            </p:sp>
          </p:grpSp>
          <p:grpSp>
            <p:nvGrpSpPr>
              <p:cNvPr id="10276" name="Group 231"/>
              <p:cNvGrpSpPr>
                <a:grpSpLocks/>
              </p:cNvGrpSpPr>
              <p:nvPr/>
            </p:nvGrpSpPr>
            <p:grpSpPr bwMode="auto">
              <a:xfrm>
                <a:off x="4048" y="3408"/>
                <a:ext cx="260" cy="330"/>
                <a:chOff x="1287" y="1865"/>
                <a:chExt cx="260" cy="330"/>
              </a:xfrm>
            </p:grpSpPr>
            <p:sp>
              <p:nvSpPr>
                <p:cNvPr id="10291" name="Rectangle 23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292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0277" name="Group 234"/>
              <p:cNvGrpSpPr>
                <a:grpSpLocks/>
              </p:cNvGrpSpPr>
              <p:nvPr/>
            </p:nvGrpSpPr>
            <p:grpSpPr bwMode="auto">
              <a:xfrm>
                <a:off x="4294" y="3408"/>
                <a:ext cx="260" cy="330"/>
                <a:chOff x="1287" y="1865"/>
                <a:chExt cx="260" cy="330"/>
              </a:xfrm>
            </p:grpSpPr>
            <p:sp>
              <p:nvSpPr>
                <p:cNvPr id="10289" name="Rectangle 235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290" name="Text Box 236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  <p:grpSp>
            <p:nvGrpSpPr>
              <p:cNvPr id="10278" name="Group 237"/>
              <p:cNvGrpSpPr>
                <a:grpSpLocks/>
              </p:cNvGrpSpPr>
              <p:nvPr/>
            </p:nvGrpSpPr>
            <p:grpSpPr bwMode="auto">
              <a:xfrm>
                <a:off x="3797" y="3669"/>
                <a:ext cx="752" cy="330"/>
                <a:chOff x="1282" y="2126"/>
                <a:chExt cx="752" cy="330"/>
              </a:xfrm>
            </p:grpSpPr>
            <p:grpSp>
              <p:nvGrpSpPr>
                <p:cNvPr id="10280" name="Group 238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287" name="Rectangle 239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288" name="Text Box 24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6</a:t>
                    </a:r>
                  </a:p>
                </p:txBody>
              </p:sp>
            </p:grpSp>
            <p:grpSp>
              <p:nvGrpSpPr>
                <p:cNvPr id="10281" name="Group 241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285" name="Rectangle 242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286" name="Text Box 24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7</a:t>
                    </a:r>
                  </a:p>
                </p:txBody>
              </p:sp>
            </p:grpSp>
            <p:grpSp>
              <p:nvGrpSpPr>
                <p:cNvPr id="10282" name="Group 244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283" name="Rectangle 245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284" name="Text Box 2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8</a:t>
                    </a:r>
                  </a:p>
                </p:txBody>
              </p:sp>
            </p:grpSp>
          </p:grpSp>
          <p:sp>
            <p:nvSpPr>
              <p:cNvPr id="10279" name="Text Box 247"/>
              <p:cNvSpPr txBox="1">
                <a:spLocks noChangeArrowheads="1"/>
              </p:cNvSpPr>
              <p:nvPr/>
            </p:nvSpPr>
            <p:spPr bwMode="auto">
              <a:xfrm>
                <a:off x="4072" y="3132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1</a:t>
                </a:r>
              </a:p>
            </p:txBody>
          </p:sp>
        </p:grpSp>
        <p:sp>
          <p:nvSpPr>
            <p:cNvPr id="10273" name="Text Box 233"/>
            <p:cNvSpPr txBox="1">
              <a:spLocks noChangeArrowheads="1"/>
            </p:cNvSpPr>
            <p:nvPr/>
          </p:nvSpPr>
          <p:spPr bwMode="auto">
            <a:xfrm>
              <a:off x="6299200" y="2992042"/>
              <a:ext cx="36420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dirty="0"/>
                <a:t>3</a:t>
              </a:r>
            </a:p>
          </p:txBody>
        </p:sp>
      </p:grpSp>
      <p:sp>
        <p:nvSpPr>
          <p:cNvPr id="228" name="Text Box 207"/>
          <p:cNvSpPr txBox="1">
            <a:spLocks noChangeArrowheads="1"/>
          </p:cNvSpPr>
          <p:nvPr/>
        </p:nvSpPr>
        <p:spPr bwMode="auto">
          <a:xfrm>
            <a:off x="4912473" y="4511689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29" name="Line 213"/>
          <p:cNvSpPr>
            <a:spLocks noChangeShapeType="1"/>
          </p:cNvSpPr>
          <p:nvPr/>
        </p:nvSpPr>
        <p:spPr bwMode="auto">
          <a:xfrm flipV="1">
            <a:off x="4252914" y="4935486"/>
            <a:ext cx="649286" cy="5779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1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2919" grpId="0" autoUpdateAnimBg="0"/>
      <p:bldP spid="1182920" grpId="0" autoUpdateAnimBg="0"/>
      <p:bldP spid="1182921" grpId="0" autoUpdateAnimBg="0"/>
      <p:bldP spid="1182922" grpId="0" autoUpdateAnimBg="0"/>
      <p:bldP spid="1182923" grpId="0" autoUpdateAnimBg="0"/>
      <p:bldP spid="1182924" grpId="0" autoUpdateAnimBg="0"/>
      <p:bldP spid="1182926" grpId="0" autoUpdateAnimBg="0"/>
      <p:bldP spid="1182927" grpId="0" autoUpdateAnimBg="0"/>
      <p:bldP spid="1182929" grpId="0" autoUpdateAnimBg="0"/>
      <p:bldP spid="1182931" grpId="0" animBg="1"/>
      <p:bldP spid="1182932" grpId="0" animBg="1"/>
      <p:bldP spid="1182933" grpId="0" animBg="1"/>
      <p:bldP spid="1182934" grpId="0" animBg="1"/>
      <p:bldP spid="228" grpId="0" autoUpdateAnimBg="0"/>
      <p:bldP spid="2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319" y="789915"/>
            <a:ext cx="3541762" cy="47105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48A7C-2FA3-45C5-949A-D8D552676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24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49057"/>
            <a:ext cx="9592995" cy="39654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0D372B-A92E-4513-98F1-E0415813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432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271" y="714155"/>
            <a:ext cx="8168339" cy="529275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6062F-29DB-4C9D-99B1-8113C48B4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82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hill-climbing for the maze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maze:</a:t>
            </a:r>
          </a:p>
          <a:p>
            <a:r>
              <a:rPr lang="en-US" dirty="0"/>
              <a:t>The problem is to get from the start node S to the goal node G, by moving horizontally and vertically and avoiding the black obstacles in the above maze.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785" y="3466823"/>
            <a:ext cx="4728214" cy="27101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8DDC-CE77-4D13-A32E-DB94EA24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22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932" y="834667"/>
            <a:ext cx="5124086" cy="4944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0283" y="1097280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005" y="4354538"/>
            <a:ext cx="3275164" cy="187393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7FFB9D-6D6C-4B8E-8D57-7AAC3A55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3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40283" y="1097280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85" y="778396"/>
            <a:ext cx="5071880" cy="484130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807" y="4459611"/>
            <a:ext cx="3273836" cy="187773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A7DFCE-D2CF-4C96-AC47-2F0FB5835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165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01132" y="1448972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983" y="1097280"/>
            <a:ext cx="4673921" cy="44971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656" y="4769100"/>
            <a:ext cx="3273836" cy="18777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6341B-006B-4ECA-A09C-0D750932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36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40283" y="1097280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135" y="773422"/>
            <a:ext cx="5067816" cy="486237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807" y="4572153"/>
            <a:ext cx="3273836" cy="18777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C8392-FE8B-455A-9C64-F146A88F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370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40283" y="1097280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593" y="1070986"/>
            <a:ext cx="5180357" cy="49562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807" y="4445543"/>
            <a:ext cx="3273836" cy="18777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53560-9587-40B3-81DE-3FBEAE43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299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40283" y="1097280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661" y="857829"/>
            <a:ext cx="5517981" cy="529429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807" y="4459611"/>
            <a:ext cx="3273836" cy="18777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0626E-1F3E-4815-ABF2-71261427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326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40283" y="1097280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34" y="745287"/>
            <a:ext cx="5658658" cy="54292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807" y="4296821"/>
            <a:ext cx="3273836" cy="18777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BA884-EBEE-4994-AD2C-4235C259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501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40283" y="1097280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548340"/>
            <a:ext cx="5672725" cy="544276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807" y="4375205"/>
            <a:ext cx="3273836" cy="18777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3AFFB-9301-46D5-874A-65CB9E854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409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hill-climbing for the maze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algorithm is stuck in (3,4) because all </a:t>
            </a:r>
            <a:r>
              <a:rPr lang="en-US" dirty="0" err="1"/>
              <a:t>neigbours</a:t>
            </a:r>
            <a:r>
              <a:rPr lang="en-US" dirty="0"/>
              <a:t> of (3,4) are worse than (3,4) (i.e., they have a higher Manhattan distance).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88946" y="1927274"/>
            <a:ext cx="4441862" cy="424968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506" y="4052118"/>
            <a:ext cx="3273836" cy="18777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4917F-672E-4848-BDF3-9EA0FEDE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661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hill-climbing for finding the minimum of a quadratic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dirty="0"/>
                  <a:t> defined on integer numbers 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−20,20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Use the hill-climbing algorithm to find the function’s minimum value on this interval.</a:t>
                </a:r>
              </a:p>
              <a:p>
                <a:r>
                  <a:rPr lang="en-US" dirty="0"/>
                  <a:t>First define the search space, then the neighborhood. Try to find the minimum using starting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Then try using starting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A31E3F-D832-4462-BD6A-196EABD1F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928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hill-climbing for finding the minimum of a quadratic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search space is the set {−20,−19, ...,−1, 0, 1, 2, ..., 19, 20}.</a:t>
                </a:r>
              </a:p>
              <a:p>
                <a:r>
                  <a:rPr lang="en-US" dirty="0"/>
                  <a:t>The neighborhood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−1,0,1</m:t>
                        </m:r>
                      </m:e>
                    </m:d>
                  </m:oMath>
                </a14:m>
                <a:r>
                  <a:rPr lang="en-US" dirty="0"/>
                  <a:t>,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etc. In general for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the neighborhood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f(0) = 5, f(−1) = 3, f(1) = 9, as we are looking for the minimum, hill climbing will select x = −1</a:t>
                </a:r>
              </a:p>
              <a:p>
                <a:pPr lvl="1"/>
                <a:r>
                  <a:rPr lang="en-US" dirty="0"/>
                  <a:t>f(−1) = 3, f(−2) = 3, f(0) = 5, so the algorithm will stop and give the answer x = −1, with the minimum value f(−1) = 3</a:t>
                </a:r>
              </a:p>
              <a:p>
                <a:r>
                  <a:rPr lang="en-US" dirty="0"/>
                  <a:t>Starting from x = −6, </a:t>
                </a:r>
              </a:p>
              <a:p>
                <a:pPr lvl="1"/>
                <a:r>
                  <a:rPr lang="en-US" dirty="0"/>
                  <a:t>f(−6) = 23, f(−7) = 33, f(−5) = 15, so select x = −5.</a:t>
                </a:r>
              </a:p>
              <a:p>
                <a:pPr lvl="1"/>
                <a:r>
                  <a:rPr lang="en-US" dirty="0"/>
                  <a:t>f(−5) = 15, f(−6) = 23, f(−4) = 9, so x = −4 is selected.</a:t>
                </a:r>
              </a:p>
              <a:p>
                <a:pPr lvl="1"/>
                <a:r>
                  <a:rPr lang="en-US" dirty="0"/>
                  <a:t>f(−4) = 9, f(−5) = 15, f(−3) = 5, so x = −3 is selected.</a:t>
                </a:r>
              </a:p>
              <a:p>
                <a:pPr lvl="1"/>
                <a:r>
                  <a:rPr lang="en-US" dirty="0"/>
                  <a:t>f(−3) = 5, f(−4) = 9, f(−2) = 3, so x = −2 is selected.</a:t>
                </a:r>
              </a:p>
              <a:p>
                <a:pPr lvl="1"/>
                <a:r>
                  <a:rPr lang="en-US" dirty="0"/>
                  <a:t>f(−2) = 3, f(−3) = 5, f(−1) = 3, so x = −2 is returned as solution.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50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05D75-E819-4767-A12F-EA6644C8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567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4" y="423050"/>
            <a:ext cx="2621507" cy="353598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12249"/>
              </p:ext>
            </p:extLst>
          </p:nvPr>
        </p:nvGraphicFramePr>
        <p:xfrm>
          <a:off x="639297" y="707683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8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7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Frontier (Hill Climbing(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(S,9)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(S-B,7)(S-C,10)(S-D,7)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(S-B-E,1)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(S-B-E-F,1) (S-B-E-G,0)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(S-B-E-G,0)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D39E68-3C5B-4D2D-AE6D-396BD181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913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617" y="383028"/>
            <a:ext cx="5795594" cy="2655593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486313"/>
              </p:ext>
            </p:extLst>
          </p:nvPr>
        </p:nvGraphicFramePr>
        <p:xfrm>
          <a:off x="1638103" y="3380545"/>
          <a:ext cx="81280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8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7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Frontier (Hill Climbing(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(S,12)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(S-A,11)(S-D,10)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(S-D-S,12) (S-D-A,11) (S-D-E,7)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(S-D-E-D,10) (S-D-E-B,6) (S-D-E-F,3)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(S-D-E-F-C,3)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D0C25-84FC-4BCF-9AA8-9C9C364E2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123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Hill Climbing in AI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36" y="1321088"/>
            <a:ext cx="7287491" cy="5532437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Maximum</a:t>
            </a: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local maximum is 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state in the landscape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better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each of its neighboring states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there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another state also present which is higher than the local maximum.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Plateau</a:t>
            </a: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plateau is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flat 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search space in which all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 states of the current state contains the same 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because of this algorithm does not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any best direction to move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hill-climbing search might be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plateau area.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</a:t>
            </a: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ridge is 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form of the local maximum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has an area which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than its surrounding areas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itself has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reached in a single move.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285" y="389732"/>
            <a:ext cx="4011757" cy="16077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964" y="2304996"/>
            <a:ext cx="3514725" cy="1790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924" y="4585490"/>
            <a:ext cx="2008478" cy="226803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9199418" y="4915943"/>
            <a:ext cx="484908" cy="803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171709" y="4585490"/>
            <a:ext cx="831273" cy="22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Ridge</a:t>
            </a:r>
          </a:p>
        </p:txBody>
      </p:sp>
    </p:spTree>
    <p:extLst>
      <p:ext uri="{BB962C8B-B14F-4D97-AF65-F5344CB8AC3E}">
        <p14:creationId xmlns:p14="http://schemas.microsoft.com/office/powerpoint/2010/main" val="26745920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83" t="26071" r="11693" b="7143"/>
          <a:stretch/>
        </p:blipFill>
        <p:spPr bwMode="auto">
          <a:xfrm>
            <a:off x="3296478" y="3270992"/>
            <a:ext cx="5599043" cy="3085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State Space Landscape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753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state space landscape is a </a:t>
            </a:r>
            <a:r>
              <a:rPr lang="en-US" dirty="0">
                <a:solidFill>
                  <a:srgbClr val="FF0000"/>
                </a:solidFill>
              </a:rPr>
              <a:t>graph of states </a:t>
            </a:r>
            <a:r>
              <a:rPr lang="en-US" dirty="0"/>
              <a:t>associated with their costs</a:t>
            </a:r>
          </a:p>
          <a:p>
            <a:r>
              <a:rPr lang="en-US" dirty="0"/>
              <a:t>A landscape has both “location” (defined by the state) and “elevation” (defined by the value of the heuristic cost function or objective function).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379199-FC55-41C6-85C8-347475A70AA5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9502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 Climbing</a:t>
            </a:r>
          </a:p>
        </p:txBody>
      </p:sp>
      <p:sp>
        <p:nvSpPr>
          <p:cNvPr id="4" name="Freeform 5"/>
          <p:cNvSpPr>
            <a:spLocks/>
          </p:cNvSpPr>
          <p:nvPr/>
        </p:nvSpPr>
        <p:spPr bwMode="auto">
          <a:xfrm>
            <a:off x="3210339" y="3213652"/>
            <a:ext cx="5548313" cy="2057400"/>
          </a:xfrm>
          <a:custGeom>
            <a:avLst/>
            <a:gdLst/>
            <a:ahLst/>
            <a:cxnLst>
              <a:cxn ang="0">
                <a:pos x="0" y="1056"/>
              </a:cxn>
              <a:cxn ang="0">
                <a:pos x="288" y="1008"/>
              </a:cxn>
              <a:cxn ang="0">
                <a:pos x="432" y="960"/>
              </a:cxn>
              <a:cxn ang="0">
                <a:pos x="584" y="920"/>
              </a:cxn>
              <a:cxn ang="0">
                <a:pos x="920" y="760"/>
              </a:cxn>
              <a:cxn ang="0">
                <a:pos x="1056" y="480"/>
              </a:cxn>
              <a:cxn ang="0">
                <a:pos x="1200" y="192"/>
              </a:cxn>
              <a:cxn ang="0">
                <a:pos x="1440" y="288"/>
              </a:cxn>
              <a:cxn ang="0">
                <a:pos x="1584" y="912"/>
              </a:cxn>
              <a:cxn ang="0">
                <a:pos x="2160" y="0"/>
              </a:cxn>
              <a:cxn ang="0">
                <a:pos x="2400" y="912"/>
              </a:cxn>
              <a:cxn ang="0">
                <a:pos x="2640" y="624"/>
              </a:cxn>
              <a:cxn ang="0">
                <a:pos x="2928" y="912"/>
              </a:cxn>
            </a:cxnLst>
            <a:rect l="0" t="0" r="r" b="b"/>
            <a:pathLst>
              <a:path w="2928" h="1056">
                <a:moveTo>
                  <a:pt x="0" y="1056"/>
                </a:moveTo>
                <a:cubicBezTo>
                  <a:pt x="108" y="1040"/>
                  <a:pt x="216" y="1024"/>
                  <a:pt x="288" y="1008"/>
                </a:cubicBezTo>
                <a:cubicBezTo>
                  <a:pt x="360" y="992"/>
                  <a:pt x="383" y="975"/>
                  <a:pt x="432" y="960"/>
                </a:cubicBezTo>
                <a:cubicBezTo>
                  <a:pt x="481" y="945"/>
                  <a:pt x="503" y="953"/>
                  <a:pt x="584" y="920"/>
                </a:cubicBezTo>
                <a:cubicBezTo>
                  <a:pt x="665" y="887"/>
                  <a:pt x="841" y="833"/>
                  <a:pt x="920" y="760"/>
                </a:cubicBezTo>
                <a:cubicBezTo>
                  <a:pt x="999" y="687"/>
                  <a:pt x="1009" y="575"/>
                  <a:pt x="1056" y="480"/>
                </a:cubicBezTo>
                <a:cubicBezTo>
                  <a:pt x="1103" y="385"/>
                  <a:pt x="1136" y="224"/>
                  <a:pt x="1200" y="192"/>
                </a:cubicBezTo>
                <a:cubicBezTo>
                  <a:pt x="1264" y="160"/>
                  <a:pt x="1376" y="168"/>
                  <a:pt x="1440" y="288"/>
                </a:cubicBezTo>
                <a:cubicBezTo>
                  <a:pt x="1504" y="408"/>
                  <a:pt x="1464" y="960"/>
                  <a:pt x="1584" y="912"/>
                </a:cubicBezTo>
                <a:cubicBezTo>
                  <a:pt x="1704" y="864"/>
                  <a:pt x="2024" y="0"/>
                  <a:pt x="2160" y="0"/>
                </a:cubicBezTo>
                <a:cubicBezTo>
                  <a:pt x="2296" y="0"/>
                  <a:pt x="2320" y="808"/>
                  <a:pt x="2400" y="912"/>
                </a:cubicBezTo>
                <a:cubicBezTo>
                  <a:pt x="2480" y="1016"/>
                  <a:pt x="2552" y="624"/>
                  <a:pt x="2640" y="624"/>
                </a:cubicBezTo>
                <a:cubicBezTo>
                  <a:pt x="2728" y="624"/>
                  <a:pt x="2828" y="768"/>
                  <a:pt x="2928" y="912"/>
                </a:cubicBezTo>
              </a:path>
            </a:pathLst>
          </a:custGeom>
          <a:noFill/>
          <a:ln w="317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en-US"/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2219739" y="3366052"/>
            <a:ext cx="7896225" cy="2027238"/>
            <a:chOff x="679" y="2083"/>
            <a:chExt cx="5388" cy="1277"/>
          </a:xfrm>
        </p:grpSpPr>
        <p:sp>
          <p:nvSpPr>
            <p:cNvPr id="6" name="Line 7"/>
            <p:cNvSpPr>
              <a:spLocks noChangeShapeType="1"/>
            </p:cNvSpPr>
            <p:nvPr/>
          </p:nvSpPr>
          <p:spPr bwMode="auto">
            <a:xfrm>
              <a:off x="1312" y="230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med" len="med"/>
              <a:tailEnd/>
            </a:ln>
            <a:effectLst/>
          </p:spPr>
          <p:txBody>
            <a:bodyPr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" name="Freeform 8"/>
            <p:cNvSpPr>
              <a:spLocks/>
            </p:cNvSpPr>
            <p:nvPr/>
          </p:nvSpPr>
          <p:spPr bwMode="auto">
            <a:xfrm>
              <a:off x="1321" y="3313"/>
              <a:ext cx="3839" cy="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3544" y="0"/>
                </a:cxn>
              </a:cxnLst>
              <a:rect l="0" t="0" r="r" b="b"/>
              <a:pathLst>
                <a:path w="3544" h="7">
                  <a:moveTo>
                    <a:pt x="0" y="7"/>
                  </a:moveTo>
                  <a:lnTo>
                    <a:pt x="3544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5548" y="3139"/>
              <a:ext cx="51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he-IL" sz="2000" i="1">
                  <a:latin typeface="Times New Roman" pitchFamily="18" charset="0"/>
                </a:rPr>
                <a:t>states</a:t>
              </a:r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679" y="2083"/>
              <a:ext cx="85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he-IL" sz="2000" i="1">
                  <a:latin typeface="Times New Roman" pitchFamily="18" charset="0"/>
                </a:rPr>
                <a:t>evaluation</a:t>
              </a:r>
              <a:endParaRPr lang="es-MX" altLang="he-IL" sz="2000">
                <a:latin typeface="Times New Roman" pitchFamily="18" charset="0"/>
              </a:endParaRP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1832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>
              <a:off x="2040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13"/>
            <p:cNvSpPr>
              <a:spLocks noChangeShapeType="1"/>
            </p:cNvSpPr>
            <p:nvPr/>
          </p:nvSpPr>
          <p:spPr bwMode="auto">
            <a:xfrm>
              <a:off x="2404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>
              <a:off x="2612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2768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1676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2924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124739" y="4813852"/>
            <a:ext cx="152400" cy="2286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4321589" y="48138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4461289" y="47376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4602577" y="46614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4740689" y="4551915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4893089" y="441380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Oval 25"/>
          <p:cNvSpPr>
            <a:spLocks noChangeArrowheads="1"/>
          </p:cNvSpPr>
          <p:nvPr/>
        </p:nvSpPr>
        <p:spPr bwMode="auto">
          <a:xfrm>
            <a:off x="4969289" y="42804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Oval 26"/>
          <p:cNvSpPr>
            <a:spLocks noChangeArrowheads="1"/>
          </p:cNvSpPr>
          <p:nvPr/>
        </p:nvSpPr>
        <p:spPr bwMode="auto">
          <a:xfrm>
            <a:off x="5039139" y="4128052"/>
            <a:ext cx="71438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Oval 27"/>
          <p:cNvSpPr>
            <a:spLocks noChangeArrowheads="1"/>
          </p:cNvSpPr>
          <p:nvPr/>
        </p:nvSpPr>
        <p:spPr bwMode="auto">
          <a:xfrm>
            <a:off x="5121689" y="38994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Oval 28"/>
          <p:cNvSpPr>
            <a:spLocks noChangeArrowheads="1"/>
          </p:cNvSpPr>
          <p:nvPr/>
        </p:nvSpPr>
        <p:spPr bwMode="auto">
          <a:xfrm>
            <a:off x="5191539" y="36708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Oval 29"/>
          <p:cNvSpPr>
            <a:spLocks noChangeArrowheads="1"/>
          </p:cNvSpPr>
          <p:nvPr/>
        </p:nvSpPr>
        <p:spPr bwMode="auto">
          <a:xfrm>
            <a:off x="5343939" y="34422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Oval 30"/>
          <p:cNvSpPr>
            <a:spLocks noChangeArrowheads="1"/>
          </p:cNvSpPr>
          <p:nvPr/>
        </p:nvSpPr>
        <p:spPr bwMode="auto">
          <a:xfrm>
            <a:off x="5496339" y="3213652"/>
            <a:ext cx="228600" cy="228600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1717EE-C5EE-468B-8204-4DB8D3BC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7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Hill-Climbing – Two Versions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Greedy Local Search</a:t>
            </a:r>
          </a:p>
          <a:p>
            <a:pPr lvl="1"/>
            <a:r>
              <a:rPr lang="en-US" dirty="0"/>
              <a:t>Systematically search the </a:t>
            </a:r>
            <a:r>
              <a:rPr lang="en-US" dirty="0" err="1"/>
              <a:t>Neighbourhood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Accept the {first or best} cost decreasing move found.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b="1" dirty="0"/>
              <a:t>Stochastic Local Search</a:t>
            </a:r>
          </a:p>
          <a:p>
            <a:pPr lvl="1"/>
            <a:r>
              <a:rPr lang="en-US" dirty="0"/>
              <a:t>Choose randomly from amongst the cost-decreasing moves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035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Hill-Climbing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Greedy Local Search: grabs a good </a:t>
            </a:r>
            <a:r>
              <a:rPr lang="en-US" dirty="0" err="1"/>
              <a:t>neighbour</a:t>
            </a:r>
            <a:r>
              <a:rPr lang="en-US" dirty="0"/>
              <a:t> state without thinking about where to go next</a:t>
            </a:r>
          </a:p>
          <a:p>
            <a:pPr lvl="1"/>
            <a:r>
              <a:rPr lang="en-US" dirty="0"/>
              <a:t>However, greedy </a:t>
            </a:r>
            <a:r>
              <a:rPr lang="en-US" dirty="0" err="1"/>
              <a:t>algos</a:t>
            </a:r>
            <a:r>
              <a:rPr lang="en-US" dirty="0"/>
              <a:t> do make good progress generally towards the solution</a:t>
            </a:r>
          </a:p>
          <a:p>
            <a:endParaRPr lang="en-US" dirty="0"/>
          </a:p>
          <a:p>
            <a:r>
              <a:rPr lang="en-US" dirty="0"/>
              <a:t>Unfortunately, hill-climbing</a:t>
            </a:r>
          </a:p>
          <a:p>
            <a:pPr lvl="1"/>
            <a:r>
              <a:rPr lang="en-US" dirty="0"/>
              <a:t>Can get stuck in</a:t>
            </a:r>
            <a:r>
              <a:rPr lang="en-US" b="1" dirty="0"/>
              <a:t> local maxima</a:t>
            </a:r>
          </a:p>
          <a:p>
            <a:pPr lvl="1"/>
            <a:r>
              <a:rPr lang="en-US" dirty="0"/>
              <a:t>Can be </a:t>
            </a:r>
            <a:r>
              <a:rPr lang="en-US" dirty="0">
                <a:solidFill>
                  <a:srgbClr val="7030A0"/>
                </a:solidFill>
              </a:rPr>
              <a:t>stuck by </a:t>
            </a:r>
            <a:r>
              <a:rPr lang="en-US" b="1" dirty="0">
                <a:solidFill>
                  <a:srgbClr val="7030A0"/>
                </a:solidFill>
              </a:rPr>
              <a:t>ridges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(a series of local maxima that occur close together)</a:t>
            </a:r>
          </a:p>
          <a:p>
            <a:pPr lvl="1"/>
            <a:r>
              <a:rPr lang="en-US" dirty="0"/>
              <a:t>Can be </a:t>
            </a:r>
            <a:r>
              <a:rPr lang="en-US" dirty="0">
                <a:solidFill>
                  <a:srgbClr val="7030A0"/>
                </a:solidFill>
              </a:rPr>
              <a:t>stuck by </a:t>
            </a:r>
            <a:r>
              <a:rPr lang="en-US" b="1" dirty="0">
                <a:solidFill>
                  <a:srgbClr val="7030A0"/>
                </a:solidFill>
              </a:rPr>
              <a:t>plateau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(a flat area in the state space landscape)</a:t>
            </a:r>
          </a:p>
          <a:p>
            <a:pPr lvl="2"/>
            <a:r>
              <a:rPr lang="en-US" dirty="0"/>
              <a:t>Shoulder: if the flat area rises uphill later on</a:t>
            </a:r>
          </a:p>
          <a:p>
            <a:pPr lvl="2"/>
            <a:r>
              <a:rPr lang="en-US" dirty="0"/>
              <a:t>Flat local maximum: no uphill rise exists.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EE51F-2997-45EE-B822-C9F5B5AC74B4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6" name="Picture 4" descr="The image “http://ibs.derby.ac.uk/~steve/cogsci/images/foothill_and_plateau.png” cannot be displayed, because it contains errors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67940" y="3349604"/>
            <a:ext cx="3720547" cy="965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539492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Example of a local "maximum"</a:t>
            </a:r>
          </a:p>
        </p:txBody>
      </p:sp>
      <p:grpSp>
        <p:nvGrpSpPr>
          <p:cNvPr id="15365" name="Group 3"/>
          <p:cNvGrpSpPr>
            <a:grpSpLocks/>
          </p:cNvGrpSpPr>
          <p:nvPr/>
        </p:nvGrpSpPr>
        <p:grpSpPr bwMode="auto">
          <a:xfrm>
            <a:off x="8883651" y="3343275"/>
            <a:ext cx="1209675" cy="1352550"/>
            <a:chOff x="3519" y="1880"/>
            <a:chExt cx="762" cy="852"/>
          </a:xfrm>
        </p:grpSpPr>
        <p:grpSp>
          <p:nvGrpSpPr>
            <p:cNvPr id="15500" name="Group 4"/>
            <p:cNvGrpSpPr>
              <a:grpSpLocks/>
            </p:cNvGrpSpPr>
            <p:nvPr/>
          </p:nvGrpSpPr>
          <p:grpSpPr bwMode="auto">
            <a:xfrm>
              <a:off x="3529" y="1880"/>
              <a:ext cx="752" cy="330"/>
              <a:chOff x="1282" y="2126"/>
              <a:chExt cx="752" cy="330"/>
            </a:xfrm>
          </p:grpSpPr>
          <p:grpSp>
            <p:nvGrpSpPr>
              <p:cNvPr id="15521" name="Group 5"/>
              <p:cNvGrpSpPr>
                <a:grpSpLocks/>
              </p:cNvGrpSpPr>
              <p:nvPr/>
            </p:nvGrpSpPr>
            <p:grpSpPr bwMode="auto">
              <a:xfrm>
                <a:off x="1282" y="2126"/>
                <a:ext cx="246" cy="330"/>
                <a:chOff x="1287" y="1865"/>
                <a:chExt cx="246" cy="330"/>
              </a:xfrm>
            </p:grpSpPr>
            <p:sp>
              <p:nvSpPr>
                <p:cNvPr id="15528" name="Rectangle 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2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7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</a:t>
                  </a:r>
                </a:p>
              </p:txBody>
            </p:sp>
          </p:grpSp>
          <p:grpSp>
            <p:nvGrpSpPr>
              <p:cNvPr id="15522" name="Group 8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5526" name="Rectangle 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27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1</a:t>
                  </a:r>
                </a:p>
              </p:txBody>
            </p:sp>
          </p:grpSp>
          <p:grpSp>
            <p:nvGrpSpPr>
              <p:cNvPr id="15523" name="Group 11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524" name="Rectangle 1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25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2</a:t>
                  </a:r>
                </a:p>
              </p:txBody>
            </p:sp>
          </p:grpSp>
        </p:grpSp>
        <p:grpSp>
          <p:nvGrpSpPr>
            <p:cNvPr id="15501" name="Group 14"/>
            <p:cNvGrpSpPr>
              <a:grpSpLocks/>
            </p:cNvGrpSpPr>
            <p:nvPr/>
          </p:nvGrpSpPr>
          <p:grpSpPr bwMode="auto">
            <a:xfrm>
              <a:off x="3524" y="2141"/>
              <a:ext cx="752" cy="330"/>
              <a:chOff x="1282" y="2126"/>
              <a:chExt cx="752" cy="330"/>
            </a:xfrm>
          </p:grpSpPr>
          <p:grpSp>
            <p:nvGrpSpPr>
              <p:cNvPr id="15512" name="Group 15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519" name="Rectangle 1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20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3</a:t>
                  </a:r>
                </a:p>
              </p:txBody>
            </p:sp>
          </p:grpSp>
          <p:grpSp>
            <p:nvGrpSpPr>
              <p:cNvPr id="15513" name="Group 18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5517" name="Rectangle 1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18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5514" name="Group 21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515" name="Rectangle 2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16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</p:grpSp>
        <p:grpSp>
          <p:nvGrpSpPr>
            <p:cNvPr id="15502" name="Group 24"/>
            <p:cNvGrpSpPr>
              <a:grpSpLocks/>
            </p:cNvGrpSpPr>
            <p:nvPr/>
          </p:nvGrpSpPr>
          <p:grpSpPr bwMode="auto">
            <a:xfrm>
              <a:off x="3519" y="2402"/>
              <a:ext cx="752" cy="330"/>
              <a:chOff x="1282" y="2126"/>
              <a:chExt cx="752" cy="330"/>
            </a:xfrm>
          </p:grpSpPr>
          <p:grpSp>
            <p:nvGrpSpPr>
              <p:cNvPr id="15503" name="Group 25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510" name="Rectangle 2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11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6</a:t>
                  </a:r>
                </a:p>
              </p:txBody>
            </p:sp>
          </p:grpSp>
          <p:grpSp>
            <p:nvGrpSpPr>
              <p:cNvPr id="15504" name="Group 28"/>
              <p:cNvGrpSpPr>
                <a:grpSpLocks/>
              </p:cNvGrpSpPr>
              <p:nvPr/>
            </p:nvGrpSpPr>
            <p:grpSpPr bwMode="auto">
              <a:xfrm>
                <a:off x="1528" y="2126"/>
                <a:ext cx="315" cy="330"/>
                <a:chOff x="1287" y="1865"/>
                <a:chExt cx="315" cy="330"/>
              </a:xfrm>
            </p:grpSpPr>
            <p:sp>
              <p:nvSpPr>
                <p:cNvPr id="15508" name="Rectangle 2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09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7 </a:t>
                  </a:r>
                </a:p>
              </p:txBody>
            </p:sp>
          </p:grpSp>
          <p:grpSp>
            <p:nvGrpSpPr>
              <p:cNvPr id="15505" name="Group 31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506" name="Rectangle 3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0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</p:grpSp>
      </p:grpSp>
      <p:sp>
        <p:nvSpPr>
          <p:cNvPr id="15366" name="Line 158"/>
          <p:cNvSpPr>
            <a:spLocks noChangeShapeType="1"/>
          </p:cNvSpPr>
          <p:nvPr/>
        </p:nvSpPr>
        <p:spPr bwMode="auto">
          <a:xfrm>
            <a:off x="3579814" y="3952875"/>
            <a:ext cx="1309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Line 159"/>
          <p:cNvSpPr>
            <a:spLocks noChangeShapeType="1"/>
          </p:cNvSpPr>
          <p:nvPr/>
        </p:nvSpPr>
        <p:spPr bwMode="auto">
          <a:xfrm flipV="1">
            <a:off x="3579814" y="2657475"/>
            <a:ext cx="1189037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Line 160"/>
          <p:cNvSpPr>
            <a:spLocks noChangeShapeType="1"/>
          </p:cNvSpPr>
          <p:nvPr/>
        </p:nvSpPr>
        <p:spPr bwMode="auto">
          <a:xfrm>
            <a:off x="3579814" y="3952875"/>
            <a:ext cx="1309687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Text Box 161"/>
          <p:cNvSpPr txBox="1">
            <a:spLocks noChangeArrowheads="1"/>
          </p:cNvSpPr>
          <p:nvPr/>
        </p:nvSpPr>
        <p:spPr bwMode="auto">
          <a:xfrm>
            <a:off x="2706688" y="461168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370" name="Text Box 162"/>
          <p:cNvSpPr txBox="1">
            <a:spLocks noChangeArrowheads="1"/>
          </p:cNvSpPr>
          <p:nvPr/>
        </p:nvSpPr>
        <p:spPr bwMode="auto">
          <a:xfrm>
            <a:off x="6216650" y="204787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371" name="Text Box 163"/>
          <p:cNvSpPr txBox="1">
            <a:spLocks noChangeArrowheads="1"/>
          </p:cNvSpPr>
          <p:nvPr/>
        </p:nvSpPr>
        <p:spPr bwMode="auto">
          <a:xfrm>
            <a:off x="6216650" y="37211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372" name="Text Box 164"/>
          <p:cNvSpPr txBox="1">
            <a:spLocks noChangeArrowheads="1"/>
          </p:cNvSpPr>
          <p:nvPr/>
        </p:nvSpPr>
        <p:spPr bwMode="auto">
          <a:xfrm>
            <a:off x="6216650" y="51625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373" name="Text Box 165"/>
          <p:cNvSpPr txBox="1">
            <a:spLocks noChangeArrowheads="1"/>
          </p:cNvSpPr>
          <p:nvPr/>
        </p:nvSpPr>
        <p:spPr bwMode="auto">
          <a:xfrm>
            <a:off x="10102850" y="37401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5374" name="Text Box 166"/>
          <p:cNvSpPr txBox="1">
            <a:spLocks noChangeArrowheads="1"/>
          </p:cNvSpPr>
          <p:nvPr/>
        </p:nvSpPr>
        <p:spPr bwMode="auto">
          <a:xfrm>
            <a:off x="2498726" y="2700338"/>
            <a:ext cx="6345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chemeClr val="accent2"/>
                </a:solidFill>
              </a:rPr>
              <a:t>start</a:t>
            </a:r>
          </a:p>
        </p:txBody>
      </p:sp>
      <p:sp>
        <p:nvSpPr>
          <p:cNvPr id="15375" name="Text Box 167"/>
          <p:cNvSpPr txBox="1">
            <a:spLocks noChangeArrowheads="1"/>
          </p:cNvSpPr>
          <p:nvPr/>
        </p:nvSpPr>
        <p:spPr bwMode="auto">
          <a:xfrm>
            <a:off x="9229725" y="2700338"/>
            <a:ext cx="6062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chemeClr val="accent2"/>
                </a:solidFill>
              </a:rPr>
              <a:t>goal</a:t>
            </a:r>
          </a:p>
        </p:txBody>
      </p:sp>
      <p:grpSp>
        <p:nvGrpSpPr>
          <p:cNvPr id="15376" name="Group 201"/>
          <p:cNvGrpSpPr>
            <a:grpSpLocks/>
          </p:cNvGrpSpPr>
          <p:nvPr/>
        </p:nvGrpSpPr>
        <p:grpSpPr bwMode="auto">
          <a:xfrm>
            <a:off x="2330451" y="3343275"/>
            <a:ext cx="1209675" cy="1352550"/>
            <a:chOff x="3519" y="1880"/>
            <a:chExt cx="762" cy="852"/>
          </a:xfrm>
        </p:grpSpPr>
        <p:grpSp>
          <p:nvGrpSpPr>
            <p:cNvPr id="15470" name="Group 202"/>
            <p:cNvGrpSpPr>
              <a:grpSpLocks/>
            </p:cNvGrpSpPr>
            <p:nvPr/>
          </p:nvGrpSpPr>
          <p:grpSpPr bwMode="auto">
            <a:xfrm>
              <a:off x="3529" y="1880"/>
              <a:ext cx="752" cy="330"/>
              <a:chOff x="1282" y="2126"/>
              <a:chExt cx="752" cy="330"/>
            </a:xfrm>
          </p:grpSpPr>
          <p:grpSp>
            <p:nvGrpSpPr>
              <p:cNvPr id="15491" name="Group 203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98" name="Rectangle 204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99" name="Text Box 205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5492" name="Group 206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5496" name="Rectangle 20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97" name="Text Box 20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1</a:t>
                  </a:r>
                </a:p>
              </p:txBody>
            </p:sp>
          </p:grpSp>
          <p:grpSp>
            <p:nvGrpSpPr>
              <p:cNvPr id="15493" name="Group 209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94" name="Rectangle 21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95" name="Text Box 21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 dirty="0"/>
                    <a:t>2</a:t>
                  </a:r>
                </a:p>
              </p:txBody>
            </p:sp>
          </p:grpSp>
        </p:grpSp>
        <p:grpSp>
          <p:nvGrpSpPr>
            <p:cNvPr id="15471" name="Group 212"/>
            <p:cNvGrpSpPr>
              <a:grpSpLocks/>
            </p:cNvGrpSpPr>
            <p:nvPr/>
          </p:nvGrpSpPr>
          <p:grpSpPr bwMode="auto">
            <a:xfrm>
              <a:off x="3524" y="2141"/>
              <a:ext cx="752" cy="330"/>
              <a:chOff x="1282" y="2126"/>
              <a:chExt cx="752" cy="330"/>
            </a:xfrm>
          </p:grpSpPr>
          <p:grpSp>
            <p:nvGrpSpPr>
              <p:cNvPr id="15482" name="Group 213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89" name="Rectangle 214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90" name="Text Box 215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3</a:t>
                  </a:r>
                </a:p>
              </p:txBody>
            </p:sp>
          </p:grpSp>
          <p:grpSp>
            <p:nvGrpSpPr>
              <p:cNvPr id="15483" name="Group 216"/>
              <p:cNvGrpSpPr>
                <a:grpSpLocks/>
              </p:cNvGrpSpPr>
              <p:nvPr/>
            </p:nvGrpSpPr>
            <p:grpSpPr bwMode="auto">
              <a:xfrm>
                <a:off x="1528" y="2126"/>
                <a:ext cx="246" cy="330"/>
                <a:chOff x="1287" y="1865"/>
                <a:chExt cx="246" cy="330"/>
              </a:xfrm>
            </p:grpSpPr>
            <p:sp>
              <p:nvSpPr>
                <p:cNvPr id="15487" name="Rectangle 21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88" name="Text Box 21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7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</a:t>
                  </a:r>
                </a:p>
              </p:txBody>
            </p:sp>
          </p:grpSp>
          <p:grpSp>
            <p:nvGrpSpPr>
              <p:cNvPr id="15484" name="Group 219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85" name="Rectangle 22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86" name="Text Box 22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</p:grpSp>
        <p:grpSp>
          <p:nvGrpSpPr>
            <p:cNvPr id="15472" name="Group 222"/>
            <p:cNvGrpSpPr>
              <a:grpSpLocks/>
            </p:cNvGrpSpPr>
            <p:nvPr/>
          </p:nvGrpSpPr>
          <p:grpSpPr bwMode="auto">
            <a:xfrm>
              <a:off x="3519" y="2402"/>
              <a:ext cx="752" cy="330"/>
              <a:chOff x="1282" y="2126"/>
              <a:chExt cx="752" cy="330"/>
            </a:xfrm>
          </p:grpSpPr>
          <p:grpSp>
            <p:nvGrpSpPr>
              <p:cNvPr id="15473" name="Group 223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80" name="Rectangle 224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81" name="Text Box 225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6</a:t>
                  </a:r>
                </a:p>
              </p:txBody>
            </p:sp>
          </p:grpSp>
          <p:grpSp>
            <p:nvGrpSpPr>
              <p:cNvPr id="15474" name="Group 226"/>
              <p:cNvGrpSpPr>
                <a:grpSpLocks/>
              </p:cNvGrpSpPr>
              <p:nvPr/>
            </p:nvGrpSpPr>
            <p:grpSpPr bwMode="auto">
              <a:xfrm>
                <a:off x="1528" y="2126"/>
                <a:ext cx="315" cy="330"/>
                <a:chOff x="1287" y="1865"/>
                <a:chExt cx="315" cy="330"/>
              </a:xfrm>
            </p:grpSpPr>
            <p:sp>
              <p:nvSpPr>
                <p:cNvPr id="15478" name="Rectangle 22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79" name="Text Box 22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7 </a:t>
                  </a:r>
                </a:p>
              </p:txBody>
            </p:sp>
          </p:grpSp>
          <p:grpSp>
            <p:nvGrpSpPr>
              <p:cNvPr id="15475" name="Group 229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76" name="Rectangle 23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77" name="Text Box 23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</p:grpSp>
      </p:grpSp>
      <p:grpSp>
        <p:nvGrpSpPr>
          <p:cNvPr id="15377" name="Group 232"/>
          <p:cNvGrpSpPr>
            <a:grpSpLocks/>
          </p:cNvGrpSpPr>
          <p:nvPr/>
        </p:nvGrpSpPr>
        <p:grpSpPr bwMode="auto">
          <a:xfrm>
            <a:off x="5029201" y="4791075"/>
            <a:ext cx="1209675" cy="1352550"/>
            <a:chOff x="3519" y="1880"/>
            <a:chExt cx="762" cy="852"/>
          </a:xfrm>
        </p:grpSpPr>
        <p:grpSp>
          <p:nvGrpSpPr>
            <p:cNvPr id="15440" name="Group 233"/>
            <p:cNvGrpSpPr>
              <a:grpSpLocks/>
            </p:cNvGrpSpPr>
            <p:nvPr/>
          </p:nvGrpSpPr>
          <p:grpSpPr bwMode="auto">
            <a:xfrm>
              <a:off x="3529" y="1880"/>
              <a:ext cx="752" cy="330"/>
              <a:chOff x="1282" y="2126"/>
              <a:chExt cx="752" cy="330"/>
            </a:xfrm>
          </p:grpSpPr>
          <p:grpSp>
            <p:nvGrpSpPr>
              <p:cNvPr id="15461" name="Group 234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68" name="Rectangle 235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69" name="Text Box 236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5462" name="Group 237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5466" name="Rectangle 238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67" name="Text Box 239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1</a:t>
                  </a:r>
                </a:p>
              </p:txBody>
            </p:sp>
          </p:grpSp>
          <p:grpSp>
            <p:nvGrpSpPr>
              <p:cNvPr id="15463" name="Group 240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64" name="Rectangle 241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65" name="Text Box 242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2</a:t>
                  </a:r>
                </a:p>
              </p:txBody>
            </p:sp>
          </p:grpSp>
        </p:grpSp>
        <p:grpSp>
          <p:nvGrpSpPr>
            <p:cNvPr id="15441" name="Group 243"/>
            <p:cNvGrpSpPr>
              <a:grpSpLocks/>
            </p:cNvGrpSpPr>
            <p:nvPr/>
          </p:nvGrpSpPr>
          <p:grpSpPr bwMode="auto">
            <a:xfrm>
              <a:off x="3524" y="2141"/>
              <a:ext cx="738" cy="330"/>
              <a:chOff x="1282" y="2126"/>
              <a:chExt cx="738" cy="330"/>
            </a:xfrm>
          </p:grpSpPr>
          <p:grpSp>
            <p:nvGrpSpPr>
              <p:cNvPr id="15452" name="Group 244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59" name="Rectangle 245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60" name="Text Box 246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3</a:t>
                  </a:r>
                </a:p>
              </p:txBody>
            </p:sp>
          </p:grpSp>
          <p:grpSp>
            <p:nvGrpSpPr>
              <p:cNvPr id="15453" name="Group 247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5457" name="Rectangle 248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58" name="Text Box 249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  <p:grpSp>
            <p:nvGrpSpPr>
              <p:cNvPr id="15454" name="Group 250"/>
              <p:cNvGrpSpPr>
                <a:grpSpLocks/>
              </p:cNvGrpSpPr>
              <p:nvPr/>
            </p:nvGrpSpPr>
            <p:grpSpPr bwMode="auto">
              <a:xfrm>
                <a:off x="1774" y="2126"/>
                <a:ext cx="246" cy="330"/>
                <a:chOff x="1287" y="1865"/>
                <a:chExt cx="246" cy="330"/>
              </a:xfrm>
            </p:grpSpPr>
            <p:sp>
              <p:nvSpPr>
                <p:cNvPr id="15455" name="Rectangle 251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56" name="Text Box 252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7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</a:t>
                  </a:r>
                </a:p>
              </p:txBody>
            </p:sp>
          </p:grpSp>
        </p:grpSp>
        <p:grpSp>
          <p:nvGrpSpPr>
            <p:cNvPr id="15442" name="Group 253"/>
            <p:cNvGrpSpPr>
              <a:grpSpLocks/>
            </p:cNvGrpSpPr>
            <p:nvPr/>
          </p:nvGrpSpPr>
          <p:grpSpPr bwMode="auto">
            <a:xfrm>
              <a:off x="3519" y="2402"/>
              <a:ext cx="752" cy="330"/>
              <a:chOff x="1282" y="2126"/>
              <a:chExt cx="752" cy="330"/>
            </a:xfrm>
          </p:grpSpPr>
          <p:grpSp>
            <p:nvGrpSpPr>
              <p:cNvPr id="15443" name="Group 254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50" name="Rectangle 255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51" name="Text Box 256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6</a:t>
                  </a:r>
                </a:p>
              </p:txBody>
            </p:sp>
          </p:grpSp>
          <p:grpSp>
            <p:nvGrpSpPr>
              <p:cNvPr id="15444" name="Group 257"/>
              <p:cNvGrpSpPr>
                <a:grpSpLocks/>
              </p:cNvGrpSpPr>
              <p:nvPr/>
            </p:nvGrpSpPr>
            <p:grpSpPr bwMode="auto">
              <a:xfrm>
                <a:off x="1528" y="2126"/>
                <a:ext cx="315" cy="330"/>
                <a:chOff x="1287" y="1865"/>
                <a:chExt cx="315" cy="330"/>
              </a:xfrm>
            </p:grpSpPr>
            <p:sp>
              <p:nvSpPr>
                <p:cNvPr id="15448" name="Rectangle 258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49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7 </a:t>
                  </a:r>
                </a:p>
              </p:txBody>
            </p:sp>
          </p:grpSp>
          <p:grpSp>
            <p:nvGrpSpPr>
              <p:cNvPr id="15445" name="Group 260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46" name="Rectangle 261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47" name="Text Box 262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</p:grpSp>
      </p:grpSp>
      <p:grpSp>
        <p:nvGrpSpPr>
          <p:cNvPr id="15378" name="Group 263"/>
          <p:cNvGrpSpPr>
            <a:grpSpLocks/>
          </p:cNvGrpSpPr>
          <p:nvPr/>
        </p:nvGrpSpPr>
        <p:grpSpPr bwMode="auto">
          <a:xfrm>
            <a:off x="5029201" y="3343275"/>
            <a:ext cx="1209675" cy="1352550"/>
            <a:chOff x="3519" y="1880"/>
            <a:chExt cx="762" cy="852"/>
          </a:xfrm>
        </p:grpSpPr>
        <p:grpSp>
          <p:nvGrpSpPr>
            <p:cNvPr id="15410" name="Group 264"/>
            <p:cNvGrpSpPr>
              <a:grpSpLocks/>
            </p:cNvGrpSpPr>
            <p:nvPr/>
          </p:nvGrpSpPr>
          <p:grpSpPr bwMode="auto">
            <a:xfrm>
              <a:off x="3529" y="1880"/>
              <a:ext cx="752" cy="330"/>
              <a:chOff x="1282" y="2126"/>
              <a:chExt cx="752" cy="330"/>
            </a:xfrm>
          </p:grpSpPr>
          <p:grpSp>
            <p:nvGrpSpPr>
              <p:cNvPr id="15431" name="Group 265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38" name="Rectangle 26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39" name="Text Box 26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5432" name="Group 268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5436" name="Rectangle 26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37" name="Text Box 27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1</a:t>
                  </a:r>
                </a:p>
              </p:txBody>
            </p:sp>
          </p:grpSp>
          <p:grpSp>
            <p:nvGrpSpPr>
              <p:cNvPr id="15433" name="Group 271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34" name="Rectangle 27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35" name="Text Box 27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2</a:t>
                  </a:r>
                </a:p>
              </p:txBody>
            </p:sp>
          </p:grpSp>
        </p:grpSp>
        <p:grpSp>
          <p:nvGrpSpPr>
            <p:cNvPr id="15411" name="Group 274"/>
            <p:cNvGrpSpPr>
              <a:grpSpLocks/>
            </p:cNvGrpSpPr>
            <p:nvPr/>
          </p:nvGrpSpPr>
          <p:grpSpPr bwMode="auto">
            <a:xfrm>
              <a:off x="3524" y="2141"/>
              <a:ext cx="752" cy="330"/>
              <a:chOff x="1282" y="2126"/>
              <a:chExt cx="752" cy="330"/>
            </a:xfrm>
          </p:grpSpPr>
          <p:grpSp>
            <p:nvGrpSpPr>
              <p:cNvPr id="15422" name="Group 275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29" name="Rectangle 27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30" name="Text Box 27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3</a:t>
                  </a:r>
                </a:p>
              </p:txBody>
            </p:sp>
          </p:grpSp>
          <p:grpSp>
            <p:nvGrpSpPr>
              <p:cNvPr id="15423" name="Group 278"/>
              <p:cNvGrpSpPr>
                <a:grpSpLocks/>
              </p:cNvGrpSpPr>
              <p:nvPr/>
            </p:nvGrpSpPr>
            <p:grpSpPr bwMode="auto">
              <a:xfrm>
                <a:off x="1528" y="2126"/>
                <a:ext cx="315" cy="330"/>
                <a:chOff x="1287" y="1865"/>
                <a:chExt cx="315" cy="330"/>
              </a:xfrm>
            </p:grpSpPr>
            <p:sp>
              <p:nvSpPr>
                <p:cNvPr id="15427" name="Rectangle 27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28" name="Text Box 28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7 </a:t>
                  </a:r>
                </a:p>
              </p:txBody>
            </p:sp>
          </p:grpSp>
          <p:grpSp>
            <p:nvGrpSpPr>
              <p:cNvPr id="15424" name="Group 281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25" name="Rectangle 28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26" name="Text Box 28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</p:grpSp>
        <p:grpSp>
          <p:nvGrpSpPr>
            <p:cNvPr id="15412" name="Group 284"/>
            <p:cNvGrpSpPr>
              <a:grpSpLocks/>
            </p:cNvGrpSpPr>
            <p:nvPr/>
          </p:nvGrpSpPr>
          <p:grpSpPr bwMode="auto">
            <a:xfrm>
              <a:off x="3519" y="2402"/>
              <a:ext cx="752" cy="330"/>
              <a:chOff x="1282" y="2126"/>
              <a:chExt cx="752" cy="330"/>
            </a:xfrm>
          </p:grpSpPr>
          <p:grpSp>
            <p:nvGrpSpPr>
              <p:cNvPr id="15413" name="Group 285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20" name="Rectangle 28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21" name="Text Box 28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6</a:t>
                  </a:r>
                </a:p>
              </p:txBody>
            </p:sp>
          </p:grpSp>
          <p:grpSp>
            <p:nvGrpSpPr>
              <p:cNvPr id="15414" name="Group 288"/>
              <p:cNvGrpSpPr>
                <a:grpSpLocks/>
              </p:cNvGrpSpPr>
              <p:nvPr/>
            </p:nvGrpSpPr>
            <p:grpSpPr bwMode="auto">
              <a:xfrm>
                <a:off x="1528" y="2126"/>
                <a:ext cx="248" cy="330"/>
                <a:chOff x="1287" y="1865"/>
                <a:chExt cx="248" cy="330"/>
              </a:xfrm>
            </p:grpSpPr>
            <p:sp>
              <p:nvSpPr>
                <p:cNvPr id="15418" name="Rectangle 28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19" name="Text Box 29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1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 </a:t>
                  </a:r>
                </a:p>
              </p:txBody>
            </p:sp>
          </p:grpSp>
          <p:grpSp>
            <p:nvGrpSpPr>
              <p:cNvPr id="15415" name="Group 291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16" name="Rectangle 29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17" name="Text Box 29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</p:grpSp>
      </p:grpSp>
      <p:grpSp>
        <p:nvGrpSpPr>
          <p:cNvPr id="15379" name="Group 294"/>
          <p:cNvGrpSpPr>
            <a:grpSpLocks/>
          </p:cNvGrpSpPr>
          <p:nvPr/>
        </p:nvGrpSpPr>
        <p:grpSpPr bwMode="auto">
          <a:xfrm>
            <a:off x="4921251" y="1828800"/>
            <a:ext cx="1209675" cy="1352550"/>
            <a:chOff x="3519" y="1880"/>
            <a:chExt cx="762" cy="852"/>
          </a:xfrm>
        </p:grpSpPr>
        <p:grpSp>
          <p:nvGrpSpPr>
            <p:cNvPr id="15380" name="Group 295"/>
            <p:cNvGrpSpPr>
              <a:grpSpLocks/>
            </p:cNvGrpSpPr>
            <p:nvPr/>
          </p:nvGrpSpPr>
          <p:grpSpPr bwMode="auto">
            <a:xfrm>
              <a:off x="3529" y="1880"/>
              <a:ext cx="752" cy="330"/>
              <a:chOff x="1282" y="2126"/>
              <a:chExt cx="752" cy="330"/>
            </a:xfrm>
          </p:grpSpPr>
          <p:grpSp>
            <p:nvGrpSpPr>
              <p:cNvPr id="15401" name="Group 296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08" name="Rectangle 29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09" name="Text Box 29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5402" name="Group 299"/>
              <p:cNvGrpSpPr>
                <a:grpSpLocks/>
              </p:cNvGrpSpPr>
              <p:nvPr/>
            </p:nvGrpSpPr>
            <p:grpSpPr bwMode="auto">
              <a:xfrm>
                <a:off x="1528" y="2126"/>
                <a:ext cx="246" cy="330"/>
                <a:chOff x="1287" y="1865"/>
                <a:chExt cx="246" cy="330"/>
              </a:xfrm>
            </p:grpSpPr>
            <p:sp>
              <p:nvSpPr>
                <p:cNvPr id="15406" name="Rectangle 30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07" name="Text Box 30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7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</a:t>
                  </a:r>
                </a:p>
              </p:txBody>
            </p:sp>
          </p:grpSp>
          <p:grpSp>
            <p:nvGrpSpPr>
              <p:cNvPr id="15403" name="Group 302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04" name="Rectangle 30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05" name="Text Box 30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2</a:t>
                  </a:r>
                </a:p>
              </p:txBody>
            </p:sp>
          </p:grpSp>
        </p:grpSp>
        <p:grpSp>
          <p:nvGrpSpPr>
            <p:cNvPr id="15381" name="Group 305"/>
            <p:cNvGrpSpPr>
              <a:grpSpLocks/>
            </p:cNvGrpSpPr>
            <p:nvPr/>
          </p:nvGrpSpPr>
          <p:grpSpPr bwMode="auto">
            <a:xfrm>
              <a:off x="3524" y="2141"/>
              <a:ext cx="752" cy="330"/>
              <a:chOff x="1282" y="2126"/>
              <a:chExt cx="752" cy="330"/>
            </a:xfrm>
          </p:grpSpPr>
          <p:grpSp>
            <p:nvGrpSpPr>
              <p:cNvPr id="15392" name="Group 306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399" name="Rectangle 30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00" name="Text Box 30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3</a:t>
                  </a:r>
                </a:p>
              </p:txBody>
            </p:sp>
          </p:grpSp>
          <p:grpSp>
            <p:nvGrpSpPr>
              <p:cNvPr id="15393" name="Group 309"/>
              <p:cNvGrpSpPr>
                <a:grpSpLocks/>
              </p:cNvGrpSpPr>
              <p:nvPr/>
            </p:nvGrpSpPr>
            <p:grpSpPr bwMode="auto">
              <a:xfrm>
                <a:off x="1528" y="2126"/>
                <a:ext cx="315" cy="330"/>
                <a:chOff x="1287" y="1865"/>
                <a:chExt cx="315" cy="330"/>
              </a:xfrm>
            </p:grpSpPr>
            <p:sp>
              <p:nvSpPr>
                <p:cNvPr id="15397" name="Rectangle 31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398" name="Text Box 31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1 </a:t>
                  </a:r>
                </a:p>
              </p:txBody>
            </p:sp>
          </p:grpSp>
          <p:grpSp>
            <p:nvGrpSpPr>
              <p:cNvPr id="15394" name="Group 312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395" name="Rectangle 31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396" name="Text Box 31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</p:grpSp>
        <p:grpSp>
          <p:nvGrpSpPr>
            <p:cNvPr id="15382" name="Group 315"/>
            <p:cNvGrpSpPr>
              <a:grpSpLocks/>
            </p:cNvGrpSpPr>
            <p:nvPr/>
          </p:nvGrpSpPr>
          <p:grpSpPr bwMode="auto">
            <a:xfrm>
              <a:off x="3519" y="2402"/>
              <a:ext cx="752" cy="330"/>
              <a:chOff x="1282" y="2126"/>
              <a:chExt cx="752" cy="330"/>
            </a:xfrm>
          </p:grpSpPr>
          <p:grpSp>
            <p:nvGrpSpPr>
              <p:cNvPr id="15383" name="Group 316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390" name="Rectangle 31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391" name="Text Box 31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6</a:t>
                  </a:r>
                </a:p>
              </p:txBody>
            </p:sp>
          </p:grpSp>
          <p:grpSp>
            <p:nvGrpSpPr>
              <p:cNvPr id="15384" name="Group 319"/>
              <p:cNvGrpSpPr>
                <a:grpSpLocks/>
              </p:cNvGrpSpPr>
              <p:nvPr/>
            </p:nvGrpSpPr>
            <p:grpSpPr bwMode="auto">
              <a:xfrm>
                <a:off x="1528" y="2126"/>
                <a:ext cx="315" cy="330"/>
                <a:chOff x="1287" y="1865"/>
                <a:chExt cx="315" cy="330"/>
              </a:xfrm>
            </p:grpSpPr>
            <p:sp>
              <p:nvSpPr>
                <p:cNvPr id="15388" name="Rectangle 32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389" name="Text Box 32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7 </a:t>
                  </a:r>
                </a:p>
              </p:txBody>
            </p:sp>
          </p:grpSp>
          <p:grpSp>
            <p:nvGrpSpPr>
              <p:cNvPr id="15385" name="Group 322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386" name="Rectangle 32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387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57BCF6-AF0A-4853-8B07-936471FF7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895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Hill-Climbing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ea typeface="굴림" pitchFamily="50" charset="-127"/>
              </a:rPr>
              <a:t>Local maxima/minima : </a:t>
            </a:r>
            <a:r>
              <a:rPr lang="en-US" dirty="0"/>
              <a:t>local search can get stuck on a local maximum/minimum and not find the optimal solution</a:t>
            </a:r>
            <a:endParaRPr lang="en-GB" dirty="0"/>
          </a:p>
          <a:p>
            <a:endParaRPr lang="en-US" dirty="0"/>
          </a:p>
        </p:txBody>
      </p:sp>
      <p:pic>
        <p:nvPicPr>
          <p:cNvPr id="4" name="Picture 5" descr="8queens-local-minimu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01340" y="2795311"/>
            <a:ext cx="2343150" cy="2343150"/>
          </a:xfrm>
          <a:prstGeom prst="rect">
            <a:avLst/>
          </a:prstGeom>
          <a:noFill/>
          <a:ln/>
        </p:spPr>
      </p:pic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7706140" y="5367061"/>
            <a:ext cx="2133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Local minimum</a:t>
            </a:r>
            <a:endParaRPr lang="en-GB" b="1"/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585559"/>
              </p:ext>
            </p:extLst>
          </p:nvPr>
        </p:nvGraphicFramePr>
        <p:xfrm>
          <a:off x="1991140" y="3004861"/>
          <a:ext cx="5257800" cy="2747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비트맵 이미지" r:id="rId4" imgW="39428571" imgH="17161905" progId="PBrush">
                  <p:embed/>
                </p:oleObj>
              </mc:Choice>
              <mc:Fallback>
                <p:oleObj name="비트맵 이미지" r:id="rId4" imgW="39428571" imgH="17161905" progId="PBrush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140" y="3004861"/>
                        <a:ext cx="5257800" cy="2747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838200" y="5456635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ko-KR" sz="2000" dirty="0">
                <a:ea typeface="굴림" pitchFamily="50" charset="-127"/>
              </a:rPr>
              <a:t>Cure</a:t>
            </a:r>
          </a:p>
          <a:p>
            <a:pPr lvl="1"/>
            <a:r>
              <a:rPr lang="en-US" altLang="ko-KR" sz="2000" dirty="0">
                <a:ea typeface="굴림" pitchFamily="50" charset="-127"/>
              </a:rPr>
              <a:t>+ Random restart</a:t>
            </a:r>
          </a:p>
          <a:p>
            <a:pPr lvl="1"/>
            <a:r>
              <a:rPr lang="en-US" altLang="ko-KR" sz="2000" dirty="0">
                <a:ea typeface="굴림" pitchFamily="50" charset="-127"/>
              </a:rPr>
              <a:t>+ Good for Only few local maxima</a:t>
            </a:r>
            <a:endParaRPr lang="en-GB" sz="2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E5580F-A83A-4708-8780-A154CCC6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198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Improvements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x-none" b="1" dirty="0"/>
              <a:t>Random-restart Hill Climbing</a:t>
            </a:r>
            <a:r>
              <a:rPr lang="en-US" altLang="x-none" dirty="0"/>
              <a:t>: Selects a series of initial nodes randomly until the solution is found. </a:t>
            </a:r>
          </a:p>
          <a:p>
            <a:endParaRPr lang="en-US" dirty="0"/>
          </a:p>
          <a:p>
            <a:r>
              <a:rPr lang="en-US" dirty="0"/>
              <a:t>Some problem spaces are great for hill climbing and others are terrible.</a:t>
            </a:r>
            <a:endParaRPr lang="en-US" altLang="x-none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693A21-0842-49F7-BC4F-D0580484330F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030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Hill Climbing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Stochastic hill climbing: </a:t>
            </a:r>
          </a:p>
          <a:p>
            <a:pPr lvl="1"/>
            <a:r>
              <a:rPr lang="en-US" dirty="0"/>
              <a:t>chooses at random from among uphill moves </a:t>
            </a:r>
          </a:p>
          <a:p>
            <a:pPr lvl="1"/>
            <a:r>
              <a:rPr lang="en-US" dirty="0"/>
              <a:t>converges more slowly, but finds better solutions in some landscapes.</a:t>
            </a:r>
          </a:p>
          <a:p>
            <a:r>
              <a:rPr lang="en-US" dirty="0"/>
              <a:t>First-choice hill climbing: </a:t>
            </a:r>
          </a:p>
          <a:p>
            <a:pPr lvl="1"/>
            <a:r>
              <a:rPr lang="en-US" dirty="0"/>
              <a:t>generate successors randomly until one is better than the current</a:t>
            </a:r>
          </a:p>
          <a:p>
            <a:pPr lvl="1"/>
            <a:r>
              <a:rPr lang="en-US" dirty="0"/>
              <a:t>good when a state has many successors </a:t>
            </a:r>
          </a:p>
          <a:p>
            <a:r>
              <a:rPr lang="en-US" dirty="0"/>
              <a:t>Random-restart hill climbing: </a:t>
            </a:r>
          </a:p>
          <a:p>
            <a:pPr lvl="1"/>
            <a:r>
              <a:rPr lang="en-US" dirty="0"/>
              <a:t>conducts a series of hill climbing searches from randomly generated initial states, stops when a goal is found </a:t>
            </a:r>
          </a:p>
          <a:p>
            <a:pPr lvl="1"/>
            <a:r>
              <a:rPr lang="en-US" dirty="0"/>
              <a:t>It’s complete with probability approaching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FE833-4783-4FE9-80FD-F57CA23D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958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222222"/>
                </a:solidFill>
              </a:rPr>
              <a:t>In </a:t>
            </a:r>
            <a:r>
              <a:rPr lang="en-US" altLang="en-US" b="1" dirty="0">
                <a:solidFill>
                  <a:srgbClr val="222222"/>
                </a:solidFill>
              </a:rPr>
              <a:t>simple hill climbing</a:t>
            </a:r>
            <a:r>
              <a:rPr lang="en-US" altLang="en-US" dirty="0">
                <a:solidFill>
                  <a:srgbClr val="222222"/>
                </a:solidFill>
              </a:rPr>
              <a:t>, the first closer node is chosen, whereas in </a:t>
            </a:r>
            <a:r>
              <a:rPr lang="en-US" altLang="en-US" b="1" dirty="0">
                <a:solidFill>
                  <a:srgbClr val="222222"/>
                </a:solidFill>
              </a:rPr>
              <a:t>steepest ascent hill climbing</a:t>
            </a:r>
            <a:r>
              <a:rPr lang="en-US" altLang="en-US" dirty="0">
                <a:solidFill>
                  <a:srgbClr val="222222"/>
                </a:solidFill>
              </a:rPr>
              <a:t> all successors are compared and the closest to the solution is chosen. Steepest ascent hill climbing is similar to </a:t>
            </a:r>
            <a:r>
              <a:rPr lang="en-US" altLang="en-US" dirty="0">
                <a:solidFill>
                  <a:srgbClr val="0B0080"/>
                </a:solidFill>
                <a:hlinkClick r:id="rId2" tooltip="Best-first search"/>
              </a:rPr>
              <a:t>best-first search</a:t>
            </a:r>
            <a:r>
              <a:rPr lang="en-US" altLang="en-US" dirty="0">
                <a:solidFill>
                  <a:srgbClr val="222222"/>
                </a:solidFill>
              </a:rPr>
              <a:t>, which tries all possible extensions of the current path instead of only one.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B0080"/>
                </a:solidFill>
                <a:hlinkClick r:id="rId3" tooltip="Stochastic hill climbing"/>
              </a:rPr>
              <a:t>Stochastic hill climbing</a:t>
            </a:r>
            <a:r>
              <a:rPr lang="en-US" altLang="en-US" dirty="0">
                <a:solidFill>
                  <a:srgbClr val="222222"/>
                </a:solidFill>
              </a:rPr>
              <a:t> does not examine all neighbors before deciding how to move. Rather, it selects a neighbor at random, and decides (based on the amount of improvement in that neighbor) whether to move to that neighbor or to examine another.</a:t>
            </a:r>
            <a:endParaRPr lang="en-US" altLang="en-US" sz="36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u="sng" dirty="0">
                <a:solidFill>
                  <a:srgbClr val="222222"/>
                </a:solidFill>
                <a:cs typeface="Arial" panose="020B0604020202020204" pitchFamily="34" charset="0"/>
              </a:rPr>
              <a:t>Random-restart hill climbing</a:t>
            </a:r>
            <a:r>
              <a:rPr lang="en-US" altLang="en-US" dirty="0">
                <a:solidFill>
                  <a:srgbClr val="222222"/>
                </a:solidFill>
                <a:cs typeface="Arial" panose="020B0604020202020204" pitchFamily="34" charset="0"/>
              </a:rPr>
              <a:t> iteratively does hill-climbing, each time with a random initial condition. The best is kept: if a new run of hill climbing produces a better than the stored state, it replaces the stored state.</a:t>
            </a:r>
            <a:endParaRPr lang="en-US" altLang="en-US" sz="36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FB26F-20BF-400B-A6B0-3C033FF78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15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Hill Climbing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Stochastic hill climbing chooses at random from among the uphill moves; </a:t>
            </a:r>
          </a:p>
          <a:p>
            <a:r>
              <a:rPr lang="en-US" dirty="0"/>
              <a:t>The probability of selection can vary with the steepness of the uphill move. </a:t>
            </a:r>
          </a:p>
          <a:p>
            <a:r>
              <a:rPr lang="en-US" dirty="0"/>
              <a:t>Stochastic hill climbing usually converges more slowly than steepest ascent, but in some state landscapes, it finds better solutions.</a:t>
            </a:r>
          </a:p>
          <a:p>
            <a:r>
              <a:rPr lang="en-US" dirty="0"/>
              <a:t>Stochastic hill climbing is NOT complete, but it may be less likely to get stuck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12DC4-EC10-467A-9A10-F641485F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274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Choice Hill Climbing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First-choice hill climbing implements stochastic hill climbing by generating successors randomly until one is generated that is better than the current state. </a:t>
            </a:r>
          </a:p>
          <a:p>
            <a:r>
              <a:rPr lang="en-US" dirty="0"/>
              <a:t>This is a good strategy when a state has many of successors. </a:t>
            </a:r>
          </a:p>
          <a:p>
            <a:r>
              <a:rPr lang="en-US" dirty="0"/>
              <a:t>First-choice hill climbing is also NOT complete,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1F749-FDFE-4DAC-9408-21E9C0F9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712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Restart Hill Climbing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Random-Restart Hill Climbing conducts a series of hill-climbing searches from randomly generated initial states, until a goal is found. </a:t>
            </a:r>
          </a:p>
          <a:p>
            <a:r>
              <a:rPr lang="en-US" dirty="0"/>
              <a:t>Random-Restart Hill Climbing is complete if infinite (or sufficiently many tries) are allowed. </a:t>
            </a:r>
          </a:p>
          <a:p>
            <a:r>
              <a:rPr lang="en-US" dirty="0"/>
              <a:t>If each hill-climbing search has a probability p of success, then the expected number of restarts required is 1/p. </a:t>
            </a:r>
          </a:p>
          <a:p>
            <a:r>
              <a:rPr lang="en-US" dirty="0"/>
              <a:t>The success of hill climbing depends very much on the shape of the state-space landscape: </a:t>
            </a:r>
          </a:p>
          <a:p>
            <a:r>
              <a:rPr lang="en-US" dirty="0"/>
              <a:t>If there are few local maxima and plateau, random-restart hill climbing will find a good solution very quickly. </a:t>
            </a:r>
          </a:p>
          <a:p>
            <a:r>
              <a:rPr lang="en-US" dirty="0"/>
              <a:t>On the other hand, many real problems have many local maxima to get stuck 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B2FD9-7C09-49C0-92D6-B99AC754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52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Nature-Inspired Heuristic Algorithms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/>
              <a:t>Genetic Algorithm </a:t>
            </a:r>
            <a:r>
              <a:rPr lang="en-US" dirty="0"/>
              <a:t>(evolution)</a:t>
            </a:r>
          </a:p>
          <a:p>
            <a:r>
              <a:rPr lang="en-US" dirty="0"/>
              <a:t>Neural Network (artificial neural network)</a:t>
            </a:r>
          </a:p>
          <a:p>
            <a:r>
              <a:rPr lang="en-US" dirty="0"/>
              <a:t>Simulated Annealing (metal annealing)</a:t>
            </a:r>
          </a:p>
          <a:p>
            <a:r>
              <a:rPr lang="en-US" dirty="0"/>
              <a:t>Tabu Search (animal’s brain)</a:t>
            </a:r>
          </a:p>
          <a:p>
            <a:r>
              <a:rPr lang="en-US" dirty="0"/>
              <a:t>Ant Colony Optimization</a:t>
            </a:r>
          </a:p>
          <a:p>
            <a:r>
              <a:rPr lang="en-US" dirty="0"/>
              <a:t>Bee Colony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464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</TotalTime>
  <Words>3589</Words>
  <Application>Microsoft Office PowerPoint</Application>
  <PresentationFormat>Widescreen</PresentationFormat>
  <Paragraphs>499</Paragraphs>
  <Slides>59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비트맵 이미지</vt:lpstr>
      <vt:lpstr>Local Search and Optimization</vt:lpstr>
      <vt:lpstr>Local Search Algorithms</vt:lpstr>
      <vt:lpstr>Example: Map-Coloring</vt:lpstr>
      <vt:lpstr>Constraint graph</vt:lpstr>
      <vt:lpstr>Example</vt:lpstr>
      <vt:lpstr>Local Search Algorithms</vt:lpstr>
      <vt:lpstr>Local Search</vt:lpstr>
      <vt:lpstr>Local Search Methods – Applications </vt:lpstr>
      <vt:lpstr>Local Search Algorithms</vt:lpstr>
      <vt:lpstr>Local Search Algorithm</vt:lpstr>
      <vt:lpstr>Local search</vt:lpstr>
      <vt:lpstr>Local Search Algorithms for optimization Problems</vt:lpstr>
      <vt:lpstr>Example: n-Queen</vt:lpstr>
      <vt:lpstr>Example: n-Queen</vt:lpstr>
      <vt:lpstr>Example: n-Queen</vt:lpstr>
      <vt:lpstr>Example: Travelling Salesman Problem</vt:lpstr>
      <vt:lpstr>Example: Travelling Salesman Problem</vt:lpstr>
      <vt:lpstr>PowerPoint Presentation</vt:lpstr>
      <vt:lpstr>Example: Travelling Salesman Problem</vt:lpstr>
      <vt:lpstr>PowerPoint Presentation</vt:lpstr>
      <vt:lpstr>Hill Climbing  Algorithm</vt:lpstr>
      <vt:lpstr>Hill Climbing</vt:lpstr>
      <vt:lpstr>Hill-Climbing Algorithm</vt:lpstr>
      <vt:lpstr>Hill Climbing Search</vt:lpstr>
      <vt:lpstr>Hill Climbing Search</vt:lpstr>
      <vt:lpstr>PowerPoint Presentation</vt:lpstr>
      <vt:lpstr>PowerPoint Presentation</vt:lpstr>
      <vt:lpstr>Hill climbing example (minimizing h)</vt:lpstr>
      <vt:lpstr>PowerPoint Presentation</vt:lpstr>
      <vt:lpstr>PowerPoint Presentation</vt:lpstr>
      <vt:lpstr>PowerPoint Presentation</vt:lpstr>
      <vt:lpstr>Example of hill-climbing for the maze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of hill-climbing for the maze problem</vt:lpstr>
      <vt:lpstr>Example of hill-climbing for finding the minimum of a quadratic function</vt:lpstr>
      <vt:lpstr>Example of hill-climbing for finding the minimum of a quadratic function</vt:lpstr>
      <vt:lpstr>PowerPoint Presentation</vt:lpstr>
      <vt:lpstr>PowerPoint Presentation</vt:lpstr>
      <vt:lpstr> Problems with Hill Climbing in AI </vt:lpstr>
      <vt:lpstr>State Space Landscape</vt:lpstr>
      <vt:lpstr>Hill Climbing</vt:lpstr>
      <vt:lpstr>Hill-Climbing – Two Versions</vt:lpstr>
      <vt:lpstr>Hill-Climbing Problems</vt:lpstr>
      <vt:lpstr> Example of a local "maximum"</vt:lpstr>
      <vt:lpstr>Hill-Climbing Problems</vt:lpstr>
      <vt:lpstr>Improvements</vt:lpstr>
      <vt:lpstr>Variants of Hill Climbing</vt:lpstr>
      <vt:lpstr>Variants</vt:lpstr>
      <vt:lpstr>Stochastic Hill Climbing</vt:lpstr>
      <vt:lpstr>First Choice Hill Climbing</vt:lpstr>
      <vt:lpstr>Random Restart Hill Climbing</vt:lpstr>
      <vt:lpstr>Nature-Inspired Heuristic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Search and Optimization</dc:title>
  <dc:creator>FARHAN DAWOOD</dc:creator>
  <cp:lastModifiedBy>Dr. Mohsin Ashraf</cp:lastModifiedBy>
  <cp:revision>74</cp:revision>
  <dcterms:created xsi:type="dcterms:W3CDTF">2019-04-04T06:58:54Z</dcterms:created>
  <dcterms:modified xsi:type="dcterms:W3CDTF">2022-04-18T09:13:58Z</dcterms:modified>
</cp:coreProperties>
</file>