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0" r:id="rId2"/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278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ghat Ullah" userId="70fa0353-8769-46b4-8509-fc74b81c1661" providerId="ADAL" clId="{44CDBABD-F082-4E6F-B3C0-D2ED52FB7FFB}"/>
    <pc:docChg chg="custSel addSld modSld">
      <pc:chgData name="Sibghat Ullah" userId="70fa0353-8769-46b4-8509-fc74b81c1661" providerId="ADAL" clId="{44CDBABD-F082-4E6F-B3C0-D2ED52FB7FFB}" dt="2026-03-18T07:41:47.181" v="383" actId="20577"/>
      <pc:docMkLst>
        <pc:docMk/>
      </pc:docMkLst>
      <pc:sldChg chg="modSp mod">
        <pc:chgData name="Sibghat Ullah" userId="70fa0353-8769-46b4-8509-fc74b81c1661" providerId="ADAL" clId="{44CDBABD-F082-4E6F-B3C0-D2ED52FB7FFB}" dt="2026-03-18T07:41:47.181" v="383" actId="20577"/>
        <pc:sldMkLst>
          <pc:docMk/>
          <pc:sldMk cId="1002248913" sldId="497"/>
        </pc:sldMkLst>
        <pc:spChg chg="mod">
          <ac:chgData name="Sibghat Ullah" userId="70fa0353-8769-46b4-8509-fc74b81c1661" providerId="ADAL" clId="{44CDBABD-F082-4E6F-B3C0-D2ED52FB7FFB}" dt="2026-03-18T07:41:47.181" v="383" actId="20577"/>
          <ac:spMkLst>
            <pc:docMk/>
            <pc:sldMk cId="1002248913" sldId="497"/>
            <ac:spMk id="3" creationId="{00000000-0000-0000-0000-000000000000}"/>
          </ac:spMkLst>
        </pc:spChg>
        <pc:spChg chg="mod">
          <ac:chgData name="Sibghat Ullah" userId="70fa0353-8769-46b4-8509-fc74b81c1661" providerId="ADAL" clId="{44CDBABD-F082-4E6F-B3C0-D2ED52FB7FFB}" dt="2026-03-18T07:14:07.283" v="302" actId="1076"/>
          <ac:spMkLst>
            <pc:docMk/>
            <pc:sldMk cId="1002248913" sldId="497"/>
            <ac:spMk id="5" creationId="{00000000-0000-0000-0000-000000000000}"/>
          </ac:spMkLst>
        </pc:spChg>
      </pc:sldChg>
      <pc:sldChg chg="addSp delSp modSp add mod">
        <pc:chgData name="Sibghat Ullah" userId="70fa0353-8769-46b4-8509-fc74b81c1661" providerId="ADAL" clId="{44CDBABD-F082-4E6F-B3C0-D2ED52FB7FFB}" dt="2026-03-18T07:30:16.305" v="381" actId="20577"/>
        <pc:sldMkLst>
          <pc:docMk/>
          <pc:sldMk cId="1730109528" sldId="505"/>
        </pc:sldMkLst>
        <pc:spChg chg="add del">
          <ac:chgData name="Sibghat Ullah" userId="70fa0353-8769-46b4-8509-fc74b81c1661" providerId="ADAL" clId="{44CDBABD-F082-4E6F-B3C0-D2ED52FB7FFB}" dt="2026-03-18T07:28:58.624" v="361"/>
          <ac:spMkLst>
            <pc:docMk/>
            <pc:sldMk cId="1730109528" sldId="505"/>
            <ac:spMk id="2" creationId="{8CC7FB07-6034-4981-A54C-5C20D45F2D51}"/>
          </ac:spMkLst>
        </pc:spChg>
        <pc:spChg chg="add del">
          <ac:chgData name="Sibghat Ullah" userId="70fa0353-8769-46b4-8509-fc74b81c1661" providerId="ADAL" clId="{44CDBABD-F082-4E6F-B3C0-D2ED52FB7FFB}" dt="2026-03-18T07:29:02.410" v="364"/>
          <ac:spMkLst>
            <pc:docMk/>
            <pc:sldMk cId="1730109528" sldId="505"/>
            <ac:spMk id="3" creationId="{FB54D930-AB45-4DBF-B28A-B1585B10A938}"/>
          </ac:spMkLst>
        </pc:spChg>
        <pc:spChg chg="add mod">
          <ac:chgData name="Sibghat Ullah" userId="70fa0353-8769-46b4-8509-fc74b81c1661" providerId="ADAL" clId="{44CDBABD-F082-4E6F-B3C0-D2ED52FB7FFB}" dt="2026-03-18T07:30:16.305" v="381" actId="20577"/>
          <ac:spMkLst>
            <pc:docMk/>
            <pc:sldMk cId="1730109528" sldId="505"/>
            <ac:spMk id="5" creationId="{13A461F9-9107-47D5-91BC-F96C47D4991A}"/>
          </ac:spMkLst>
        </pc:spChg>
        <pc:spChg chg="mod">
          <ac:chgData name="Sibghat Ullah" userId="70fa0353-8769-46b4-8509-fc74b81c1661" providerId="ADAL" clId="{44CDBABD-F082-4E6F-B3C0-D2ED52FB7FFB}" dt="2026-03-18T07:29:00.397" v="362" actId="20577"/>
          <ac:spMkLst>
            <pc:docMk/>
            <pc:sldMk cId="1730109528" sldId="505"/>
            <ac:spMk id="3379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72B4-1258-4A50-B001-2FA0E644095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C34B4-D2E5-4257-8EB4-6A0ED234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8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8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64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96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55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07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1608" y="6356350"/>
            <a:ext cx="2743200" cy="365125"/>
          </a:xfrm>
        </p:spPr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4420" y="6356350"/>
            <a:ext cx="2743200" cy="365125"/>
          </a:xfrm>
        </p:spPr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463550">
              <a:buFont typeface="Wingdings" panose="05000000000000000000" pitchFamily="2" charset="2"/>
              <a:buChar char="v"/>
              <a:defRPr/>
            </a:lvl1pPr>
            <a:lvl2pPr marL="795338" indent="-338138">
              <a:buFont typeface="Wingdings" panose="05000000000000000000" pitchFamily="2" charset="2"/>
              <a:buChar char="§"/>
              <a:defRPr/>
            </a:lvl2pPr>
            <a:lvl3pPr marL="1258888" indent="-344488">
              <a:buFont typeface="Wingdings" panose="05000000000000000000" pitchFamily="2" charset="2"/>
              <a:buChar char="Ø"/>
              <a:defRPr/>
            </a:lvl3pPr>
            <a:lvl4pPr marL="1709738" indent="-338138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7460779"/>
            <a:ext cx="3381186" cy="97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9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0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2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683025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2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3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8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1113"/>
            <a:ext cx="10058400" cy="145075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0260"/>
            <a:ext cx="10058400" cy="4023360"/>
          </a:xfrm>
        </p:spPr>
        <p:txBody>
          <a:bodyPr/>
          <a:lstStyle>
            <a:lvl1pPr marL="347663" indent="-347663">
              <a:buFont typeface="Wingdings" panose="05000000000000000000" pitchFamily="2" charset="2"/>
              <a:buChar char="v"/>
              <a:defRPr/>
            </a:lvl1pPr>
            <a:lvl2pPr marL="682625" indent="-334963">
              <a:buFont typeface="Wingdings" panose="05000000000000000000" pitchFamily="2" charset="2"/>
              <a:buChar char="q"/>
              <a:defRPr/>
            </a:lvl2pPr>
            <a:lvl3pPr marL="914400" indent="-231775">
              <a:buFont typeface="Wingdings" panose="05000000000000000000" pitchFamily="2" charset="2"/>
              <a:buChar char="§"/>
              <a:defRPr/>
            </a:lvl3pPr>
            <a:lvl4pPr marL="1146175" indent="-231775">
              <a:defRPr/>
            </a:lvl4pPr>
            <a:lvl5pPr marL="1379538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9DE3-69F7-4C71-A116-E31BF97F5FA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36B-9B09-4361-9AAE-7166081CB66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1207658" y="1741714"/>
            <a:ext cx="9948022" cy="181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lvl="0" indent="-463550">
              <a:buFont typeface="Wingdings" panose="05000000000000000000" pitchFamily="2" charset="2"/>
              <a:buChar char="v"/>
            </a:pPr>
            <a:r>
              <a:rPr lang="en-US" dirty="0"/>
              <a:t>Click to edit Master text styles</a:t>
            </a:r>
          </a:p>
          <a:p>
            <a:pPr marL="795338" lvl="1" indent="-338138"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marL="1258888" lvl="2" indent="-344488"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  <a:p>
            <a:pPr marL="1709738" lvl="3" indent="-338138">
              <a:buFont typeface="Wingdings" panose="05000000000000000000" pitchFamily="2" charset="2"/>
              <a:buChar char="ü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FCAB-F758-4332-A193-2A2770332BF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92559"/>
            <a:ext cx="2438332" cy="7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8534399" y="119269"/>
            <a:ext cx="2676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Department of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Software Engineering </a:t>
            </a:r>
          </a:p>
        </p:txBody>
      </p:sp>
      <p:pic>
        <p:nvPicPr>
          <p:cNvPr id="9" name="Picture 8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768" y="132517"/>
            <a:ext cx="593335" cy="69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671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012" y="1990165"/>
            <a:ext cx="10945906" cy="1680880"/>
          </a:xfrm>
        </p:spPr>
        <p:txBody>
          <a:bodyPr/>
          <a:lstStyle/>
          <a:p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Artificial Intelligence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2612" y="3834274"/>
            <a:ext cx="7924800" cy="2091396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41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4" descr="dfs-progress01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886200"/>
            <a:ext cx="5181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1240" y="842308"/>
            <a:ext cx="9585436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48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0" y="1860331"/>
            <a:ext cx="10026869" cy="4692869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dirty="0"/>
              <a:t>Expand deepest unexpanded node
</a:t>
            </a:r>
            <a:r>
              <a:rPr lang="en-US" sz="2000" dirty="0"/>
              <a:t>Goes to the deepest level of the search tree where there are no further successors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/>
                </a:solidFill>
              </a:rPr>
              <a:t>Implementation</a:t>
            </a:r>
            <a:r>
              <a:rPr lang="en-US" sz="24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use </a:t>
            </a:r>
            <a:r>
              <a:rPr lang="en-US" sz="2000" i="1" dirty="0"/>
              <a:t>frontier</a:t>
            </a:r>
            <a:r>
              <a:rPr lang="en-US" sz="2000" dirty="0"/>
              <a:t> as a </a:t>
            </a:r>
            <a:r>
              <a:rPr lang="en-US" sz="2000" dirty="0">
                <a:solidFill>
                  <a:srgbClr val="FF0000"/>
                </a:solidFill>
              </a:rPr>
              <a:t>Stack</a:t>
            </a:r>
            <a:r>
              <a:rPr lang="en-US" sz="2000" dirty="0"/>
              <a:t>, LIFO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Put the expanded node at the </a:t>
            </a:r>
            <a:r>
              <a:rPr lang="en-US" sz="2000" dirty="0">
                <a:solidFill>
                  <a:srgbClr val="FF0000"/>
                </a:solidFill>
              </a:rPr>
              <a:t>front</a:t>
            </a:r>
            <a:r>
              <a:rPr lang="en-US" sz="2000" dirty="0"/>
              <a:t> of the </a:t>
            </a:r>
            <a:r>
              <a:rPr lang="en-US" sz="2000" i="1" dirty="0"/>
              <a:t>frontier</a:t>
            </a:r>
            <a:r>
              <a:rPr lang="en-US" sz="2000" dirty="0"/>
              <a:t>
Frontier =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0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840" y="885304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deepest unexpanded node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A is goal, it is not, expand A, remove A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Frontier = B,C</a:t>
            </a:r>
          </a:p>
          <a:p>
            <a:pPr marL="347662" lvl="1" indent="0" eaLnBrk="1" hangingPunct="1">
              <a:buNone/>
            </a:pPr>
            <a:endParaRPr lang="en-US" sz="2000" dirty="0"/>
          </a:p>
        </p:txBody>
      </p:sp>
      <p:pic>
        <p:nvPicPr>
          <p:cNvPr id="35847" name="Picture 5" descr="dfs-progress0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33147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4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5" descr="dfs-progress03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3048000"/>
            <a:ext cx="5181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808" y="84377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68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B is goal, it is not, expand B, remove B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D,E,C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9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5" descr="dfs-progress0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4" y="3048001"/>
            <a:ext cx="5181600" cy="291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4" name="Rectangle 3"/>
          <p:cNvSpPr>
            <a:spLocks noGrp="1" noChangeArrowheads="1"/>
          </p:cNvSpPr>
          <p:nvPr>
            <p:ph type="title"/>
          </p:nvPr>
        </p:nvSpPr>
        <p:spPr>
          <a:xfrm>
            <a:off x="1256370" y="855912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789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D is goal, it is not, expand D, remove 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H, I, E,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3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 descr="dfs-progress05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2044" y="3121026"/>
            <a:ext cx="5181600" cy="301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2134" y="84216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89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414" y="1860331"/>
            <a:ext cx="9296674" cy="427218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Both H and I has not successors so remove them if it is not goal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E, C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0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6" y="859545"/>
            <a:ext cx="9732194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E is goal, it is not, expand E, remove 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J, K, C</a:t>
            </a:r>
          </a:p>
        </p:txBody>
      </p:sp>
      <p:pic>
        <p:nvPicPr>
          <p:cNvPr id="39943" name="Picture 6" descr="dfs-progress06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3297238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9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344" y="869538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J and K do not have successors neither is any of them goal so remove them from frontier one by one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C</a:t>
            </a:r>
          </a:p>
        </p:txBody>
      </p:sp>
      <p:pic>
        <p:nvPicPr>
          <p:cNvPr id="40968" name="Picture 6" descr="dfs-progress07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33528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9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900" y="853282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C is goal, it is not, expand C, remove 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F,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3016" name="Picture 6" descr="dfs-progress09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895601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6" y="855373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F is goal, it is not, expand F, remove F
Frontier = L, M, G</a:t>
            </a:r>
          </a:p>
        </p:txBody>
      </p:sp>
      <p:pic>
        <p:nvPicPr>
          <p:cNvPr id="44040" name="Picture 6" descr="dfs-progress10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2385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5" y="802046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Both L, M are not goal, neither they have any successor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Remove L, M from frontier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G is goal, it is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The search terminates</a:t>
            </a:r>
          </a:p>
        </p:txBody>
      </p:sp>
      <p:pic>
        <p:nvPicPr>
          <p:cNvPr id="46088" name="Picture 6" descr="dfs-progress1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124201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8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86472" y="838335"/>
            <a:ext cx="9381528" cy="852487"/>
          </a:xfrm>
        </p:spPr>
        <p:txBody>
          <a:bodyPr/>
          <a:lstStyle/>
          <a:p>
            <a:pPr eaLnBrk="1" hangingPunct="1"/>
            <a:r>
              <a:rPr lang="en-US" sz="4000" dirty="0"/>
              <a:t>Properties of Depth-first </a:t>
            </a:r>
            <a:r>
              <a:rPr lang="en-US" dirty="0"/>
              <a:t>S</a:t>
            </a:r>
            <a:r>
              <a:rPr lang="en-US" sz="4000" dirty="0"/>
              <a:t>earch</a:t>
            </a: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6472" y="1970619"/>
            <a:ext cx="10058400" cy="40233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Complete?</a:t>
            </a:r>
            <a:r>
              <a:rPr lang="en-US" sz="2400" dirty="0"/>
              <a:t> No: fails in infinite-depth spaces, spaces with loops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Complete in finite state 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Modify to avoid repeated states along path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Optimal?</a:t>
            </a:r>
            <a:r>
              <a:rPr lang="en-US" sz="2400" dirty="0"/>
              <a:t> No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</a:t>
            </a:r>
            <a:r>
              <a:rPr lang="en-US" sz="2400" i="1" dirty="0"/>
              <a:t>O(</a:t>
            </a:r>
            <a:r>
              <a:rPr lang="en-US" sz="2400" i="1" dirty="0" err="1"/>
              <a:t>b</a:t>
            </a:r>
            <a:r>
              <a:rPr lang="en-US" sz="2400" i="1" baseline="30000" dirty="0" err="1"/>
              <a:t>m</a:t>
            </a:r>
            <a:r>
              <a:rPr lang="en-US" sz="2400" i="1" dirty="0"/>
              <a:t>)</a:t>
            </a:r>
            <a:r>
              <a:rPr lang="en-US" sz="2400" dirty="0"/>
              <a:t> terrible if </a:t>
            </a:r>
            <a:r>
              <a:rPr lang="en-US" sz="2400" i="1" dirty="0"/>
              <a:t>m</a:t>
            </a:r>
            <a:r>
              <a:rPr lang="en-US" sz="2400" dirty="0"/>
              <a:t> is much larger than </a:t>
            </a:r>
            <a:r>
              <a:rPr lang="en-US" sz="2400" i="1" dirty="0"/>
              <a:t>d</a:t>
            </a:r>
          </a:p>
          <a:p>
            <a:pPr marL="0" indent="0" eaLnBrk="1" hangingPunct="1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624" y="974380"/>
            <a:ext cx="10058400" cy="52897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Expands a node with the lowest path cost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UCS is uninformed search algorithm and use BFS technique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Find the least cost path from start to goal in weighted graph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Dijkstra’s Algo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Guarantees optimal solution if step costs are non negative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Explores nodes with lowest cumulative cost first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Equivalent to breadth-first if all step costs are equal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 a priority queue to manage nodes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Implementation</a:t>
            </a:r>
            <a:r>
              <a:rPr lang="en-US" dirty="0"/>
              <a:t>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i="1" dirty="0"/>
              <a:t>frontier</a:t>
            </a:r>
            <a:r>
              <a:rPr lang="en-US" dirty="0"/>
              <a:t> = queue ordered by path cost (priority queue)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72288" y="121893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Uniform-cost Search</a:t>
            </a:r>
          </a:p>
        </p:txBody>
      </p:sp>
    </p:spTree>
    <p:extLst>
      <p:ext uri="{BB962C8B-B14F-4D97-AF65-F5344CB8AC3E}">
        <p14:creationId xmlns:p14="http://schemas.microsoft.com/office/powerpoint/2010/main" val="1002248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007" y="575343"/>
            <a:ext cx="7391400" cy="838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Uniform Cost search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1DB1AC-4E93-4062-9D86-E4477ED1D11A}" type="slidenum">
              <a:rPr lang="en-US" altLang="en-US">
                <a:solidFill>
                  <a:schemeClr val="bg1"/>
                </a:solidFill>
                <a:latin typeface="Book Antiqua" panose="02040602050305030304" pitchFamily="18" charset="0"/>
              </a:rPr>
              <a:pPr eaLnBrk="1" hangingPunct="1"/>
              <a:t>14</a:t>
            </a:fld>
            <a:endParaRPr lang="en-US" altLang="en-US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88" y="1509712"/>
            <a:ext cx="10297511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6858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lgorithmicthoughts.files.wordpress.com/2012/12/searchtree.png?w=700&amp;h=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131" y="2923294"/>
            <a:ext cx="9900745" cy="386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77007" y="1833327"/>
            <a:ext cx="95854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5925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</a:rPr>
              <a:t>Expand the least-cost unexpanded node</a:t>
            </a:r>
          </a:p>
          <a:p>
            <a:pPr marL="415925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</a:rPr>
              <a:t>Implementation: </a:t>
            </a:r>
            <a:r>
              <a:rPr lang="en-US" altLang="en-US" sz="2400" i="1" dirty="0">
                <a:solidFill>
                  <a:srgbClr val="0000FF"/>
                </a:solidFill>
              </a:rPr>
              <a:t>frontier </a:t>
            </a:r>
            <a:r>
              <a:rPr lang="en-US" altLang="en-US" sz="2400" dirty="0">
                <a:solidFill>
                  <a:srgbClr val="000000"/>
                </a:solidFill>
              </a:rPr>
              <a:t>is a queue ordered by path cost</a:t>
            </a:r>
          </a:p>
          <a:p>
            <a:pPr marL="415925" indent="-3429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</a:rPr>
              <a:t>Equivalent to breadth-first if step costs are all equal</a:t>
            </a:r>
            <a:endParaRPr lang="en-US" sz="24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77007" y="901515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</p:spTree>
    <p:extLst>
      <p:ext uri="{BB962C8B-B14F-4D97-AF65-F5344CB8AC3E}">
        <p14:creationId xmlns:p14="http://schemas.microsoft.com/office/powerpoint/2010/main" val="2177214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39894" y="846410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00401" y="1844566"/>
            <a:ext cx="6889530" cy="4787465"/>
            <a:chOff x="2362200" y="1387215"/>
            <a:chExt cx="4191000" cy="5165985"/>
          </a:xfrm>
        </p:grpSpPr>
        <p:sp>
          <p:nvSpPr>
            <p:cNvPr id="29" name="Rectangle 28"/>
            <p:cNvSpPr/>
            <p:nvPr/>
          </p:nvSpPr>
          <p:spPr bwMode="auto">
            <a:xfrm>
              <a:off x="4419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43434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4038600" y="30480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330778" y="1810083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12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5257800" y="4128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2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2514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2743200" y="30617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810000" y="1842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4507810" y="1387215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S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266607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590800" y="3744418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2647014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2657007" y="60029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4512807" y="6019800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4507810" y="4979233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4486574" y="3744418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5733738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5943600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cxnSp>
          <p:nvCxnSpPr>
            <p:cNvPr id="18" name="Straight Connector 17"/>
            <p:cNvCxnSpPr>
              <a:stCxn id="7" idx="3"/>
              <a:endCxn id="8" idx="7"/>
            </p:cNvCxnSpPr>
            <p:nvPr/>
          </p:nvCxnSpPr>
          <p:spPr bwMode="auto">
            <a:xfrm flipH="1">
              <a:off x="3786933" y="1842500"/>
              <a:ext cx="810151" cy="7502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7" idx="5"/>
              <a:endCxn id="16" idx="1"/>
            </p:cNvCxnSpPr>
            <p:nvPr/>
          </p:nvCxnSpPr>
          <p:spPr bwMode="auto">
            <a:xfrm>
              <a:off x="5028136" y="1842500"/>
              <a:ext cx="1004738" cy="750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8" idx="3"/>
              <a:endCxn id="9" idx="0"/>
            </p:cNvCxnSpPr>
            <p:nvPr/>
          </p:nvCxnSpPr>
          <p:spPr bwMode="auto">
            <a:xfrm flipH="1">
              <a:off x="2895600" y="2969885"/>
              <a:ext cx="460281" cy="77453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8" idx="5"/>
              <a:endCxn id="14" idx="1"/>
            </p:cNvCxnSpPr>
            <p:nvPr/>
          </p:nvCxnSpPr>
          <p:spPr bwMode="auto">
            <a:xfrm>
              <a:off x="3786933" y="2969885"/>
              <a:ext cx="788915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>
              <a:stCxn id="9" idx="4"/>
            </p:cNvCxnSpPr>
            <p:nvPr/>
          </p:nvCxnSpPr>
          <p:spPr bwMode="auto">
            <a:xfrm>
              <a:off x="2895600" y="4277818"/>
              <a:ext cx="0" cy="69641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>
              <a:stCxn id="10" idx="4"/>
              <a:endCxn id="11" idx="0"/>
            </p:cNvCxnSpPr>
            <p:nvPr/>
          </p:nvCxnSpPr>
          <p:spPr bwMode="auto">
            <a:xfrm>
              <a:off x="2951814" y="5507636"/>
              <a:ext cx="9993" cy="4953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Straight Connector 2"/>
            <p:cNvCxnSpPr>
              <a:stCxn id="14" idx="4"/>
              <a:endCxn id="13" idx="0"/>
            </p:cNvCxnSpPr>
            <p:nvPr/>
          </p:nvCxnSpPr>
          <p:spPr bwMode="auto">
            <a:xfrm>
              <a:off x="4791374" y="4277818"/>
              <a:ext cx="21236" cy="701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/>
            <p:cNvCxnSpPr>
              <a:stCxn id="13" idx="4"/>
              <a:endCxn id="12" idx="0"/>
            </p:cNvCxnSpPr>
            <p:nvPr/>
          </p:nvCxnSpPr>
          <p:spPr bwMode="auto">
            <a:xfrm>
              <a:off x="4812610" y="5512633"/>
              <a:ext cx="4997" cy="5071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stCxn id="14" idx="5"/>
              <a:endCxn id="15" idx="1"/>
            </p:cNvCxnSpPr>
            <p:nvPr/>
          </p:nvCxnSpPr>
          <p:spPr bwMode="auto">
            <a:xfrm>
              <a:off x="5006900" y="4199703"/>
              <a:ext cx="816112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Rectangle 34"/>
            <p:cNvSpPr/>
            <p:nvPr/>
          </p:nvSpPr>
          <p:spPr bwMode="auto">
            <a:xfrm>
              <a:off x="23622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67099" y="3007002"/>
            <a:ext cx="17526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dirty="0"/>
              <a:t>A      1</a:t>
            </a:r>
          </a:p>
          <a:p>
            <a:r>
              <a:rPr lang="en-US" dirty="0"/>
              <a:t>G      12</a:t>
            </a:r>
          </a:p>
        </p:txBody>
      </p:sp>
    </p:spTree>
    <p:extLst>
      <p:ext uri="{BB962C8B-B14F-4D97-AF65-F5344CB8AC3E}">
        <p14:creationId xmlns:p14="http://schemas.microsoft.com/office/powerpoint/2010/main" val="3654641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98888" y="827288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886200" y="1387215"/>
            <a:ext cx="4191000" cy="5165985"/>
            <a:chOff x="3886200" y="1387215"/>
            <a:chExt cx="4191000" cy="5165985"/>
          </a:xfrm>
        </p:grpSpPr>
        <p:sp>
          <p:nvSpPr>
            <p:cNvPr id="29" name="Rectangle 28"/>
            <p:cNvSpPr/>
            <p:nvPr/>
          </p:nvSpPr>
          <p:spPr bwMode="auto">
            <a:xfrm>
              <a:off x="5943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58674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5562600" y="30480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6854778" y="1810083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12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6781800" y="4128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2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038600" y="55763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4267200" y="30617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334000" y="18425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1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6031810" y="1387215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S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4790607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4114800" y="3744418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171014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4181007" y="60029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6036807" y="6019800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6031810" y="4979233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6010574" y="3744418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7257738" y="4974236"/>
              <a:ext cx="609600" cy="5334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7467600" y="2514600"/>
              <a:ext cx="609600" cy="5334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atin typeface="Tahoma" pitchFamily="34" charset="0"/>
                </a:rPr>
                <a:t>G</a:t>
              </a:r>
            </a:p>
          </p:txBody>
        </p:sp>
        <p:cxnSp>
          <p:nvCxnSpPr>
            <p:cNvPr id="18" name="Straight Connector 17"/>
            <p:cNvCxnSpPr>
              <a:stCxn id="7" idx="3"/>
              <a:endCxn id="8" idx="7"/>
            </p:cNvCxnSpPr>
            <p:nvPr/>
          </p:nvCxnSpPr>
          <p:spPr bwMode="auto">
            <a:xfrm flipH="1">
              <a:off x="5310934" y="1842501"/>
              <a:ext cx="810151" cy="75021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7" idx="5"/>
              <a:endCxn id="16" idx="1"/>
            </p:cNvCxnSpPr>
            <p:nvPr/>
          </p:nvCxnSpPr>
          <p:spPr bwMode="auto">
            <a:xfrm>
              <a:off x="6552136" y="1842501"/>
              <a:ext cx="1004738" cy="7502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8" idx="3"/>
              <a:endCxn id="9" idx="0"/>
            </p:cNvCxnSpPr>
            <p:nvPr/>
          </p:nvCxnSpPr>
          <p:spPr bwMode="auto">
            <a:xfrm flipH="1">
              <a:off x="4419601" y="2969886"/>
              <a:ext cx="460281" cy="77453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8" idx="5"/>
              <a:endCxn id="14" idx="1"/>
            </p:cNvCxnSpPr>
            <p:nvPr/>
          </p:nvCxnSpPr>
          <p:spPr bwMode="auto">
            <a:xfrm>
              <a:off x="5310934" y="2969885"/>
              <a:ext cx="788915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>
              <a:stCxn id="9" idx="4"/>
            </p:cNvCxnSpPr>
            <p:nvPr/>
          </p:nvCxnSpPr>
          <p:spPr bwMode="auto">
            <a:xfrm>
              <a:off x="4419600" y="4277818"/>
              <a:ext cx="0" cy="69641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>
              <a:stCxn id="10" idx="4"/>
              <a:endCxn id="11" idx="0"/>
            </p:cNvCxnSpPr>
            <p:nvPr/>
          </p:nvCxnSpPr>
          <p:spPr bwMode="auto">
            <a:xfrm>
              <a:off x="4475815" y="5507636"/>
              <a:ext cx="9993" cy="4953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Straight Connector 2"/>
            <p:cNvCxnSpPr>
              <a:stCxn id="14" idx="4"/>
              <a:endCxn id="13" idx="0"/>
            </p:cNvCxnSpPr>
            <p:nvPr/>
          </p:nvCxnSpPr>
          <p:spPr bwMode="auto">
            <a:xfrm>
              <a:off x="6315374" y="4277819"/>
              <a:ext cx="21236" cy="7014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/>
            <p:cNvCxnSpPr>
              <a:stCxn id="13" idx="4"/>
              <a:endCxn id="12" idx="0"/>
            </p:cNvCxnSpPr>
            <p:nvPr/>
          </p:nvCxnSpPr>
          <p:spPr bwMode="auto">
            <a:xfrm>
              <a:off x="6336611" y="5512634"/>
              <a:ext cx="4997" cy="5071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stCxn id="14" idx="5"/>
              <a:endCxn id="15" idx="1"/>
            </p:cNvCxnSpPr>
            <p:nvPr/>
          </p:nvCxnSpPr>
          <p:spPr bwMode="auto">
            <a:xfrm>
              <a:off x="6530900" y="4199703"/>
              <a:ext cx="816112" cy="8526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Rectangle 34"/>
            <p:cNvSpPr/>
            <p:nvPr/>
          </p:nvSpPr>
          <p:spPr bwMode="auto">
            <a:xfrm>
              <a:off x="3886200" y="4419600"/>
              <a:ext cx="533400" cy="3673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itchFamily="34" charset="0"/>
                </a:rPr>
                <a:t>3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60155" y="3048000"/>
            <a:ext cx="17526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strike="sngStrike" dirty="0"/>
              <a:t>A      1</a:t>
            </a:r>
          </a:p>
          <a:p>
            <a:r>
              <a:rPr lang="en-US" dirty="0"/>
              <a:t>C      2</a:t>
            </a:r>
          </a:p>
          <a:p>
            <a:r>
              <a:rPr lang="en-US" dirty="0"/>
              <a:t>B      4</a:t>
            </a:r>
          </a:p>
          <a:p>
            <a:r>
              <a:rPr lang="en-US" dirty="0"/>
              <a:t>G      12</a:t>
            </a:r>
          </a:p>
        </p:txBody>
      </p:sp>
    </p:spTree>
    <p:extLst>
      <p:ext uri="{BB962C8B-B14F-4D97-AF65-F5344CB8AC3E}">
        <p14:creationId xmlns:p14="http://schemas.microsoft.com/office/powerpoint/2010/main" val="2920102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auto">
          <a:xfrm>
            <a:off x="5943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58674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5562600" y="30480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6854778" y="1810083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781800" y="4128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4038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4267200" y="30617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5334000" y="1842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8673" y="857923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031810" y="1387215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S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790607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A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114800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B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4171014" y="49742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4181007" y="60029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6036807" y="6019800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6031810" y="4979233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6010574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C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7257738" y="4974236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467600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cxnSp>
        <p:nvCxnSpPr>
          <p:cNvPr id="18" name="Straight Connector 17"/>
          <p:cNvCxnSpPr>
            <a:stCxn id="7" idx="3"/>
            <a:endCxn id="8" idx="7"/>
          </p:cNvCxnSpPr>
          <p:nvPr/>
        </p:nvCxnSpPr>
        <p:spPr bwMode="auto">
          <a:xfrm flipH="1">
            <a:off x="5310934" y="1842501"/>
            <a:ext cx="810151" cy="7502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5"/>
            <a:endCxn id="16" idx="1"/>
          </p:cNvCxnSpPr>
          <p:nvPr/>
        </p:nvCxnSpPr>
        <p:spPr bwMode="auto">
          <a:xfrm>
            <a:off x="6552136" y="1842501"/>
            <a:ext cx="1004738" cy="7502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stCxn id="8" idx="3"/>
            <a:endCxn id="9" idx="0"/>
          </p:cNvCxnSpPr>
          <p:nvPr/>
        </p:nvCxnSpPr>
        <p:spPr bwMode="auto">
          <a:xfrm flipH="1">
            <a:off x="4419601" y="2969886"/>
            <a:ext cx="460281" cy="77453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8" idx="5"/>
            <a:endCxn id="14" idx="1"/>
          </p:cNvCxnSpPr>
          <p:nvPr/>
        </p:nvCxnSpPr>
        <p:spPr bwMode="auto">
          <a:xfrm>
            <a:off x="5310934" y="2969885"/>
            <a:ext cx="788915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>
            <a:stCxn id="9" idx="4"/>
          </p:cNvCxnSpPr>
          <p:nvPr/>
        </p:nvCxnSpPr>
        <p:spPr bwMode="auto">
          <a:xfrm>
            <a:off x="4419600" y="4277818"/>
            <a:ext cx="0" cy="6964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0" idx="4"/>
            <a:endCxn id="11" idx="0"/>
          </p:cNvCxnSpPr>
          <p:nvPr/>
        </p:nvCxnSpPr>
        <p:spPr bwMode="auto">
          <a:xfrm>
            <a:off x="4475815" y="5507636"/>
            <a:ext cx="9993" cy="495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Straight Connector 2"/>
          <p:cNvCxnSpPr>
            <a:stCxn id="14" idx="4"/>
            <a:endCxn id="13" idx="0"/>
          </p:cNvCxnSpPr>
          <p:nvPr/>
        </p:nvCxnSpPr>
        <p:spPr bwMode="auto">
          <a:xfrm>
            <a:off x="6315374" y="4277819"/>
            <a:ext cx="21236" cy="7014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/>
          <p:cNvCxnSpPr>
            <a:stCxn id="13" idx="4"/>
            <a:endCxn id="12" idx="0"/>
          </p:cNvCxnSpPr>
          <p:nvPr/>
        </p:nvCxnSpPr>
        <p:spPr bwMode="auto">
          <a:xfrm>
            <a:off x="6336611" y="5512634"/>
            <a:ext cx="4997" cy="5071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5" idx="1"/>
          </p:cNvCxnSpPr>
          <p:nvPr/>
        </p:nvCxnSpPr>
        <p:spPr bwMode="auto">
          <a:xfrm>
            <a:off x="6532682" y="4199703"/>
            <a:ext cx="814331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38862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702" y="3004044"/>
            <a:ext cx="17526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strike="sngStrike" dirty="0"/>
              <a:t>A      1</a:t>
            </a:r>
          </a:p>
          <a:p>
            <a:r>
              <a:rPr lang="en-US" strike="sngStrike" dirty="0"/>
              <a:t>C      2</a:t>
            </a:r>
          </a:p>
          <a:p>
            <a:r>
              <a:rPr lang="en-US" dirty="0"/>
              <a:t>D      3</a:t>
            </a:r>
          </a:p>
          <a:p>
            <a:r>
              <a:rPr lang="en-US" dirty="0"/>
              <a:t>G      4</a:t>
            </a:r>
          </a:p>
          <a:p>
            <a:r>
              <a:rPr lang="en-US" dirty="0"/>
              <a:t>B      4</a:t>
            </a:r>
          </a:p>
          <a:p>
            <a:r>
              <a:rPr lang="en-US" dirty="0"/>
              <a:t>G      12</a:t>
            </a:r>
          </a:p>
        </p:txBody>
      </p:sp>
    </p:spTree>
    <p:extLst>
      <p:ext uri="{BB962C8B-B14F-4D97-AF65-F5344CB8AC3E}">
        <p14:creationId xmlns:p14="http://schemas.microsoft.com/office/powerpoint/2010/main" val="1402689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auto">
          <a:xfrm>
            <a:off x="5943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58674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5562600" y="30480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6854778" y="1810083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781800" y="4128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4038600" y="55763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4267200" y="30617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5334000" y="18425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98888" y="842317"/>
            <a:ext cx="7793037" cy="85248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Uniform Cost search 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031810" y="1387215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S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790607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A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114800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B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4171014" y="49742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4181007" y="6002936"/>
            <a:ext cx="609600" cy="533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6036807" y="60198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6031810" y="4979233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D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6010574" y="3744418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C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7239000" y="4974236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7467600" y="2514600"/>
            <a:ext cx="609600" cy="5334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  <p:cxnSp>
        <p:nvCxnSpPr>
          <p:cNvPr id="18" name="Straight Connector 17"/>
          <p:cNvCxnSpPr>
            <a:stCxn id="7" idx="3"/>
            <a:endCxn id="8" idx="7"/>
          </p:cNvCxnSpPr>
          <p:nvPr/>
        </p:nvCxnSpPr>
        <p:spPr bwMode="auto">
          <a:xfrm flipH="1">
            <a:off x="5310934" y="1842501"/>
            <a:ext cx="810151" cy="7502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5"/>
            <a:endCxn id="16" idx="1"/>
          </p:cNvCxnSpPr>
          <p:nvPr/>
        </p:nvCxnSpPr>
        <p:spPr bwMode="auto">
          <a:xfrm>
            <a:off x="6552136" y="1842501"/>
            <a:ext cx="1004738" cy="7502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stCxn id="8" idx="3"/>
            <a:endCxn id="9" idx="0"/>
          </p:cNvCxnSpPr>
          <p:nvPr/>
        </p:nvCxnSpPr>
        <p:spPr bwMode="auto">
          <a:xfrm flipH="1">
            <a:off x="4419601" y="2969886"/>
            <a:ext cx="460281" cy="77453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8" idx="5"/>
            <a:endCxn id="14" idx="1"/>
          </p:cNvCxnSpPr>
          <p:nvPr/>
        </p:nvCxnSpPr>
        <p:spPr bwMode="auto">
          <a:xfrm>
            <a:off x="5310934" y="2969885"/>
            <a:ext cx="788915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>
            <a:stCxn id="9" idx="4"/>
          </p:cNvCxnSpPr>
          <p:nvPr/>
        </p:nvCxnSpPr>
        <p:spPr bwMode="auto">
          <a:xfrm>
            <a:off x="4419600" y="4277818"/>
            <a:ext cx="0" cy="6964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0" idx="4"/>
            <a:endCxn id="11" idx="0"/>
          </p:cNvCxnSpPr>
          <p:nvPr/>
        </p:nvCxnSpPr>
        <p:spPr bwMode="auto">
          <a:xfrm>
            <a:off x="4475815" y="5507636"/>
            <a:ext cx="9993" cy="495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Straight Connector 2"/>
          <p:cNvCxnSpPr>
            <a:stCxn id="14" idx="4"/>
            <a:endCxn id="13" idx="0"/>
          </p:cNvCxnSpPr>
          <p:nvPr/>
        </p:nvCxnSpPr>
        <p:spPr bwMode="auto">
          <a:xfrm>
            <a:off x="6315374" y="4277819"/>
            <a:ext cx="21236" cy="7014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/>
          <p:cNvCxnSpPr>
            <a:stCxn id="13" idx="4"/>
            <a:endCxn id="12" idx="0"/>
          </p:cNvCxnSpPr>
          <p:nvPr/>
        </p:nvCxnSpPr>
        <p:spPr bwMode="auto">
          <a:xfrm>
            <a:off x="6336611" y="5512634"/>
            <a:ext cx="4997" cy="5071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14" idx="5"/>
            <a:endCxn id="15" idx="1"/>
          </p:cNvCxnSpPr>
          <p:nvPr/>
        </p:nvCxnSpPr>
        <p:spPr bwMode="auto">
          <a:xfrm>
            <a:off x="6530900" y="4199703"/>
            <a:ext cx="797374" cy="852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3886200" y="4419600"/>
            <a:ext cx="533400" cy="3673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598" y="3061700"/>
            <a:ext cx="17526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frontier (P.Q)</a:t>
            </a:r>
          </a:p>
          <a:p>
            <a:r>
              <a:rPr lang="en-US" strike="sngStrike" dirty="0"/>
              <a:t>S      0</a:t>
            </a:r>
          </a:p>
          <a:p>
            <a:r>
              <a:rPr lang="en-US" strike="sngStrike" dirty="0"/>
              <a:t>A      1</a:t>
            </a:r>
          </a:p>
          <a:p>
            <a:r>
              <a:rPr lang="en-US" strike="sngStrike" dirty="0"/>
              <a:t>C      2</a:t>
            </a:r>
          </a:p>
          <a:p>
            <a:r>
              <a:rPr lang="en-US" strike="sngStrike" dirty="0"/>
              <a:t>D      3</a:t>
            </a:r>
          </a:p>
          <a:p>
            <a:r>
              <a:rPr lang="en-US" strike="sngStrike" dirty="0">
                <a:solidFill>
                  <a:srgbClr val="00B050"/>
                </a:solidFill>
              </a:rPr>
              <a:t>G      4</a:t>
            </a:r>
          </a:p>
          <a:p>
            <a:r>
              <a:rPr lang="en-US" dirty="0"/>
              <a:t>B      4</a:t>
            </a:r>
          </a:p>
          <a:p>
            <a:r>
              <a:rPr lang="en-US" dirty="0"/>
              <a:t>G      6</a:t>
            </a:r>
          </a:p>
          <a:p>
            <a:r>
              <a:rPr lang="en-US" dirty="0"/>
              <a:t>G      12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 flipH="1">
            <a:off x="5486400" y="2005518"/>
            <a:ext cx="661600" cy="661482"/>
          </a:xfrm>
          <a:prstGeom prst="line">
            <a:avLst/>
          </a:prstGeom>
          <a:ln w="254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 bwMode="auto">
          <a:xfrm>
            <a:off x="5486400" y="2910468"/>
            <a:ext cx="635748" cy="747133"/>
          </a:xfrm>
          <a:prstGeom prst="line">
            <a:avLst/>
          </a:prstGeom>
          <a:ln w="254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 bwMode="auto">
          <a:xfrm>
            <a:off x="6675660" y="4111151"/>
            <a:ext cx="712519" cy="805606"/>
          </a:xfrm>
          <a:prstGeom prst="line">
            <a:avLst/>
          </a:prstGeom>
          <a:ln w="254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 bwMode="auto">
          <a:xfrm>
            <a:off x="7239000" y="4968766"/>
            <a:ext cx="609600" cy="533400"/>
          </a:xfrm>
          <a:prstGeom prst="ellipse">
            <a:avLst/>
          </a:prstGeom>
          <a:solidFill>
            <a:srgbClr val="007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ahoma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68475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1261241" y="823914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Uniform-cost Search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1" y="1878729"/>
            <a:ext cx="9680028" cy="460851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The search is guided by the path cost instead of depths, so complexity cannot be easily characterized by </a:t>
            </a:r>
            <a:r>
              <a:rPr lang="en-US" sz="2400" i="1" dirty="0"/>
              <a:t>b</a:t>
            </a:r>
            <a:r>
              <a:rPr lang="en-US" sz="2400" dirty="0"/>
              <a:t> and </a:t>
            </a:r>
            <a:r>
              <a:rPr lang="en-US" sz="2400" i="1" dirty="0"/>
              <a:t>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Let </a:t>
            </a:r>
            <a:r>
              <a:rPr lang="en-US" sz="2400" i="1" dirty="0"/>
              <a:t>C </a:t>
            </a:r>
            <a:r>
              <a:rPr lang="en-US" sz="2400" baseline="30000" dirty="0"/>
              <a:t>*</a:t>
            </a:r>
            <a:r>
              <a:rPr lang="en-US" sz="2400" dirty="0"/>
              <a:t> is the cost of the optimal solution and every action cost is at least </a:t>
            </a:r>
            <a:r>
              <a:rPr lang="el-GR" sz="2400" dirty="0">
                <a:cs typeface="Arial" pitchFamily="34" charset="0"/>
              </a:rPr>
              <a:t>ε</a:t>
            </a: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Complete?</a:t>
            </a:r>
            <a:r>
              <a:rPr lang="en-US" sz="2400" dirty="0"/>
              <a:t> Yes, if step cost </a:t>
            </a:r>
            <a:r>
              <a:rPr lang="en-US" sz="2400" dirty="0">
                <a:cs typeface="Arial" pitchFamily="34" charset="0"/>
              </a:rPr>
              <a:t>≥ </a:t>
            </a:r>
            <a:r>
              <a:rPr lang="el-GR" sz="2400" dirty="0">
                <a:cs typeface="Arial" pitchFamily="34" charset="0"/>
              </a:rPr>
              <a:t>ε</a:t>
            </a:r>
            <a:r>
              <a:rPr lang="en-US" sz="2400" dirty="0">
                <a:cs typeface="Arial" pitchFamily="34" charset="0"/>
              </a:rPr>
              <a:t>, a positive number</a:t>
            </a:r>
            <a:endParaRPr 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Optimal?</a:t>
            </a:r>
            <a:r>
              <a:rPr lang="en-US" sz="2400" dirty="0"/>
              <a:t> Yes – nodes expanded in increasing order of </a:t>
            </a:r>
            <a:r>
              <a:rPr lang="en-US" sz="2400" i="1" dirty="0"/>
              <a:t>g(n)</a:t>
            </a: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# of nodes with </a:t>
            </a:r>
            <a:r>
              <a:rPr lang="en-US" sz="2400" i="1" dirty="0"/>
              <a:t>g </a:t>
            </a:r>
            <a:r>
              <a:rPr lang="en-US" sz="2400" dirty="0">
                <a:cs typeface="Arial" pitchFamily="34" charset="0"/>
              </a:rPr>
              <a:t>≤</a:t>
            </a:r>
            <a:r>
              <a:rPr lang="en-US" sz="2400" dirty="0"/>
              <a:t> cost of optimal solution,    </a:t>
            </a:r>
            <a:r>
              <a:rPr lang="en-US" sz="2400" i="1" dirty="0"/>
              <a:t>O(b</a:t>
            </a:r>
            <a:r>
              <a:rPr lang="en-US" sz="2400" i="1" baseline="30000" dirty="0"/>
              <a:t>[C*/ </a:t>
            </a:r>
            <a:r>
              <a:rPr lang="el-GR" sz="2400" i="1" baseline="30000" dirty="0">
                <a:cs typeface="Arial" pitchFamily="34" charset="0"/>
              </a:rPr>
              <a:t>ε</a:t>
            </a:r>
            <a:r>
              <a:rPr lang="en-US" sz="2400" i="1" baseline="30000" dirty="0">
                <a:cs typeface="Arial" pitchFamily="34" charset="0"/>
              </a:rPr>
              <a:t>]</a:t>
            </a:r>
            <a:r>
              <a:rPr lang="en-US" sz="2400" i="1" dirty="0"/>
              <a:t>)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Space?</a:t>
            </a:r>
            <a:r>
              <a:rPr lang="en-US" sz="2400" dirty="0"/>
              <a:t> # of nodes with </a:t>
            </a:r>
            <a:r>
              <a:rPr lang="en-US" sz="2400" i="1" dirty="0"/>
              <a:t>g</a:t>
            </a:r>
            <a:r>
              <a:rPr lang="en-US" sz="2400" dirty="0"/>
              <a:t> </a:t>
            </a:r>
            <a:r>
              <a:rPr lang="en-US" sz="2400" dirty="0">
                <a:cs typeface="Arial" pitchFamily="34" charset="0"/>
              </a:rPr>
              <a:t>≤ </a:t>
            </a:r>
            <a:r>
              <a:rPr lang="en-US" sz="2400" dirty="0"/>
              <a:t>cost of optimal solution,  </a:t>
            </a:r>
            <a:r>
              <a:rPr lang="en-US" sz="2400" i="1" dirty="0"/>
              <a:t>O(b</a:t>
            </a:r>
            <a:r>
              <a:rPr lang="en-US" sz="2400" i="1" baseline="30000" dirty="0"/>
              <a:t>[C*/ </a:t>
            </a:r>
            <a:r>
              <a:rPr lang="el-GR" sz="2400" i="1" baseline="30000" dirty="0">
                <a:cs typeface="Arial" pitchFamily="34" charset="0"/>
              </a:rPr>
              <a:t>ε</a:t>
            </a:r>
            <a:r>
              <a:rPr lang="en-US" sz="2400" i="1" baseline="30000" dirty="0">
                <a:cs typeface="Arial" pitchFamily="34" charset="0"/>
              </a:rPr>
              <a:t>]</a:t>
            </a:r>
            <a:r>
              <a:rPr lang="en-US" sz="2400" i="1" dirty="0"/>
              <a:t>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07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1261241" y="823914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Uniform-cost Search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1" y="1878729"/>
            <a:ext cx="9680028" cy="46085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# of nodes with </a:t>
            </a:r>
            <a:r>
              <a:rPr lang="en-US" sz="2400" i="1" dirty="0"/>
              <a:t>g </a:t>
            </a:r>
            <a:r>
              <a:rPr lang="en-US" sz="2400" dirty="0">
                <a:cs typeface="Arial" pitchFamily="34" charset="0"/>
              </a:rPr>
              <a:t>≤</a:t>
            </a:r>
            <a:r>
              <a:rPr lang="en-US" sz="2400" dirty="0"/>
              <a:t> cost of optimal solution,    </a:t>
            </a:r>
            <a:r>
              <a:rPr lang="en-US" sz="2400" i="1" dirty="0"/>
              <a:t>O(b</a:t>
            </a:r>
            <a:r>
              <a:rPr lang="en-US" sz="2400" i="1" baseline="30000" dirty="0"/>
              <a:t>[C*/ </a:t>
            </a:r>
            <a:r>
              <a:rPr lang="el-GR" sz="2400" i="1" baseline="30000" dirty="0">
                <a:cs typeface="Arial" pitchFamily="34" charset="0"/>
              </a:rPr>
              <a:t>ε</a:t>
            </a:r>
            <a:r>
              <a:rPr lang="en-US" sz="2400" i="1" baseline="30000" dirty="0">
                <a:cs typeface="Arial" pitchFamily="34" charset="0"/>
              </a:rPr>
              <a:t>]</a:t>
            </a:r>
            <a:r>
              <a:rPr lang="en-US" sz="2400" i="1" dirty="0"/>
              <a:t>)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3A461F9-9107-47D5-91BC-F96C47D49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117" y="2259475"/>
            <a:ext cx="7399283" cy="1482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C*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cost of the optimal (cheapest) 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l-GR" sz="3200" i="1" baseline="30000" dirty="0">
                <a:cs typeface="Arial" pitchFamily="34" charset="0"/>
              </a:rPr>
              <a:t>ε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minimum cost of any single edge. This must be a positive value &gt; 0) to prevent the algorithm from getting stuck in infinite loops of zero-cost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branching factor (average number of children per node).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09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1722</TotalTime>
  <Words>804</Words>
  <Application>Microsoft Office PowerPoint</Application>
  <PresentationFormat>Widescreen</PresentationFormat>
  <Paragraphs>199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Narrow</vt:lpstr>
      <vt:lpstr>Book Antiqua</vt:lpstr>
      <vt:lpstr>Calibri</vt:lpstr>
      <vt:lpstr>Calibri Light</vt:lpstr>
      <vt:lpstr>Google Sans Text</vt:lpstr>
      <vt:lpstr>Tahoma</vt:lpstr>
      <vt:lpstr>Wingdings</vt:lpstr>
      <vt:lpstr>Office Theme</vt:lpstr>
      <vt:lpstr>  Artificial Intelligence 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Properties of Depth-first Search</vt:lpstr>
      <vt:lpstr>Uniform-cost Search</vt:lpstr>
      <vt:lpstr>Uniform Cost search </vt:lpstr>
      <vt:lpstr>Uniform Cost search </vt:lpstr>
      <vt:lpstr>Uniform Cost search </vt:lpstr>
      <vt:lpstr>Uniform Cost search </vt:lpstr>
      <vt:lpstr>Uniform Cost search </vt:lpstr>
      <vt:lpstr>Uniform Cost search </vt:lpstr>
      <vt:lpstr>Uniform-cost Search</vt:lpstr>
      <vt:lpstr>Uniform-cost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Sikandar S. Toor</dc:creator>
  <cp:lastModifiedBy>Sibghat Ullah</cp:lastModifiedBy>
  <cp:revision>243</cp:revision>
  <dcterms:created xsi:type="dcterms:W3CDTF">2019-07-02T12:12:32Z</dcterms:created>
  <dcterms:modified xsi:type="dcterms:W3CDTF">2026-03-18T07:41:49Z</dcterms:modified>
</cp:coreProperties>
</file>