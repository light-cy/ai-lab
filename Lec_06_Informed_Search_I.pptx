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1"/>
  </p:notesMasterIdLst>
  <p:handoutMasterIdLst>
    <p:handoutMasterId r:id="rId52"/>
  </p:handoutMasterIdLst>
  <p:sldIdLst>
    <p:sldId id="256" r:id="rId2"/>
    <p:sldId id="330" r:id="rId3"/>
    <p:sldId id="378" r:id="rId4"/>
    <p:sldId id="329" r:id="rId5"/>
    <p:sldId id="374" r:id="rId6"/>
    <p:sldId id="375" r:id="rId7"/>
    <p:sldId id="258" r:id="rId8"/>
    <p:sldId id="348" r:id="rId9"/>
    <p:sldId id="341" r:id="rId10"/>
    <p:sldId id="259" r:id="rId11"/>
    <p:sldId id="349" r:id="rId12"/>
    <p:sldId id="268" r:id="rId13"/>
    <p:sldId id="269" r:id="rId14"/>
    <p:sldId id="350" r:id="rId15"/>
    <p:sldId id="332" r:id="rId16"/>
    <p:sldId id="275" r:id="rId17"/>
    <p:sldId id="276" r:id="rId18"/>
    <p:sldId id="277" r:id="rId19"/>
    <p:sldId id="338" r:id="rId20"/>
    <p:sldId id="278" r:id="rId21"/>
    <p:sldId id="372" r:id="rId22"/>
    <p:sldId id="376" r:id="rId23"/>
    <p:sldId id="340" r:id="rId24"/>
    <p:sldId id="314" r:id="rId25"/>
    <p:sldId id="304" r:id="rId26"/>
    <p:sldId id="305" r:id="rId27"/>
    <p:sldId id="334" r:id="rId28"/>
    <p:sldId id="345" r:id="rId29"/>
    <p:sldId id="335" r:id="rId30"/>
    <p:sldId id="310" r:id="rId31"/>
    <p:sldId id="312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2" r:id="rId46"/>
    <p:sldId id="303" r:id="rId47"/>
    <p:sldId id="383" r:id="rId48"/>
    <p:sldId id="382" r:id="rId49"/>
    <p:sldId id="343" r:id="rId50"/>
  </p:sldIdLst>
  <p:sldSz cx="12192000" cy="6858000"/>
  <p:notesSz cx="6881813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microsoft.com/office/2016/11/relationships/changesInfo" Target="changesInfos/changesInfo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bghat Ullah" userId="70fa0353-8769-46b4-8509-fc74b81c1661" providerId="ADAL" clId="{D5B999B5-A62D-4FFD-8BF7-D93F9B253242}"/>
    <pc:docChg chg="custSel delSld modSld">
      <pc:chgData name="Sibghat Ullah" userId="70fa0353-8769-46b4-8509-fc74b81c1661" providerId="ADAL" clId="{D5B999B5-A62D-4FFD-8BF7-D93F9B253242}" dt="2026-03-23T17:58:03.103" v="42" actId="1076"/>
      <pc:docMkLst>
        <pc:docMk/>
      </pc:docMkLst>
      <pc:sldChg chg="addSp modSp mod">
        <pc:chgData name="Sibghat Ullah" userId="70fa0353-8769-46b4-8509-fc74b81c1661" providerId="ADAL" clId="{D5B999B5-A62D-4FFD-8BF7-D93F9B253242}" dt="2026-03-23T17:58:03.103" v="42" actId="1076"/>
        <pc:sldMkLst>
          <pc:docMk/>
          <pc:sldMk cId="1638621861" sldId="350"/>
        </pc:sldMkLst>
        <pc:spChg chg="mod">
          <ac:chgData name="Sibghat Ullah" userId="70fa0353-8769-46b4-8509-fc74b81c1661" providerId="ADAL" clId="{D5B999B5-A62D-4FFD-8BF7-D93F9B253242}" dt="2026-03-23T17:57:21.225" v="22" actId="1076"/>
          <ac:spMkLst>
            <pc:docMk/>
            <pc:sldMk cId="1638621861" sldId="350"/>
            <ac:spMk id="3" creationId="{00000000-0000-0000-0000-000000000000}"/>
          </ac:spMkLst>
        </pc:spChg>
        <pc:spChg chg="add mod">
          <ac:chgData name="Sibghat Ullah" userId="70fa0353-8769-46b4-8509-fc74b81c1661" providerId="ADAL" clId="{D5B999B5-A62D-4FFD-8BF7-D93F9B253242}" dt="2026-03-23T17:58:03.103" v="42" actId="1076"/>
          <ac:spMkLst>
            <pc:docMk/>
            <pc:sldMk cId="1638621861" sldId="350"/>
            <ac:spMk id="4" creationId="{D4D1B352-6E35-409A-AE9E-72B6BDF9BC4D}"/>
          </ac:spMkLst>
        </pc:spChg>
      </pc:sldChg>
      <pc:sldChg chg="addSp delSp modSp mod delAnim">
        <pc:chgData name="Sibghat Ullah" userId="70fa0353-8769-46b4-8509-fc74b81c1661" providerId="ADAL" clId="{D5B999B5-A62D-4FFD-8BF7-D93F9B253242}" dt="2026-03-23T17:10:30.297" v="21" actId="403"/>
        <pc:sldMkLst>
          <pc:docMk/>
          <pc:sldMk cId="2309383942" sldId="378"/>
        </pc:sldMkLst>
        <pc:spChg chg="del">
          <ac:chgData name="Sibghat Ullah" userId="70fa0353-8769-46b4-8509-fc74b81c1661" providerId="ADAL" clId="{D5B999B5-A62D-4FFD-8BF7-D93F9B253242}" dt="2026-03-23T17:08:53.020" v="1" actId="478"/>
          <ac:spMkLst>
            <pc:docMk/>
            <pc:sldMk cId="2309383942" sldId="378"/>
            <ac:spMk id="2" creationId="{00000000-0000-0000-0000-000000000000}"/>
          </ac:spMkLst>
        </pc:spChg>
        <pc:spChg chg="add mod">
          <ac:chgData name="Sibghat Ullah" userId="70fa0353-8769-46b4-8509-fc74b81c1661" providerId="ADAL" clId="{D5B999B5-A62D-4FFD-8BF7-D93F9B253242}" dt="2026-03-23T17:09:11.876" v="4"/>
          <ac:spMkLst>
            <pc:docMk/>
            <pc:sldMk cId="2309383942" sldId="378"/>
            <ac:spMk id="5" creationId="{B18A430C-8BB8-44C3-B379-0E0EE7C296EC}"/>
          </ac:spMkLst>
        </pc:spChg>
        <pc:graphicFrameChg chg="add mod modGraphic">
          <ac:chgData name="Sibghat Ullah" userId="70fa0353-8769-46b4-8509-fc74b81c1661" providerId="ADAL" clId="{D5B999B5-A62D-4FFD-8BF7-D93F9B253242}" dt="2026-03-23T17:10:30.297" v="21" actId="403"/>
          <ac:graphicFrameMkLst>
            <pc:docMk/>
            <pc:sldMk cId="2309383942" sldId="378"/>
            <ac:graphicFrameMk id="6" creationId="{86933CBB-EA25-433B-B8AE-5680EF638F4E}"/>
          </ac:graphicFrameMkLst>
        </pc:graphicFrameChg>
        <pc:picChg chg="del">
          <ac:chgData name="Sibghat Ullah" userId="70fa0353-8769-46b4-8509-fc74b81c1661" providerId="ADAL" clId="{D5B999B5-A62D-4FFD-8BF7-D93F9B253242}" dt="2026-03-23T17:08:49.631" v="0" actId="478"/>
          <ac:picMkLst>
            <pc:docMk/>
            <pc:sldMk cId="2309383942" sldId="378"/>
            <ac:picMk id="3" creationId="{00000000-0000-0000-0000-000000000000}"/>
          </ac:picMkLst>
        </pc:picChg>
      </pc:sldChg>
      <pc:sldChg chg="del">
        <pc:chgData name="Sibghat Ullah" userId="70fa0353-8769-46b4-8509-fc74b81c1661" providerId="ADAL" clId="{D5B999B5-A62D-4FFD-8BF7-D93F9B253242}" dt="2026-03-23T17:09:23.472" v="5" actId="47"/>
        <pc:sldMkLst>
          <pc:docMk/>
          <pc:sldMk cId="2570470319" sldId="379"/>
        </pc:sldMkLst>
      </pc:sldChg>
      <pc:sldChg chg="del">
        <pc:chgData name="Sibghat Ullah" userId="70fa0353-8769-46b4-8509-fc74b81c1661" providerId="ADAL" clId="{D5B999B5-A62D-4FFD-8BF7-D93F9B253242}" dt="2026-03-23T17:09:23.472" v="5" actId="47"/>
        <pc:sldMkLst>
          <pc:docMk/>
          <pc:sldMk cId="1520846533" sldId="380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119" cy="466434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98102" y="0"/>
            <a:ext cx="2982119" cy="466434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r">
              <a:defRPr sz="1200"/>
            </a:lvl1pPr>
          </a:lstStyle>
          <a:p>
            <a:fld id="{7206C288-D914-44A0-A220-2809C09F1F66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2982119" cy="466433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98102" y="8829967"/>
            <a:ext cx="2982119" cy="466433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r">
              <a:defRPr sz="1200"/>
            </a:lvl1pPr>
          </a:lstStyle>
          <a:p>
            <a:fld id="{3E38EE1E-E73A-4F92-B082-85118239E8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67850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119" cy="466434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98102" y="0"/>
            <a:ext cx="2982119" cy="466434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r">
              <a:defRPr sz="1200"/>
            </a:lvl1pPr>
          </a:lstStyle>
          <a:p>
            <a:fld id="{18F4AB14-2711-4A3F-A910-0B89C385DB7D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540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46" tIns="46223" rIns="92446" bIns="46223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182" y="4473892"/>
            <a:ext cx="5505450" cy="3660458"/>
          </a:xfrm>
          <a:prstGeom prst="rect">
            <a:avLst/>
          </a:prstGeom>
        </p:spPr>
        <p:txBody>
          <a:bodyPr vert="horz" lIns="92446" tIns="46223" rIns="92446" bIns="46223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2982119" cy="466433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98102" y="8829967"/>
            <a:ext cx="2982119" cy="466433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r">
              <a:defRPr sz="1200"/>
            </a:lvl1pPr>
          </a:lstStyle>
          <a:p>
            <a:fld id="{55053CC5-34A2-4C2C-B6D3-4356A0DD45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4436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AD5590-9C90-486D-8FA8-38179D6EA4CC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6656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19100" y="733425"/>
            <a:ext cx="6502400" cy="3659188"/>
          </a:xfrm>
          <a:ln/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42653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902207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436603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526192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483596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63308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19100" y="733425"/>
            <a:ext cx="6502400" cy="3659188"/>
          </a:xfrm>
          <a:ln/>
        </p:spPr>
      </p:sp>
      <p:sp>
        <p:nvSpPr>
          <p:cNvPr id="5222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>
                <a:latin typeface="Arial" charset="0"/>
              </a:rPr>
              <a:t>For any search problem, you know the goal.  Now, you have an idea of how far away you are from the goal.</a:t>
            </a:r>
          </a:p>
        </p:txBody>
      </p:sp>
    </p:spTree>
    <p:extLst>
      <p:ext uri="{BB962C8B-B14F-4D97-AF65-F5344CB8AC3E}">
        <p14:creationId xmlns:p14="http://schemas.microsoft.com/office/powerpoint/2010/main" val="39924961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072516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CA454-0CD1-4A13-9F12-AB2C4E12E4FF}" type="datetime1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74AA4-8CB9-4418-A1AA-B521F6DF31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558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FE018-55CF-44E2-B7C0-B2195CB4B31D}" type="datetime1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74AA4-8CB9-4418-A1AA-B521F6DF31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49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D1B70-9A2B-45EC-A8BF-23CD2EFB40E1}" type="datetime1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74AA4-8CB9-4418-A1AA-B521F6DF31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577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08E8D-3B77-4BA9-878F-4FE2D906592E}" type="datetime1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74AA4-8CB9-4418-A1AA-B521F6DF31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512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0D069-B941-4BCE-B54E-3434F3A2BFAC}" type="datetime1">
              <a:rPr lang="en-US" smtClean="0"/>
              <a:t>3/23/2026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74AA4-8CB9-4418-A1AA-B521F6DF31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6991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928A9-81BD-4A4E-BE93-7FE2AA02B049}" type="datetime1">
              <a:rPr lang="en-US" smtClean="0"/>
              <a:t>3/23/2026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74AA4-8CB9-4418-A1AA-B521F6DF31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4401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C852F-16C1-461B-8440-F755BBAEAE18}" type="datetime1">
              <a:rPr lang="en-US" smtClean="0"/>
              <a:t>3/23/2026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74AA4-8CB9-4418-A1AA-B521F6DF31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601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6B412-F0A1-4C38-B826-674607468632}" type="datetime1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74AA4-8CB9-4418-A1AA-B521F6DF31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7643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DF131-D558-413A-9CD9-8666F4EAA722}" type="datetime1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74AA4-8CB9-4418-A1AA-B521F6DF31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150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461F0-60DC-41A6-8441-8633E8217DC3}" type="datetime1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74AA4-8CB9-4418-A1AA-B521F6DF31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4595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8A7F7-D989-4345-94E9-3379C9034367}" type="datetime1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74AA4-8CB9-4418-A1AA-B521F6DF31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1991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507EC8-92A3-4192-A760-9BCA6242C441}" type="datetime1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274AA4-8CB9-4418-A1AA-B521F6DF31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806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wmf"/><Relationship Id="rId5" Type="http://schemas.openxmlformats.org/officeDocument/2006/relationships/image" Target="../media/image21.wmf"/><Relationship Id="rId4" Type="http://schemas.openxmlformats.org/officeDocument/2006/relationships/image" Target="../media/image20.wmf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56522" y="821634"/>
            <a:ext cx="9144000" cy="1416119"/>
          </a:xfrm>
        </p:spPr>
        <p:txBody>
          <a:bodyPr/>
          <a:lstStyle/>
          <a:p>
            <a:r>
              <a:rPr lang="en-US" dirty="0"/>
              <a:t>Informed Search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56522" y="2237753"/>
            <a:ext cx="9144000" cy="1655762"/>
          </a:xfrm>
        </p:spPr>
        <p:txBody>
          <a:bodyPr/>
          <a:lstStyle/>
          <a:p>
            <a:r>
              <a:rPr lang="en-US" dirty="0"/>
              <a:t>Heuristics Search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3018" y="2946365"/>
            <a:ext cx="7011008" cy="351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079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Recap: Search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2400" dirty="0"/>
              <a:t>Search problem: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/>
              <a:t>States (configurations of the world)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/>
              <a:t>Actions and costs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/>
              <a:t>Successor function (world dynamics)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/>
              <a:t>Start state and goal test</a:t>
            </a:r>
          </a:p>
          <a:p>
            <a:pPr>
              <a:lnSpc>
                <a:spcPct val="90000"/>
              </a:lnSpc>
            </a:pPr>
            <a:endParaRPr lang="en-US" sz="1500" dirty="0"/>
          </a:p>
          <a:p>
            <a:pPr eaLnBrk="1" hangingPunct="1">
              <a:lnSpc>
                <a:spcPct val="90000"/>
              </a:lnSpc>
            </a:pPr>
            <a:r>
              <a:rPr lang="en-US" sz="2400" dirty="0"/>
              <a:t>Search tree: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/>
              <a:t>Nodes: represent plans for reaching states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/>
              <a:t>Plans have costs (sum of action costs)</a:t>
            </a:r>
          </a:p>
          <a:p>
            <a:pPr>
              <a:lnSpc>
                <a:spcPct val="90000"/>
              </a:lnSpc>
            </a:pPr>
            <a:endParaRPr lang="en-US" sz="1500" dirty="0"/>
          </a:p>
          <a:p>
            <a:pPr eaLnBrk="1" hangingPunct="1">
              <a:lnSpc>
                <a:spcPct val="90000"/>
              </a:lnSpc>
            </a:pPr>
            <a:r>
              <a:rPr lang="en-US" sz="2400" dirty="0"/>
              <a:t>Search algorithm: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/>
              <a:t>Systematically builds a search tree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/>
              <a:t>Chooses an ordering of the fringe (unexplored nodes)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/>
              <a:t>Optimal: finds least-cost plans</a:t>
            </a:r>
          </a:p>
        </p:txBody>
      </p:sp>
    </p:spTree>
    <p:extLst>
      <p:ext uri="{BB962C8B-B14F-4D97-AF65-F5344CB8AC3E}">
        <p14:creationId xmlns:p14="http://schemas.microsoft.com/office/powerpoint/2010/main" val="7065511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18A430C-8BB8-44C3-B379-0E0EE7C29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Uninformed vs. Informed Search</a:t>
            </a:r>
            <a:endParaRPr lang="en-PK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6933CBB-EA25-433B-B8AE-5680EF638F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053381"/>
              </p:ext>
            </p:extLst>
          </p:nvPr>
        </p:nvGraphicFramePr>
        <p:xfrm>
          <a:off x="838200" y="1410843"/>
          <a:ext cx="10700208" cy="4890194"/>
        </p:xfrm>
        <a:graphic>
          <a:graphicData uri="http://schemas.openxmlformats.org/drawingml/2006/table">
            <a:tbl>
              <a:tblPr/>
              <a:tblGrid>
                <a:gridCol w="3566736">
                  <a:extLst>
                    <a:ext uri="{9D8B030D-6E8A-4147-A177-3AD203B41FA5}">
                      <a16:colId xmlns:a16="http://schemas.microsoft.com/office/drawing/2014/main" val="3797972771"/>
                    </a:ext>
                  </a:extLst>
                </a:gridCol>
                <a:gridCol w="3566736">
                  <a:extLst>
                    <a:ext uri="{9D8B030D-6E8A-4147-A177-3AD203B41FA5}">
                      <a16:colId xmlns:a16="http://schemas.microsoft.com/office/drawing/2014/main" val="1415283832"/>
                    </a:ext>
                  </a:extLst>
                </a:gridCol>
                <a:gridCol w="3566736">
                  <a:extLst>
                    <a:ext uri="{9D8B030D-6E8A-4147-A177-3AD203B41FA5}">
                      <a16:colId xmlns:a16="http://schemas.microsoft.com/office/drawing/2014/main" val="2817289282"/>
                    </a:ext>
                  </a:extLst>
                </a:gridCol>
              </a:tblGrid>
              <a:tr h="408053">
                <a:tc>
                  <a:txBody>
                    <a:bodyPr/>
                    <a:lstStyle/>
                    <a:p>
                      <a:pPr rtl="0"/>
                      <a:r>
                        <a:rPr lang="en-US" sz="18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Feature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8346" marR="68346" marT="91127" marB="9112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8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Uninformed Search (Blind)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8346" marR="68346" marT="91127" marB="9112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8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Informed Search (Heuristic)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8346" marR="68346" marT="91127" marB="9112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9610705"/>
                  </a:ext>
                </a:extLst>
              </a:tr>
              <a:tr h="840110">
                <a:tc>
                  <a:txBody>
                    <a:bodyPr/>
                    <a:lstStyle/>
                    <a:p>
                      <a:pPr rtl="0"/>
                      <a:r>
                        <a:rPr lang="en-US" sz="18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Knowledge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8346" marR="68346" marT="91127" marB="9112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No domain-specific knowledge; only knows how to distinguish a goal state from a non-goal state.</a:t>
                      </a:r>
                    </a:p>
                  </a:txBody>
                  <a:tcPr marL="68346" marR="68346" marT="91127" marB="9112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Uses domain-specific knowledge (heuristics) to estimate the distance to the goal.</a:t>
                      </a:r>
                    </a:p>
                  </a:txBody>
                  <a:tcPr marL="68346" marR="68346" marT="91127" marB="9112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6634538"/>
                  </a:ext>
                </a:extLst>
              </a:tr>
              <a:tr h="624082">
                <a:tc>
                  <a:txBody>
                    <a:bodyPr/>
                    <a:lstStyle/>
                    <a:p>
                      <a:pPr rtl="0"/>
                      <a:r>
                        <a:rPr lang="en-US" sz="18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Efficiency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8346" marR="68346" marT="91127" marB="9112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Generally less efficient; may explore many unnecessary paths.</a:t>
                      </a:r>
                    </a:p>
                  </a:txBody>
                  <a:tcPr marL="68346" marR="68346" marT="91127" marB="9112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Highly efficient; narrows down the search space significantly.</a:t>
                      </a:r>
                    </a:p>
                  </a:txBody>
                  <a:tcPr marL="68346" marR="68346" marT="91127" marB="9112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4794857"/>
                  </a:ext>
                </a:extLst>
              </a:tr>
              <a:tr h="624082">
                <a:tc>
                  <a:txBody>
                    <a:bodyPr/>
                    <a:lstStyle/>
                    <a:p>
                      <a:pPr rtl="0"/>
                      <a:r>
                        <a:rPr lang="en-US" sz="18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Performance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8346" marR="68346" marT="91127" marB="9112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Can be slow and memory-intensive for complex problems.</a:t>
                      </a:r>
                    </a:p>
                  </a:txBody>
                  <a:tcPr marL="68346" marR="68346" marT="91127" marB="9112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Faster and more optimized for large-scale problems.</a:t>
                      </a:r>
                    </a:p>
                  </a:txBody>
                  <a:tcPr marL="68346" marR="68346" marT="91127" marB="9112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7252824"/>
                  </a:ext>
                </a:extLst>
              </a:tr>
              <a:tr h="624082">
                <a:tc>
                  <a:txBody>
                    <a:bodyPr/>
                    <a:lstStyle/>
                    <a:p>
                      <a:pPr rtl="0"/>
                      <a:r>
                        <a:rPr lang="en-US" sz="18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Cost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8346" marR="68346" marT="91127" marB="9112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Usually higher in terms of time and space complexity.</a:t>
                      </a:r>
                    </a:p>
                  </a:txBody>
                  <a:tcPr marL="68346" marR="68346" marT="91127" marB="9112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Lower, provided the heuristic is good.</a:t>
                      </a:r>
                    </a:p>
                  </a:txBody>
                  <a:tcPr marL="68346" marR="68346" marT="91127" marB="9112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5921247"/>
                  </a:ext>
                </a:extLst>
              </a:tr>
              <a:tr h="840110">
                <a:tc>
                  <a:txBody>
                    <a:bodyPr/>
                    <a:lstStyle/>
                    <a:p>
                      <a:pPr rtl="0"/>
                      <a:r>
                        <a:rPr lang="en-US" sz="18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Key Algorithms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8346" marR="68346" marT="91127" marB="9112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Breadth-First Search (BFS), Depth-First Search (DFS), Uniform Cost Search.</a:t>
                      </a:r>
                    </a:p>
                  </a:txBody>
                  <a:tcPr marL="68346" marR="68346" marT="91127" marB="9112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A* Search, Greedy Best-First Search, Hill Climbing.</a:t>
                      </a:r>
                    </a:p>
                  </a:txBody>
                  <a:tcPr marL="68346" marR="68346" marT="91127" marB="9112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6333476"/>
                  </a:ext>
                </a:extLst>
              </a:tr>
              <a:tr h="624082">
                <a:tc>
                  <a:txBody>
                    <a:bodyPr/>
                    <a:lstStyle/>
                    <a:p>
                      <a:pPr rtl="0"/>
                      <a:r>
                        <a:rPr lang="en-US" sz="18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Direction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8346" marR="68346" marT="91127" marB="9112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Operates blindly in all possible directions.</a:t>
                      </a:r>
                    </a:p>
                  </a:txBody>
                  <a:tcPr marL="68346" marR="68346" marT="91127" marB="9112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Directed toward the goal using a </a:t>
                      </a:r>
                      <a:r>
                        <a:rPr lang="en-US" sz="16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Heuristic Function</a:t>
                      </a: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h(n).</a:t>
                      </a:r>
                    </a:p>
                  </a:txBody>
                  <a:tcPr marL="68346" marR="68346" marT="91127" marB="9112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83875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93839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Today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Informed Search</a:t>
            </a:r>
          </a:p>
          <a:p>
            <a:pPr lvl="1"/>
            <a:r>
              <a:rPr lang="en-US" dirty="0"/>
              <a:t>Heuristics</a:t>
            </a:r>
          </a:p>
          <a:p>
            <a:pPr lvl="1"/>
            <a:r>
              <a:rPr lang="en-US" dirty="0"/>
              <a:t>Greedy Search</a:t>
            </a:r>
          </a:p>
          <a:p>
            <a:pPr lvl="1"/>
            <a:r>
              <a:rPr lang="en-US" dirty="0"/>
              <a:t>A* Search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540347057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930276"/>
            <a:ext cx="7772400" cy="5682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5300" name="Text Box 4"/>
          <p:cNvSpPr txBox="1">
            <a:spLocks noChangeArrowheads="1"/>
          </p:cNvSpPr>
          <p:nvPr/>
        </p:nvSpPr>
        <p:spPr bwMode="auto">
          <a:xfrm>
            <a:off x="2133600" y="228601"/>
            <a:ext cx="80772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en-US" sz="2000" dirty="0"/>
              <a:t>Breadth-first search of the 8-puzzle, showing order in which states were removed from open.</a:t>
            </a:r>
          </a:p>
        </p:txBody>
      </p:sp>
    </p:spTree>
    <p:extLst>
      <p:ext uri="{BB962C8B-B14F-4D97-AF65-F5344CB8AC3E}">
        <p14:creationId xmlns:p14="http://schemas.microsoft.com/office/powerpoint/2010/main" val="35305438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3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762000"/>
            <a:ext cx="7010400" cy="580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396" name="Text Box 4"/>
          <p:cNvSpPr txBox="1">
            <a:spLocks noChangeArrowheads="1"/>
          </p:cNvSpPr>
          <p:nvPr/>
        </p:nvSpPr>
        <p:spPr bwMode="auto">
          <a:xfrm>
            <a:off x="2590800" y="228601"/>
            <a:ext cx="7467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en-US" sz="2000" dirty="0"/>
              <a:t>Depth-first search of the 8-puzzle with a depth bound of 5.</a:t>
            </a:r>
          </a:p>
        </p:txBody>
      </p:sp>
    </p:spTree>
    <p:extLst>
      <p:ext uri="{BB962C8B-B14F-4D97-AF65-F5344CB8AC3E}">
        <p14:creationId xmlns:p14="http://schemas.microsoft.com/office/powerpoint/2010/main" val="28625614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x-none" dirty="0"/>
              <a:t>Using problem specific knowledge to aid searching</a:t>
            </a:r>
            <a:endParaRPr lang="en-GB" altLang="x-none" dirty="0"/>
          </a:p>
        </p:txBody>
      </p:sp>
      <p:sp>
        <p:nvSpPr>
          <p:cNvPr id="1607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x-none" dirty="0"/>
              <a:t>With knowledge, one can search the state space as if he was given “</a:t>
            </a:r>
            <a:r>
              <a:rPr lang="en-US" altLang="x-none" dirty="0">
                <a:solidFill>
                  <a:srgbClr val="FF0000"/>
                </a:solidFill>
              </a:rPr>
              <a:t>hints</a:t>
            </a:r>
            <a:r>
              <a:rPr lang="en-US" altLang="x-none" dirty="0"/>
              <a:t>” when exploring a maze.</a:t>
            </a:r>
          </a:p>
          <a:p>
            <a:pPr lvl="1"/>
            <a:r>
              <a:rPr lang="en-US" altLang="x-none" u="sng" dirty="0">
                <a:solidFill>
                  <a:srgbClr val="FF0000"/>
                </a:solidFill>
              </a:rPr>
              <a:t>Heuristic information</a:t>
            </a:r>
            <a:r>
              <a:rPr lang="en-US" altLang="x-none" dirty="0"/>
              <a:t> in search = Hints</a:t>
            </a:r>
          </a:p>
          <a:p>
            <a:r>
              <a:rPr lang="en-US" altLang="x-none" dirty="0"/>
              <a:t>Leads to dramatic speed up in efficiency. </a:t>
            </a:r>
            <a:endParaRPr lang="en-GB" altLang="x-none" dirty="0"/>
          </a:p>
        </p:txBody>
      </p:sp>
      <p:grpSp>
        <p:nvGrpSpPr>
          <p:cNvPr id="160805" name="Group 37"/>
          <p:cNvGrpSpPr>
            <a:grpSpLocks/>
          </p:cNvGrpSpPr>
          <p:nvPr/>
        </p:nvGrpSpPr>
        <p:grpSpPr bwMode="auto">
          <a:xfrm>
            <a:off x="3657600" y="3962401"/>
            <a:ext cx="5334000" cy="2701925"/>
            <a:chOff x="1104" y="1776"/>
            <a:chExt cx="3408" cy="2222"/>
          </a:xfrm>
        </p:grpSpPr>
        <p:grpSp>
          <p:nvGrpSpPr>
            <p:cNvPr id="160806" name="Group 38"/>
            <p:cNvGrpSpPr>
              <a:grpSpLocks/>
            </p:cNvGrpSpPr>
            <p:nvPr/>
          </p:nvGrpSpPr>
          <p:grpSpPr bwMode="auto">
            <a:xfrm>
              <a:off x="2640" y="1776"/>
              <a:ext cx="336" cy="302"/>
              <a:chOff x="2640" y="1776"/>
              <a:chExt cx="336" cy="302"/>
            </a:xfrm>
          </p:grpSpPr>
          <p:sp>
            <p:nvSpPr>
              <p:cNvPr id="160807" name="Oval 39"/>
              <p:cNvSpPr>
                <a:spLocks noChangeArrowheads="1"/>
              </p:cNvSpPr>
              <p:nvPr/>
            </p:nvSpPr>
            <p:spPr bwMode="auto"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0808" name="Text Box 40"/>
              <p:cNvSpPr txBox="1">
                <a:spLocks noChangeArrowheads="1"/>
              </p:cNvSpPr>
              <p:nvPr/>
            </p:nvSpPr>
            <p:spPr bwMode="auto">
              <a:xfrm>
                <a:off x="2736" y="1776"/>
                <a:ext cx="240" cy="30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0000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x-none"/>
                  <a:t>A</a:t>
                </a:r>
                <a:endParaRPr lang="en-GB" altLang="x-none"/>
              </a:p>
            </p:txBody>
          </p:sp>
        </p:grpSp>
        <p:grpSp>
          <p:nvGrpSpPr>
            <p:cNvPr id="160809" name="Group 41"/>
            <p:cNvGrpSpPr>
              <a:grpSpLocks/>
            </p:cNvGrpSpPr>
            <p:nvPr/>
          </p:nvGrpSpPr>
          <p:grpSpPr bwMode="auto">
            <a:xfrm>
              <a:off x="1536" y="2208"/>
              <a:ext cx="336" cy="302"/>
              <a:chOff x="2640" y="1776"/>
              <a:chExt cx="336" cy="302"/>
            </a:xfrm>
          </p:grpSpPr>
          <p:sp>
            <p:nvSpPr>
              <p:cNvPr id="160810" name="Oval 42"/>
              <p:cNvSpPr>
                <a:spLocks noChangeArrowheads="1"/>
              </p:cNvSpPr>
              <p:nvPr/>
            </p:nvSpPr>
            <p:spPr bwMode="auto"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0811" name="Text Box 43"/>
              <p:cNvSpPr txBox="1">
                <a:spLocks noChangeArrowheads="1"/>
              </p:cNvSpPr>
              <p:nvPr/>
            </p:nvSpPr>
            <p:spPr bwMode="auto">
              <a:xfrm>
                <a:off x="2736" y="1776"/>
                <a:ext cx="240" cy="30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x-none"/>
                  <a:t>B</a:t>
                </a:r>
                <a:endParaRPr lang="en-GB" altLang="x-none"/>
              </a:p>
            </p:txBody>
          </p:sp>
        </p:grpSp>
        <p:grpSp>
          <p:nvGrpSpPr>
            <p:cNvPr id="160812" name="Group 44"/>
            <p:cNvGrpSpPr>
              <a:grpSpLocks/>
            </p:cNvGrpSpPr>
            <p:nvPr/>
          </p:nvGrpSpPr>
          <p:grpSpPr bwMode="auto">
            <a:xfrm>
              <a:off x="2352" y="2208"/>
              <a:ext cx="336" cy="302"/>
              <a:chOff x="2640" y="1776"/>
              <a:chExt cx="336" cy="302"/>
            </a:xfrm>
          </p:grpSpPr>
          <p:sp>
            <p:nvSpPr>
              <p:cNvPr id="160813" name="Oval 45"/>
              <p:cNvSpPr>
                <a:spLocks noChangeArrowheads="1"/>
              </p:cNvSpPr>
              <p:nvPr/>
            </p:nvSpPr>
            <p:spPr bwMode="auto"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0814" name="Text Box 46"/>
              <p:cNvSpPr txBox="1">
                <a:spLocks noChangeArrowheads="1"/>
              </p:cNvSpPr>
              <p:nvPr/>
            </p:nvSpPr>
            <p:spPr bwMode="auto">
              <a:xfrm>
                <a:off x="2736" y="1776"/>
                <a:ext cx="240" cy="30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x-none"/>
                  <a:t>C</a:t>
                </a:r>
                <a:endParaRPr lang="en-GB" altLang="x-none"/>
              </a:p>
            </p:txBody>
          </p:sp>
        </p:grpSp>
        <p:grpSp>
          <p:nvGrpSpPr>
            <p:cNvPr id="160815" name="Group 47"/>
            <p:cNvGrpSpPr>
              <a:grpSpLocks/>
            </p:cNvGrpSpPr>
            <p:nvPr/>
          </p:nvGrpSpPr>
          <p:grpSpPr bwMode="auto">
            <a:xfrm>
              <a:off x="4176" y="2208"/>
              <a:ext cx="336" cy="302"/>
              <a:chOff x="2640" y="1776"/>
              <a:chExt cx="336" cy="302"/>
            </a:xfrm>
          </p:grpSpPr>
          <p:sp>
            <p:nvSpPr>
              <p:cNvPr id="160816" name="Oval 48"/>
              <p:cNvSpPr>
                <a:spLocks noChangeArrowheads="1"/>
              </p:cNvSpPr>
              <p:nvPr/>
            </p:nvSpPr>
            <p:spPr bwMode="auto"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0817" name="Text Box 49"/>
              <p:cNvSpPr txBox="1">
                <a:spLocks noChangeArrowheads="1"/>
              </p:cNvSpPr>
              <p:nvPr/>
            </p:nvSpPr>
            <p:spPr bwMode="auto">
              <a:xfrm>
                <a:off x="2736" y="1776"/>
                <a:ext cx="240" cy="30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x-none"/>
                  <a:t>E</a:t>
                </a:r>
                <a:endParaRPr lang="en-GB" altLang="x-none"/>
              </a:p>
            </p:txBody>
          </p:sp>
        </p:grpSp>
        <p:grpSp>
          <p:nvGrpSpPr>
            <p:cNvPr id="160818" name="Group 50"/>
            <p:cNvGrpSpPr>
              <a:grpSpLocks/>
            </p:cNvGrpSpPr>
            <p:nvPr/>
          </p:nvGrpSpPr>
          <p:grpSpPr bwMode="auto">
            <a:xfrm>
              <a:off x="3168" y="2208"/>
              <a:ext cx="336" cy="302"/>
              <a:chOff x="2640" y="1776"/>
              <a:chExt cx="336" cy="302"/>
            </a:xfrm>
          </p:grpSpPr>
          <p:sp>
            <p:nvSpPr>
              <p:cNvPr id="160819" name="Oval 51"/>
              <p:cNvSpPr>
                <a:spLocks noChangeArrowheads="1"/>
              </p:cNvSpPr>
              <p:nvPr/>
            </p:nvSpPr>
            <p:spPr bwMode="auto"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0820" name="Text Box 52"/>
              <p:cNvSpPr txBox="1">
                <a:spLocks noChangeArrowheads="1"/>
              </p:cNvSpPr>
              <p:nvPr/>
            </p:nvSpPr>
            <p:spPr bwMode="auto">
              <a:xfrm>
                <a:off x="2736" y="1776"/>
                <a:ext cx="240" cy="30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x-none"/>
                  <a:t>D</a:t>
                </a:r>
                <a:endParaRPr lang="en-GB" altLang="x-none"/>
              </a:p>
            </p:txBody>
          </p:sp>
        </p:grpSp>
        <p:grpSp>
          <p:nvGrpSpPr>
            <p:cNvPr id="160821" name="Group 53"/>
            <p:cNvGrpSpPr>
              <a:grpSpLocks/>
            </p:cNvGrpSpPr>
            <p:nvPr/>
          </p:nvGrpSpPr>
          <p:grpSpPr bwMode="auto">
            <a:xfrm>
              <a:off x="1104" y="2640"/>
              <a:ext cx="336" cy="302"/>
              <a:chOff x="2640" y="1776"/>
              <a:chExt cx="336" cy="302"/>
            </a:xfrm>
          </p:grpSpPr>
          <p:sp>
            <p:nvSpPr>
              <p:cNvPr id="160822" name="Oval 54"/>
              <p:cNvSpPr>
                <a:spLocks noChangeArrowheads="1"/>
              </p:cNvSpPr>
              <p:nvPr/>
            </p:nvSpPr>
            <p:spPr bwMode="auto"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0823" name="Text Box 55"/>
              <p:cNvSpPr txBox="1">
                <a:spLocks noChangeArrowheads="1"/>
              </p:cNvSpPr>
              <p:nvPr/>
            </p:nvSpPr>
            <p:spPr bwMode="auto">
              <a:xfrm>
                <a:off x="2736" y="1776"/>
                <a:ext cx="240" cy="30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x-none"/>
                  <a:t>F</a:t>
                </a:r>
                <a:endParaRPr lang="en-GB" altLang="x-none"/>
              </a:p>
            </p:txBody>
          </p:sp>
        </p:grpSp>
        <p:grpSp>
          <p:nvGrpSpPr>
            <p:cNvPr id="160824" name="Group 56"/>
            <p:cNvGrpSpPr>
              <a:grpSpLocks/>
            </p:cNvGrpSpPr>
            <p:nvPr/>
          </p:nvGrpSpPr>
          <p:grpSpPr bwMode="auto">
            <a:xfrm>
              <a:off x="1872" y="2640"/>
              <a:ext cx="336" cy="302"/>
              <a:chOff x="2640" y="1776"/>
              <a:chExt cx="336" cy="302"/>
            </a:xfrm>
          </p:grpSpPr>
          <p:sp>
            <p:nvSpPr>
              <p:cNvPr id="160825" name="Oval 57"/>
              <p:cNvSpPr>
                <a:spLocks noChangeArrowheads="1"/>
              </p:cNvSpPr>
              <p:nvPr/>
            </p:nvSpPr>
            <p:spPr bwMode="auto"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0826" name="Text Box 58"/>
              <p:cNvSpPr txBox="1">
                <a:spLocks noChangeArrowheads="1"/>
              </p:cNvSpPr>
              <p:nvPr/>
            </p:nvSpPr>
            <p:spPr bwMode="auto">
              <a:xfrm>
                <a:off x="2736" y="1776"/>
                <a:ext cx="240" cy="30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x-none"/>
                  <a:t>G</a:t>
                </a:r>
                <a:endParaRPr lang="en-GB" altLang="x-none"/>
              </a:p>
            </p:txBody>
          </p:sp>
        </p:grpSp>
        <p:grpSp>
          <p:nvGrpSpPr>
            <p:cNvPr id="160827" name="Group 59"/>
            <p:cNvGrpSpPr>
              <a:grpSpLocks/>
            </p:cNvGrpSpPr>
            <p:nvPr/>
          </p:nvGrpSpPr>
          <p:grpSpPr bwMode="auto">
            <a:xfrm>
              <a:off x="2592" y="2640"/>
              <a:ext cx="336" cy="302"/>
              <a:chOff x="2640" y="1776"/>
              <a:chExt cx="336" cy="302"/>
            </a:xfrm>
          </p:grpSpPr>
          <p:sp>
            <p:nvSpPr>
              <p:cNvPr id="160828" name="Oval 60"/>
              <p:cNvSpPr>
                <a:spLocks noChangeArrowheads="1"/>
              </p:cNvSpPr>
              <p:nvPr/>
            </p:nvSpPr>
            <p:spPr bwMode="auto"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0829" name="Text Box 61"/>
              <p:cNvSpPr txBox="1">
                <a:spLocks noChangeArrowheads="1"/>
              </p:cNvSpPr>
              <p:nvPr/>
            </p:nvSpPr>
            <p:spPr bwMode="auto">
              <a:xfrm>
                <a:off x="2736" y="1776"/>
                <a:ext cx="240" cy="30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x-none" dirty="0"/>
                  <a:t>H</a:t>
                </a:r>
                <a:endParaRPr lang="en-GB" altLang="x-none" dirty="0"/>
              </a:p>
            </p:txBody>
          </p:sp>
        </p:grpSp>
        <p:grpSp>
          <p:nvGrpSpPr>
            <p:cNvPr id="160830" name="Group 62"/>
            <p:cNvGrpSpPr>
              <a:grpSpLocks/>
            </p:cNvGrpSpPr>
            <p:nvPr/>
          </p:nvGrpSpPr>
          <p:grpSpPr bwMode="auto">
            <a:xfrm>
              <a:off x="3072" y="2640"/>
              <a:ext cx="336" cy="302"/>
              <a:chOff x="2640" y="1776"/>
              <a:chExt cx="336" cy="302"/>
            </a:xfrm>
          </p:grpSpPr>
          <p:sp>
            <p:nvSpPr>
              <p:cNvPr id="160831" name="Oval 63"/>
              <p:cNvSpPr>
                <a:spLocks noChangeArrowheads="1"/>
              </p:cNvSpPr>
              <p:nvPr/>
            </p:nvSpPr>
            <p:spPr bwMode="auto"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0832" name="Text Box 64"/>
              <p:cNvSpPr txBox="1">
                <a:spLocks noChangeArrowheads="1"/>
              </p:cNvSpPr>
              <p:nvPr/>
            </p:nvSpPr>
            <p:spPr bwMode="auto">
              <a:xfrm>
                <a:off x="2736" y="1776"/>
                <a:ext cx="240" cy="30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x-none"/>
                  <a:t>I</a:t>
                </a:r>
                <a:endParaRPr lang="en-GB" altLang="x-none"/>
              </a:p>
            </p:txBody>
          </p:sp>
        </p:grpSp>
        <p:grpSp>
          <p:nvGrpSpPr>
            <p:cNvPr id="160833" name="Group 65"/>
            <p:cNvGrpSpPr>
              <a:grpSpLocks/>
            </p:cNvGrpSpPr>
            <p:nvPr/>
          </p:nvGrpSpPr>
          <p:grpSpPr bwMode="auto">
            <a:xfrm>
              <a:off x="3696" y="2640"/>
              <a:ext cx="336" cy="302"/>
              <a:chOff x="2640" y="1776"/>
              <a:chExt cx="336" cy="302"/>
            </a:xfrm>
          </p:grpSpPr>
          <p:sp>
            <p:nvSpPr>
              <p:cNvPr id="160834" name="Oval 66"/>
              <p:cNvSpPr>
                <a:spLocks noChangeArrowheads="1"/>
              </p:cNvSpPr>
              <p:nvPr/>
            </p:nvSpPr>
            <p:spPr bwMode="auto"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0835" name="Text Box 67"/>
              <p:cNvSpPr txBox="1">
                <a:spLocks noChangeArrowheads="1"/>
              </p:cNvSpPr>
              <p:nvPr/>
            </p:nvSpPr>
            <p:spPr bwMode="auto">
              <a:xfrm>
                <a:off x="2736" y="1776"/>
                <a:ext cx="240" cy="30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x-none"/>
                  <a:t>J</a:t>
                </a:r>
                <a:endParaRPr lang="en-GB" altLang="x-none"/>
              </a:p>
            </p:txBody>
          </p:sp>
        </p:grpSp>
        <p:grpSp>
          <p:nvGrpSpPr>
            <p:cNvPr id="160836" name="Group 68"/>
            <p:cNvGrpSpPr>
              <a:grpSpLocks/>
            </p:cNvGrpSpPr>
            <p:nvPr/>
          </p:nvGrpSpPr>
          <p:grpSpPr bwMode="auto">
            <a:xfrm>
              <a:off x="1536" y="3168"/>
              <a:ext cx="336" cy="301"/>
              <a:chOff x="2640" y="1776"/>
              <a:chExt cx="336" cy="301"/>
            </a:xfrm>
          </p:grpSpPr>
          <p:sp>
            <p:nvSpPr>
              <p:cNvPr id="160837" name="Oval 69"/>
              <p:cNvSpPr>
                <a:spLocks noChangeArrowheads="1"/>
              </p:cNvSpPr>
              <p:nvPr/>
            </p:nvSpPr>
            <p:spPr bwMode="auto"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0838" name="Text Box 70"/>
              <p:cNvSpPr txBox="1">
                <a:spLocks noChangeArrowheads="1"/>
              </p:cNvSpPr>
              <p:nvPr/>
            </p:nvSpPr>
            <p:spPr bwMode="auto">
              <a:xfrm>
                <a:off x="2736" y="1776"/>
                <a:ext cx="240" cy="30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x-none"/>
                  <a:t>K</a:t>
                </a:r>
                <a:endParaRPr lang="en-GB" altLang="x-none"/>
              </a:p>
            </p:txBody>
          </p:sp>
        </p:grpSp>
        <p:grpSp>
          <p:nvGrpSpPr>
            <p:cNvPr id="160839" name="Group 71"/>
            <p:cNvGrpSpPr>
              <a:grpSpLocks/>
            </p:cNvGrpSpPr>
            <p:nvPr/>
          </p:nvGrpSpPr>
          <p:grpSpPr bwMode="auto">
            <a:xfrm>
              <a:off x="2160" y="3168"/>
              <a:ext cx="336" cy="301"/>
              <a:chOff x="2640" y="1776"/>
              <a:chExt cx="336" cy="301"/>
            </a:xfrm>
          </p:grpSpPr>
          <p:sp>
            <p:nvSpPr>
              <p:cNvPr id="160840" name="Oval 72"/>
              <p:cNvSpPr>
                <a:spLocks noChangeArrowheads="1"/>
              </p:cNvSpPr>
              <p:nvPr/>
            </p:nvSpPr>
            <p:spPr bwMode="auto"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0841" name="Text Box 73"/>
              <p:cNvSpPr txBox="1">
                <a:spLocks noChangeArrowheads="1"/>
              </p:cNvSpPr>
              <p:nvPr/>
            </p:nvSpPr>
            <p:spPr bwMode="auto">
              <a:xfrm>
                <a:off x="2736" y="1776"/>
                <a:ext cx="240" cy="30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x-none"/>
                  <a:t>L</a:t>
                </a:r>
                <a:endParaRPr lang="en-GB" altLang="x-none"/>
              </a:p>
            </p:txBody>
          </p:sp>
        </p:grpSp>
        <p:sp>
          <p:nvSpPr>
            <p:cNvPr id="160842" name="Oval 74"/>
            <p:cNvSpPr>
              <a:spLocks noChangeArrowheads="1"/>
            </p:cNvSpPr>
            <p:nvPr/>
          </p:nvSpPr>
          <p:spPr bwMode="auto">
            <a:xfrm>
              <a:off x="2160" y="3696"/>
              <a:ext cx="336" cy="240"/>
            </a:xfrm>
            <a:prstGeom prst="ellipse">
              <a:avLst/>
            </a:prstGeom>
            <a:solidFill>
              <a:srgbClr val="FF0000"/>
            </a:solidFill>
            <a:ln w="38100" cmpd="dbl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0843" name="Text Box 75"/>
            <p:cNvSpPr txBox="1">
              <a:spLocks noChangeArrowheads="1"/>
            </p:cNvSpPr>
            <p:nvPr/>
          </p:nvSpPr>
          <p:spPr bwMode="auto">
            <a:xfrm>
              <a:off x="2256" y="3696"/>
              <a:ext cx="240" cy="3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41275" cmpd="dbl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x-none" b="1" i="1"/>
                <a:t>O</a:t>
              </a:r>
              <a:endParaRPr lang="en-GB" altLang="x-none" b="1" i="1"/>
            </a:p>
          </p:txBody>
        </p:sp>
        <p:sp>
          <p:nvSpPr>
            <p:cNvPr id="160844" name="Line 76"/>
            <p:cNvSpPr>
              <a:spLocks noChangeShapeType="1"/>
            </p:cNvSpPr>
            <p:nvPr/>
          </p:nvSpPr>
          <p:spPr bwMode="auto">
            <a:xfrm flipH="1">
              <a:off x="1776" y="2016"/>
              <a:ext cx="1008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0845" name="Line 77"/>
            <p:cNvSpPr>
              <a:spLocks noChangeShapeType="1"/>
            </p:cNvSpPr>
            <p:nvPr/>
          </p:nvSpPr>
          <p:spPr bwMode="auto">
            <a:xfrm flipH="1">
              <a:off x="2592" y="2016"/>
              <a:ext cx="19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0846" name="Line 78"/>
            <p:cNvSpPr>
              <a:spLocks noChangeShapeType="1"/>
            </p:cNvSpPr>
            <p:nvPr/>
          </p:nvSpPr>
          <p:spPr bwMode="auto">
            <a:xfrm>
              <a:off x="2784" y="2016"/>
              <a:ext cx="48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0847" name="Line 79"/>
            <p:cNvSpPr>
              <a:spLocks noChangeShapeType="1"/>
            </p:cNvSpPr>
            <p:nvPr/>
          </p:nvSpPr>
          <p:spPr bwMode="auto">
            <a:xfrm>
              <a:off x="2784" y="2016"/>
              <a:ext cx="1536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0848" name="Line 80"/>
            <p:cNvSpPr>
              <a:spLocks noChangeShapeType="1"/>
            </p:cNvSpPr>
            <p:nvPr/>
          </p:nvSpPr>
          <p:spPr bwMode="auto">
            <a:xfrm flipH="1">
              <a:off x="1296" y="2448"/>
              <a:ext cx="384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0849" name="Line 81"/>
            <p:cNvSpPr>
              <a:spLocks noChangeShapeType="1"/>
            </p:cNvSpPr>
            <p:nvPr/>
          </p:nvSpPr>
          <p:spPr bwMode="auto">
            <a:xfrm>
              <a:off x="1680" y="2448"/>
              <a:ext cx="336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0850" name="Line 82"/>
            <p:cNvSpPr>
              <a:spLocks noChangeShapeType="1"/>
            </p:cNvSpPr>
            <p:nvPr/>
          </p:nvSpPr>
          <p:spPr bwMode="auto">
            <a:xfrm>
              <a:off x="2592" y="2448"/>
              <a:ext cx="96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0851" name="Line 83"/>
            <p:cNvSpPr>
              <a:spLocks noChangeShapeType="1"/>
            </p:cNvSpPr>
            <p:nvPr/>
          </p:nvSpPr>
          <p:spPr bwMode="auto">
            <a:xfrm flipH="1">
              <a:off x="3216" y="2448"/>
              <a:ext cx="144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0852" name="Line 84"/>
            <p:cNvSpPr>
              <a:spLocks noChangeShapeType="1"/>
            </p:cNvSpPr>
            <p:nvPr/>
          </p:nvSpPr>
          <p:spPr bwMode="auto">
            <a:xfrm>
              <a:off x="3360" y="2448"/>
              <a:ext cx="43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0853" name="Line 85"/>
            <p:cNvSpPr>
              <a:spLocks noChangeShapeType="1"/>
            </p:cNvSpPr>
            <p:nvPr/>
          </p:nvSpPr>
          <p:spPr bwMode="auto">
            <a:xfrm flipH="1">
              <a:off x="1728" y="2880"/>
              <a:ext cx="33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0854" name="Line 86"/>
            <p:cNvSpPr>
              <a:spLocks noChangeShapeType="1"/>
            </p:cNvSpPr>
            <p:nvPr/>
          </p:nvSpPr>
          <p:spPr bwMode="auto">
            <a:xfrm>
              <a:off x="2064" y="2880"/>
              <a:ext cx="24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60855" name="Group 87"/>
            <p:cNvGrpSpPr>
              <a:grpSpLocks/>
            </p:cNvGrpSpPr>
            <p:nvPr/>
          </p:nvGrpSpPr>
          <p:grpSpPr bwMode="auto">
            <a:xfrm>
              <a:off x="3120" y="3168"/>
              <a:ext cx="336" cy="301"/>
              <a:chOff x="2640" y="1776"/>
              <a:chExt cx="336" cy="301"/>
            </a:xfrm>
          </p:grpSpPr>
          <p:sp>
            <p:nvSpPr>
              <p:cNvPr id="160856" name="Oval 88"/>
              <p:cNvSpPr>
                <a:spLocks noChangeArrowheads="1"/>
              </p:cNvSpPr>
              <p:nvPr/>
            </p:nvSpPr>
            <p:spPr bwMode="auto"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0857" name="Text Box 89"/>
              <p:cNvSpPr txBox="1">
                <a:spLocks noChangeArrowheads="1"/>
              </p:cNvSpPr>
              <p:nvPr/>
            </p:nvSpPr>
            <p:spPr bwMode="auto">
              <a:xfrm>
                <a:off x="2736" y="1776"/>
                <a:ext cx="240" cy="30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x-none"/>
                  <a:t>M</a:t>
                </a:r>
                <a:endParaRPr lang="en-GB" altLang="x-none"/>
              </a:p>
            </p:txBody>
          </p:sp>
        </p:grpSp>
        <p:grpSp>
          <p:nvGrpSpPr>
            <p:cNvPr id="160858" name="Group 90"/>
            <p:cNvGrpSpPr>
              <a:grpSpLocks/>
            </p:cNvGrpSpPr>
            <p:nvPr/>
          </p:nvGrpSpPr>
          <p:grpSpPr bwMode="auto">
            <a:xfrm>
              <a:off x="3840" y="3120"/>
              <a:ext cx="336" cy="301"/>
              <a:chOff x="2640" y="1776"/>
              <a:chExt cx="336" cy="301"/>
            </a:xfrm>
          </p:grpSpPr>
          <p:sp>
            <p:nvSpPr>
              <p:cNvPr id="160859" name="Oval 91"/>
              <p:cNvSpPr>
                <a:spLocks noChangeArrowheads="1"/>
              </p:cNvSpPr>
              <p:nvPr/>
            </p:nvSpPr>
            <p:spPr bwMode="auto"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0860" name="Text Box 92"/>
              <p:cNvSpPr txBox="1">
                <a:spLocks noChangeArrowheads="1"/>
              </p:cNvSpPr>
              <p:nvPr/>
            </p:nvSpPr>
            <p:spPr bwMode="auto">
              <a:xfrm>
                <a:off x="2736" y="1776"/>
                <a:ext cx="240" cy="30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x-none"/>
                  <a:t>N</a:t>
                </a:r>
                <a:endParaRPr lang="en-GB" altLang="x-none"/>
              </a:p>
            </p:txBody>
          </p:sp>
        </p:grpSp>
        <p:sp>
          <p:nvSpPr>
            <p:cNvPr id="160861" name="Line 93"/>
            <p:cNvSpPr>
              <a:spLocks noChangeShapeType="1"/>
            </p:cNvSpPr>
            <p:nvPr/>
          </p:nvSpPr>
          <p:spPr bwMode="auto">
            <a:xfrm>
              <a:off x="3264" y="2880"/>
              <a:ext cx="48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0862" name="Line 94"/>
            <p:cNvSpPr>
              <a:spLocks noChangeShapeType="1"/>
            </p:cNvSpPr>
            <p:nvPr/>
          </p:nvSpPr>
          <p:spPr bwMode="auto">
            <a:xfrm>
              <a:off x="3936" y="2880"/>
              <a:ext cx="48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0863" name="Line 95"/>
            <p:cNvSpPr>
              <a:spLocks noChangeShapeType="1"/>
            </p:cNvSpPr>
            <p:nvPr/>
          </p:nvSpPr>
          <p:spPr bwMode="auto">
            <a:xfrm flipH="1">
              <a:off x="2304" y="3408"/>
              <a:ext cx="48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60864" name="Oval 96"/>
          <p:cNvSpPr>
            <a:spLocks noChangeArrowheads="1"/>
          </p:cNvSpPr>
          <p:nvPr/>
        </p:nvSpPr>
        <p:spPr bwMode="auto">
          <a:xfrm>
            <a:off x="3581400" y="3886200"/>
            <a:ext cx="2514600" cy="2971800"/>
          </a:xfrm>
          <a:prstGeom prst="ellipse">
            <a:avLst/>
          </a:prstGeom>
          <a:noFill/>
          <a:ln w="57150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0865" name="Text Box 97"/>
          <p:cNvSpPr txBox="1">
            <a:spLocks noChangeArrowheads="1"/>
          </p:cNvSpPr>
          <p:nvPr/>
        </p:nvSpPr>
        <p:spPr bwMode="auto">
          <a:xfrm>
            <a:off x="1600201" y="4724401"/>
            <a:ext cx="2167943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sz="2400" dirty="0"/>
              <a:t>Search only in this </a:t>
            </a:r>
            <a:r>
              <a:rPr lang="en-US" altLang="x-none" sz="2400" dirty="0" err="1"/>
              <a:t>subtree</a:t>
            </a:r>
            <a:r>
              <a:rPr lang="en-US" altLang="x-none" sz="2400" dirty="0"/>
              <a:t>!!</a:t>
            </a:r>
            <a:endParaRPr lang="en-GB" altLang="x-none" sz="2400" dirty="0"/>
          </a:p>
        </p:txBody>
      </p:sp>
    </p:spTree>
    <p:extLst>
      <p:ext uri="{BB962C8B-B14F-4D97-AF65-F5344CB8AC3E}">
        <p14:creationId xmlns:p14="http://schemas.microsoft.com/office/powerpoint/2010/main" val="31664656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Heuristics?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Heuristics are know-hows obtained through a lot of experiences.</a:t>
            </a:r>
          </a:p>
          <a:p>
            <a:r>
              <a:rPr lang="en-US" dirty="0"/>
              <a:t>Heuristics often enable us to make decisions quickly without thinking deeply about the reasons.</a:t>
            </a:r>
          </a:p>
          <a:p>
            <a:r>
              <a:rPr lang="en-US" dirty="0"/>
              <a:t>The more experiences we have, the better the heuristics will be.</a:t>
            </a:r>
          </a:p>
        </p:txBody>
      </p:sp>
    </p:spTree>
    <p:extLst>
      <p:ext uri="{BB962C8B-B14F-4D97-AF65-F5344CB8AC3E}">
        <p14:creationId xmlns:p14="http://schemas.microsoft.com/office/powerpoint/2010/main" val="10186331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Heuristics are used?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AI problem solvers employ heuristics in two basic situations: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 </a:t>
            </a:r>
            <a:r>
              <a:rPr lang="en-US" b="1" dirty="0"/>
              <a:t>problem may not have an exact solution </a:t>
            </a:r>
            <a:r>
              <a:rPr lang="en-US" dirty="0"/>
              <a:t>because of inherent ambiguities in the problem statement or available data. </a:t>
            </a:r>
          </a:p>
          <a:p>
            <a:pPr lvl="1"/>
            <a:r>
              <a:rPr lang="en-US" dirty="0"/>
              <a:t>Medical diagnosis: Given symptoms may have several possible causes; </a:t>
            </a:r>
          </a:p>
          <a:p>
            <a:pPr lvl="1"/>
            <a:r>
              <a:rPr lang="en-US" dirty="0"/>
              <a:t>Doctors use heuristics to choose the most likely diagnosis and formulate a treatment plan.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 problem may have an exact solution, but the </a:t>
            </a:r>
            <a:r>
              <a:rPr lang="en-US" b="1" dirty="0"/>
              <a:t>computational cost of finding it may be prohibitive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Chess: state space growth is combinatorically explosive, with the number of possible states increasing with the depth of the search.</a:t>
            </a:r>
          </a:p>
          <a:p>
            <a:pPr lvl="1"/>
            <a:r>
              <a:rPr lang="en-US" dirty="0"/>
              <a:t>Heuristics attack this complexity by guiding the search along the most “promising” path through the space.</a:t>
            </a:r>
          </a:p>
        </p:txBody>
      </p:sp>
    </p:spTree>
    <p:extLst>
      <p:ext uri="{BB962C8B-B14F-4D97-AF65-F5344CB8AC3E}">
        <p14:creationId xmlns:p14="http://schemas.microsoft.com/office/powerpoint/2010/main" val="420370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3900" dirty="0"/>
              <a:t>Why heuristic functions work?</a:t>
            </a:r>
            <a:endParaRPr lang="en-GB" altLang="en-US" sz="39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72" name="Rectangle 3"/>
              <p:cNvSpPr>
                <a:spLocks noGrp="1" noChangeArrowheads="1"/>
              </p:cNvSpPr>
              <p:nvPr>
                <p:ph sz="half" idx="1"/>
              </p:nvPr>
            </p:nvSpPr>
            <p:spPr>
              <a:xfrm>
                <a:off x="838200" y="1825625"/>
                <a:ext cx="10515600" cy="2296121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n-US" altLang="en-US" b="1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Uninformed Search </a:t>
                </a:r>
                <a:r>
                  <a:rPr lang="en-US" altLang="en-US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: at most </a:t>
                </a:r>
                <a:r>
                  <a:rPr lang="en-US" altLang="en-US" i="1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b</a:t>
                </a:r>
                <a:r>
                  <a:rPr lang="en-US" altLang="en-US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 choices at each node and a depth of </a:t>
                </a:r>
                <a:r>
                  <a:rPr lang="en-US" altLang="en-US" i="1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d</a:t>
                </a:r>
                <a:r>
                  <a:rPr lang="en-US" altLang="en-US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 at the goal node</a:t>
                </a:r>
              </a:p>
              <a:p>
                <a:pPr lvl="1">
                  <a:lnSpc>
                    <a:spcPct val="90000"/>
                  </a:lnSpc>
                </a:pPr>
                <a:r>
                  <a:rPr lang="en-US" altLang="en-US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In the worst case, search around </a:t>
                </a:r>
                <a14:m>
                  <m:oMath xmlns:m="http://schemas.openxmlformats.org/officeDocument/2006/math">
                    <m:r>
                      <a:rPr lang="en-US" alt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𝑂</m:t>
                    </m:r>
                    <m:d>
                      <m:dPr>
                        <m:ctrlPr>
                          <a:rPr lang="en-US" alt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r>
                              <a:rPr lang="en-US" alt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alt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𝑑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en-US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 nodes before finding a solution (Exponential Time Complexity).</a:t>
                </a:r>
              </a:p>
              <a:p>
                <a:endParaRPr lang="en-US" altLang="en-US" b="1" dirty="0">
                  <a:solidFill>
                    <a:schemeClr val="tx1"/>
                  </a:solidFill>
                  <a:cs typeface="Arial" panose="020B0604020202020204" pitchFamily="34" charset="0"/>
                </a:endParaRPr>
              </a:p>
              <a:p>
                <a:r>
                  <a:rPr lang="en-US" altLang="en-US" b="1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Heuristics</a:t>
                </a:r>
                <a:r>
                  <a:rPr lang="en-US" altLang="en-US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 improve the efficiency of search algorithms by reducing the effective branching factor from </a:t>
                </a:r>
                <a:r>
                  <a:rPr lang="en-US" altLang="en-US" i="1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b</a:t>
                </a:r>
                <a:r>
                  <a:rPr lang="en-US" altLang="en-US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 to (ideally) a lower constant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𝑏</m:t>
                        </m:r>
                      </m:e>
                      <m:sup>
                        <m:r>
                          <a:rPr lang="en-US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en-US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 such that</a:t>
                </a:r>
                <a14:m>
                  <m:oMath xmlns:m="http://schemas.openxmlformats.org/officeDocument/2006/math">
                    <m:r>
                      <a:rPr lang="en-US" alt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US" alt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1</m:t>
                    </m:r>
                    <m:r>
                      <a:rPr lang="en-US" alt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≤</m:t>
                    </m:r>
                    <m:sSup>
                      <m:sSupPr>
                        <m:ctrlPr>
                          <a:rPr lang="en-US" alt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alt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𝑏</m:t>
                        </m:r>
                      </m:e>
                      <m:sup>
                        <m:r>
                          <a:rPr lang="en-US" alt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∗</m:t>
                        </m:r>
                      </m:sup>
                    </m:sSup>
                    <m:r>
                      <a:rPr lang="en-US" alt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≪</m:t>
                    </m:r>
                    <m:r>
                      <a:rPr lang="en-US" alt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𝑏</m:t>
                    </m:r>
                  </m:oMath>
                </a14:m>
                <a:endParaRPr lang="en-US" altLang="en-US" dirty="0">
                  <a:solidFill>
                    <a:schemeClr val="tx1"/>
                  </a:solidFill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172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5"/>
                <a:ext cx="10515600" cy="2296121"/>
              </a:xfrm>
              <a:blipFill rotWithShape="0">
                <a:blip r:embed="rId2"/>
                <a:stretch>
                  <a:fillRect l="-812" t="-6101" r="-116" b="-7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Content Placeholder 21"/>
          <p:cNvSpPr>
            <a:spLocks noGrp="1"/>
          </p:cNvSpPr>
          <p:nvPr>
            <p:ph sz="half" idx="2"/>
          </p:nvPr>
        </p:nvSpPr>
        <p:spPr>
          <a:xfrm>
            <a:off x="826478" y="4867075"/>
            <a:ext cx="4568687" cy="1292191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Guide search </a:t>
            </a:r>
            <a:r>
              <a:rPr lang="en-US" b="1" i="1" dirty="0">
                <a:solidFill>
                  <a:srgbClr val="C00000"/>
                </a:solidFill>
              </a:rPr>
              <a:t>towards the goal </a:t>
            </a:r>
            <a:r>
              <a:rPr lang="en-US" dirty="0"/>
              <a:t>instead of </a:t>
            </a:r>
            <a:r>
              <a:rPr lang="en-US" b="1" i="1" dirty="0">
                <a:solidFill>
                  <a:srgbClr val="C00000"/>
                </a:solidFill>
              </a:rPr>
              <a:t>all over the place</a:t>
            </a:r>
          </a:p>
          <a:p>
            <a:endParaRPr lang="en-US" dirty="0"/>
          </a:p>
        </p:txBody>
      </p:sp>
      <p:sp>
        <p:nvSpPr>
          <p:cNvPr id="26" name="Content Placeholder 1"/>
          <p:cNvSpPr txBox="1">
            <a:spLocks/>
          </p:cNvSpPr>
          <p:nvPr/>
        </p:nvSpPr>
        <p:spPr>
          <a:xfrm>
            <a:off x="5197475" y="2769807"/>
            <a:ext cx="5181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grpSp>
        <p:nvGrpSpPr>
          <p:cNvPr id="27" name="Group 26"/>
          <p:cNvGrpSpPr/>
          <p:nvPr/>
        </p:nvGrpSpPr>
        <p:grpSpPr>
          <a:xfrm>
            <a:off x="8548687" y="3974899"/>
            <a:ext cx="2805113" cy="1771651"/>
            <a:chOff x="8396287" y="1828800"/>
            <a:chExt cx="2805113" cy="1771651"/>
          </a:xfrm>
        </p:grpSpPr>
        <p:sp>
          <p:nvSpPr>
            <p:cNvPr id="28" name="Oval 8"/>
            <p:cNvSpPr>
              <a:spLocks noChangeArrowheads="1"/>
            </p:cNvSpPr>
            <p:nvPr/>
          </p:nvSpPr>
          <p:spPr bwMode="auto">
            <a:xfrm>
              <a:off x="8396287" y="1828800"/>
              <a:ext cx="1912939" cy="1771651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38" tIns="45719" rIns="91438" bIns="45719" anchor="ctr"/>
            <a:lstStyle/>
            <a:p>
              <a:endParaRPr lang="en-US" sz="2400">
                <a:latin typeface="Calibri"/>
                <a:cs typeface="Calibri"/>
              </a:endParaRPr>
            </a:p>
          </p:txBody>
        </p:sp>
        <p:sp>
          <p:nvSpPr>
            <p:cNvPr id="29" name="Oval 4"/>
            <p:cNvSpPr>
              <a:spLocks noChangeArrowheads="1"/>
            </p:cNvSpPr>
            <p:nvPr/>
          </p:nvSpPr>
          <p:spPr bwMode="auto">
            <a:xfrm>
              <a:off x="9299575" y="2605089"/>
              <a:ext cx="163512" cy="153987"/>
            </a:xfrm>
            <a:prstGeom prst="ellipse">
              <a:avLst/>
            </a:prstGeom>
            <a:solidFill>
              <a:srgbClr val="008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38" tIns="45719" rIns="91438" bIns="45719" anchor="ctr"/>
            <a:lstStyle/>
            <a:p>
              <a:endParaRPr lang="en-US" sz="2400">
                <a:latin typeface="Calibri"/>
                <a:cs typeface="Calibri"/>
              </a:endParaRPr>
            </a:p>
          </p:txBody>
        </p:sp>
        <p:sp>
          <p:nvSpPr>
            <p:cNvPr id="30" name="Text Box 5"/>
            <p:cNvSpPr txBox="1">
              <a:spLocks noChangeArrowheads="1"/>
            </p:cNvSpPr>
            <p:nvPr/>
          </p:nvSpPr>
          <p:spPr bwMode="auto">
            <a:xfrm>
              <a:off x="8534400" y="2720977"/>
              <a:ext cx="914400" cy="461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dirty="0">
                  <a:latin typeface="Calibri"/>
                  <a:cs typeface="Calibri"/>
                </a:rPr>
                <a:t>Start</a:t>
              </a:r>
            </a:p>
          </p:txBody>
        </p:sp>
        <p:sp>
          <p:nvSpPr>
            <p:cNvPr id="31" name="Oval 6"/>
            <p:cNvSpPr>
              <a:spLocks noChangeArrowheads="1"/>
            </p:cNvSpPr>
            <p:nvPr/>
          </p:nvSpPr>
          <p:spPr bwMode="auto">
            <a:xfrm>
              <a:off x="10226675" y="2627313"/>
              <a:ext cx="163512" cy="153987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38" tIns="45719" rIns="91438" bIns="45719" anchor="ctr"/>
            <a:lstStyle/>
            <a:p>
              <a:endParaRPr lang="en-US" sz="2400">
                <a:latin typeface="Calibri"/>
                <a:cs typeface="Calibri"/>
              </a:endParaRPr>
            </a:p>
          </p:txBody>
        </p:sp>
        <p:sp>
          <p:nvSpPr>
            <p:cNvPr id="32" name="Text Box 7"/>
            <p:cNvSpPr txBox="1">
              <a:spLocks noChangeArrowheads="1"/>
            </p:cNvSpPr>
            <p:nvPr/>
          </p:nvSpPr>
          <p:spPr bwMode="auto">
            <a:xfrm>
              <a:off x="10287000" y="2744789"/>
              <a:ext cx="914400" cy="461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>
                  <a:latin typeface="Calibri"/>
                  <a:cs typeface="Calibri"/>
                </a:rPr>
                <a:t>Goal</a:t>
              </a:r>
            </a:p>
          </p:txBody>
        </p:sp>
        <p:sp>
          <p:nvSpPr>
            <p:cNvPr id="33" name="Oval 32"/>
            <p:cNvSpPr>
              <a:spLocks noChangeArrowheads="1"/>
            </p:cNvSpPr>
            <p:nvPr/>
          </p:nvSpPr>
          <p:spPr bwMode="auto">
            <a:xfrm>
              <a:off x="8931276" y="2263775"/>
              <a:ext cx="869951" cy="86995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38" tIns="45719" rIns="91438" bIns="45719" anchor="ctr"/>
            <a:lstStyle/>
            <a:p>
              <a:endParaRPr lang="en-US" sz="2400">
                <a:latin typeface="Calibri"/>
                <a:cs typeface="Calibri"/>
              </a:endParaRP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5663452" y="4442531"/>
            <a:ext cx="2754312" cy="842661"/>
            <a:chOff x="8382000" y="5029202"/>
            <a:chExt cx="2754312" cy="842661"/>
          </a:xfrm>
        </p:grpSpPr>
        <p:sp>
          <p:nvSpPr>
            <p:cNvPr id="35" name="Oval 14"/>
            <p:cNvSpPr>
              <a:spLocks noChangeArrowheads="1"/>
            </p:cNvSpPr>
            <p:nvPr/>
          </p:nvSpPr>
          <p:spPr bwMode="auto">
            <a:xfrm>
              <a:off x="9005887" y="5029202"/>
              <a:ext cx="1284288" cy="62706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38" tIns="45719" rIns="91438" bIns="45719" anchor="ctr"/>
            <a:lstStyle/>
            <a:p>
              <a:endParaRPr lang="en-US" sz="2400">
                <a:latin typeface="Calibri"/>
                <a:cs typeface="Calibri"/>
              </a:endParaRPr>
            </a:p>
          </p:txBody>
        </p:sp>
        <p:sp>
          <p:nvSpPr>
            <p:cNvPr id="36" name="Oval 10"/>
            <p:cNvSpPr>
              <a:spLocks noChangeArrowheads="1"/>
            </p:cNvSpPr>
            <p:nvPr/>
          </p:nvSpPr>
          <p:spPr bwMode="auto">
            <a:xfrm>
              <a:off x="9234488" y="5270501"/>
              <a:ext cx="163513" cy="153988"/>
            </a:xfrm>
            <a:prstGeom prst="ellipse">
              <a:avLst/>
            </a:prstGeom>
            <a:solidFill>
              <a:srgbClr val="008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38" tIns="45719" rIns="91438" bIns="45719" anchor="ctr"/>
            <a:lstStyle/>
            <a:p>
              <a:endParaRPr lang="en-US" sz="2400">
                <a:latin typeface="Calibri"/>
                <a:cs typeface="Calibri"/>
              </a:endParaRPr>
            </a:p>
          </p:txBody>
        </p:sp>
        <p:sp>
          <p:nvSpPr>
            <p:cNvPr id="37" name="Text Box 11"/>
            <p:cNvSpPr txBox="1">
              <a:spLocks noChangeArrowheads="1"/>
            </p:cNvSpPr>
            <p:nvPr/>
          </p:nvSpPr>
          <p:spPr bwMode="auto">
            <a:xfrm>
              <a:off x="8382000" y="5410200"/>
              <a:ext cx="914400" cy="461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dirty="0">
                  <a:latin typeface="Calibri"/>
                  <a:cs typeface="Calibri"/>
                </a:rPr>
                <a:t>Start</a:t>
              </a:r>
            </a:p>
          </p:txBody>
        </p:sp>
        <p:sp>
          <p:nvSpPr>
            <p:cNvPr id="38" name="Oval 12"/>
            <p:cNvSpPr>
              <a:spLocks noChangeArrowheads="1"/>
            </p:cNvSpPr>
            <p:nvPr/>
          </p:nvSpPr>
          <p:spPr bwMode="auto">
            <a:xfrm>
              <a:off x="10213975" y="5257801"/>
              <a:ext cx="163512" cy="153988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38" tIns="45719" rIns="91438" bIns="45719" anchor="ctr"/>
            <a:lstStyle/>
            <a:p>
              <a:endParaRPr lang="en-US" sz="2400">
                <a:latin typeface="Calibri"/>
                <a:cs typeface="Calibri"/>
              </a:endParaRPr>
            </a:p>
          </p:txBody>
        </p:sp>
        <p:sp>
          <p:nvSpPr>
            <p:cNvPr id="39" name="Text Box 13"/>
            <p:cNvSpPr txBox="1">
              <a:spLocks noChangeArrowheads="1"/>
            </p:cNvSpPr>
            <p:nvPr/>
          </p:nvSpPr>
          <p:spPr bwMode="auto">
            <a:xfrm>
              <a:off x="10221912" y="5405737"/>
              <a:ext cx="914400" cy="461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dirty="0">
                  <a:latin typeface="Calibri"/>
                  <a:cs typeface="Calibri"/>
                </a:rPr>
                <a:t>Goal</a:t>
              </a:r>
            </a:p>
          </p:txBody>
        </p:sp>
        <p:sp>
          <p:nvSpPr>
            <p:cNvPr id="40" name="Oval 15"/>
            <p:cNvSpPr>
              <a:spLocks noChangeArrowheads="1"/>
            </p:cNvSpPr>
            <p:nvPr/>
          </p:nvSpPr>
          <p:spPr bwMode="auto">
            <a:xfrm>
              <a:off x="9126537" y="5105400"/>
              <a:ext cx="869951" cy="4572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38" tIns="45719" rIns="91438" bIns="45719" anchor="ctr"/>
            <a:lstStyle/>
            <a:p>
              <a:endParaRPr lang="en-US" sz="2400">
                <a:latin typeface="Calibri"/>
                <a:cs typeface="Calibri"/>
              </a:endParaRPr>
            </a:p>
          </p:txBody>
        </p:sp>
      </p:grpSp>
      <p:sp>
        <p:nvSpPr>
          <p:cNvPr id="41" name="TextBox 40"/>
          <p:cNvSpPr txBox="1"/>
          <p:nvPr/>
        </p:nvSpPr>
        <p:spPr bwMode="auto">
          <a:xfrm>
            <a:off x="8661490" y="5897658"/>
            <a:ext cx="1943092" cy="523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438" tIns="45719" rIns="91438" bIns="45719" rtlCol="0">
            <a:spAutoFit/>
          </a:bodyPr>
          <a:lstStyle/>
          <a:p>
            <a:r>
              <a:rPr lang="en-US" sz="2800" dirty="0">
                <a:latin typeface="Calibri"/>
                <a:cs typeface="Calibri"/>
              </a:rPr>
              <a:t>Uninformed</a:t>
            </a:r>
          </a:p>
        </p:txBody>
      </p:sp>
      <p:sp>
        <p:nvSpPr>
          <p:cNvPr id="42" name="TextBox 41"/>
          <p:cNvSpPr txBox="1"/>
          <p:nvPr/>
        </p:nvSpPr>
        <p:spPr bwMode="auto">
          <a:xfrm>
            <a:off x="6163922" y="5783863"/>
            <a:ext cx="1531121" cy="523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438" tIns="45719" rIns="91438" bIns="45719" rtlCol="0">
            <a:spAutoFit/>
          </a:bodyPr>
          <a:lstStyle/>
          <a:p>
            <a:r>
              <a:rPr lang="en-US" sz="2800" dirty="0">
                <a:latin typeface="Calibri"/>
                <a:cs typeface="Calibri"/>
              </a:rPr>
              <a:t>Informed</a:t>
            </a:r>
          </a:p>
        </p:txBody>
      </p:sp>
    </p:spTree>
    <p:extLst>
      <p:ext uri="{BB962C8B-B14F-4D97-AF65-F5344CB8AC3E}">
        <p14:creationId xmlns:p14="http://schemas.microsoft.com/office/powerpoint/2010/main" val="6899876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Evaluation Function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en-US" dirty="0"/>
                  <a:t>An evaluation function </a:t>
                </a:r>
                <a14:m>
                  <m:oMath xmlns:m="http://schemas.openxmlformats.org/officeDocument/2006/math">
                    <m:r>
                      <a:rPr lang="en-US" altLang="en-US" i="1" dirty="0">
                        <a:latin typeface="Cambria Math"/>
                      </a:rPr>
                      <m:t>𝑓</m:t>
                    </m:r>
                    <m:r>
                      <a:rPr lang="en-US" altLang="en-US" i="1" dirty="0">
                        <a:latin typeface="Cambria Math"/>
                      </a:rPr>
                      <m:t>(</m:t>
                    </m:r>
                    <m:r>
                      <a:rPr lang="en-US" altLang="en-US" i="1" dirty="0">
                        <a:latin typeface="Cambria Math"/>
                      </a:rPr>
                      <m:t>𝑛</m:t>
                    </m:r>
                    <m:r>
                      <a:rPr lang="en-US" altLang="en-US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altLang="en-US" dirty="0"/>
                  <a:t> gives an </a:t>
                </a:r>
                <a:r>
                  <a:rPr lang="en-US" altLang="en-US" dirty="0">
                    <a:solidFill>
                      <a:srgbClr val="FF0000"/>
                    </a:solidFill>
                  </a:rPr>
                  <a:t>estimation</a:t>
                </a:r>
                <a:r>
                  <a:rPr lang="en-US" altLang="en-US" dirty="0"/>
                  <a:t> on the “cost” of node </a:t>
                </a:r>
                <a14:m>
                  <m:oMath xmlns:m="http://schemas.openxmlformats.org/officeDocument/2006/math">
                    <m:r>
                      <a:rPr lang="en-US" altLang="en-US" i="1" dirty="0">
                        <a:latin typeface="Cambria Math"/>
                      </a:rPr>
                      <m:t>𝑛</m:t>
                    </m:r>
                  </m:oMath>
                </a14:m>
                <a:r>
                  <a:rPr lang="en-US" altLang="en-US" dirty="0"/>
                  <a:t> in a tree/graph </a:t>
                </a:r>
              </a:p>
              <a:p>
                <a:r>
                  <a:rPr lang="en-US" altLang="en-US" dirty="0"/>
                  <a:t>So that the </a:t>
                </a:r>
                <a:r>
                  <a:rPr lang="en-US" altLang="en-US" dirty="0">
                    <a:solidFill>
                      <a:srgbClr val="0000FF"/>
                    </a:solidFill>
                  </a:rPr>
                  <a:t>node with the least cost among all</a:t>
                </a:r>
                <a:r>
                  <a:rPr lang="en-US" altLang="en-US" dirty="0"/>
                  <a:t> possible choices can be </a:t>
                </a:r>
                <a:r>
                  <a:rPr lang="en-US" altLang="en-US" dirty="0">
                    <a:solidFill>
                      <a:srgbClr val="FF0000"/>
                    </a:solidFill>
                  </a:rPr>
                  <a:t>selected for expansion first</a:t>
                </a:r>
              </a:p>
              <a:p>
                <a:r>
                  <a:rPr lang="en-US" altLang="en-US" dirty="0"/>
                  <a:t>Three approaches to define </a:t>
                </a:r>
                <a14:m>
                  <m:oMath xmlns:m="http://schemas.openxmlformats.org/officeDocument/2006/math">
                    <m:r>
                      <a:rPr lang="en-US" altLang="en-US" i="1" dirty="0">
                        <a:latin typeface="Cambria Math"/>
                      </a:rPr>
                      <m:t>𝑓</m:t>
                    </m:r>
                    <m:r>
                      <a:rPr lang="en-US" altLang="en-US" i="1" dirty="0">
                        <a:latin typeface="Cambria Math"/>
                      </a:rPr>
                      <m:t>(</m:t>
                    </m:r>
                    <m:r>
                      <a:rPr lang="en-US" altLang="en-US" i="1" dirty="0">
                        <a:latin typeface="Cambria Math"/>
                      </a:rPr>
                      <m:t>𝑛</m:t>
                    </m:r>
                    <m:r>
                      <a:rPr lang="en-US" altLang="en-US" i="1" dirty="0">
                        <a:latin typeface="Cambria Math"/>
                      </a:rPr>
                      <m:t>)</m:t>
                    </m:r>
                  </m:oMath>
                </a14:m>
                <a:endParaRPr lang="en-US" altLang="en-US" dirty="0"/>
              </a:p>
              <a:p>
                <a:endParaRPr lang="en-US" alt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2241" r="-15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275658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x-none" sz="3600" dirty="0"/>
              <a:t>Evaluation / Heuristic Function </a:t>
            </a:r>
            <a:endParaRPr lang="fr-FR" altLang="x-none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923" name="Rectangle 3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pt-BR" altLang="x-none" dirty="0"/>
                  <a:t>Evaluation function </a:t>
                </a:r>
                <a:r>
                  <a:rPr lang="pt-BR" altLang="x-none" i="1" dirty="0">
                    <a:solidFill>
                      <a:srgbClr val="FF0000"/>
                    </a:solidFill>
                  </a:rPr>
                  <a:t>f(n) = g(n) + h(n)</a:t>
                </a:r>
              </a:p>
              <a:p>
                <a:pPr lvl="1"/>
                <a:r>
                  <a:rPr lang="en-US" altLang="x-none" i="1" dirty="0"/>
                  <a:t>g(n)</a:t>
                </a:r>
                <a:r>
                  <a:rPr lang="en-US" altLang="x-none" dirty="0"/>
                  <a:t> = exact cost so far to reach n</a:t>
                </a:r>
              </a:p>
              <a:p>
                <a:pPr lvl="1"/>
                <a:r>
                  <a:rPr lang="en-US" altLang="x-none" i="1" dirty="0"/>
                  <a:t>h(n)</a:t>
                </a:r>
                <a:r>
                  <a:rPr lang="en-US" altLang="x-none" dirty="0"/>
                  <a:t> = estimated cost to goal from n</a:t>
                </a:r>
              </a:p>
              <a:p>
                <a:pPr lvl="1"/>
                <a:r>
                  <a:rPr lang="en-US" altLang="x-none" i="1" dirty="0"/>
                  <a:t>f(n) </a:t>
                </a:r>
                <a:r>
                  <a:rPr lang="en-US" altLang="x-none" dirty="0"/>
                  <a:t>= estimated total cost of cheapest path through n to goal</a:t>
                </a:r>
              </a:p>
              <a:p>
                <a:endParaRPr lang="fr-FR" altLang="x-none" dirty="0"/>
              </a:p>
              <a:p>
                <a:r>
                  <a:rPr lang="en-US" altLang="x-none" dirty="0"/>
                  <a:t>Special cases:</a:t>
                </a:r>
              </a:p>
              <a:p>
                <a:pPr lvl="1"/>
                <a:r>
                  <a:rPr lang="en-US" altLang="x-none" dirty="0">
                    <a:solidFill>
                      <a:srgbClr val="0000FF"/>
                    </a:solidFill>
                  </a:rPr>
                  <a:t>Uniform Cost Search</a:t>
                </a:r>
                <a:r>
                  <a:rPr lang="en-US" altLang="x-none" dirty="0"/>
                  <a:t>: </a:t>
                </a:r>
                <a14:m>
                  <m:oMath xmlns:m="http://schemas.openxmlformats.org/officeDocument/2006/math">
                    <m:r>
                      <a:rPr lang="en-US" altLang="x-none" i="1" dirty="0" smtClean="0">
                        <a:latin typeface="Cambria Math"/>
                      </a:rPr>
                      <m:t>𝑓</m:t>
                    </m:r>
                    <m:r>
                      <a:rPr lang="en-US" altLang="x-none" i="1" dirty="0" smtClean="0">
                        <a:latin typeface="Cambria Math"/>
                      </a:rPr>
                      <m:t>(</m:t>
                    </m:r>
                    <m:r>
                      <a:rPr lang="en-US" altLang="x-none" i="1" dirty="0" smtClean="0">
                        <a:latin typeface="Cambria Math"/>
                      </a:rPr>
                      <m:t>𝑛</m:t>
                    </m:r>
                    <m:r>
                      <a:rPr lang="en-US" altLang="x-none" i="1" dirty="0" smtClean="0">
                        <a:latin typeface="Cambria Math"/>
                      </a:rPr>
                      <m:t>) = </m:t>
                    </m:r>
                    <m:r>
                      <a:rPr lang="en-US" altLang="x-none" i="1" dirty="0" smtClean="0">
                        <a:latin typeface="Cambria Math"/>
                      </a:rPr>
                      <m:t>𝑔</m:t>
                    </m:r>
                    <m:r>
                      <a:rPr lang="en-US" altLang="x-none" i="1" dirty="0" smtClean="0">
                        <a:latin typeface="Cambria Math"/>
                      </a:rPr>
                      <m:t>(</m:t>
                    </m:r>
                    <m:r>
                      <a:rPr lang="en-US" altLang="x-none" i="1" dirty="0" smtClean="0">
                        <a:latin typeface="Cambria Math"/>
                      </a:rPr>
                      <m:t>𝑛</m:t>
                    </m:r>
                    <m:r>
                      <a:rPr lang="en-US" altLang="x-none" i="1" dirty="0" smtClean="0">
                        <a:latin typeface="Cambria Math"/>
                      </a:rPr>
                      <m:t>)</m:t>
                    </m:r>
                  </m:oMath>
                </a14:m>
                <a:endParaRPr lang="en-US" altLang="x-none" i="1" dirty="0"/>
              </a:p>
              <a:p>
                <a:pPr lvl="1"/>
                <a:r>
                  <a:rPr lang="en-US" altLang="x-none" dirty="0">
                    <a:solidFill>
                      <a:srgbClr val="0000FF"/>
                    </a:solidFill>
                  </a:rPr>
                  <a:t>Greedy (best-first) Search</a:t>
                </a:r>
                <a:r>
                  <a:rPr lang="en-US" altLang="x-none" dirty="0"/>
                  <a:t>: </a:t>
                </a:r>
                <a14:m>
                  <m:oMath xmlns:m="http://schemas.openxmlformats.org/officeDocument/2006/math">
                    <m:r>
                      <a:rPr lang="en-US" altLang="x-none" i="1" dirty="0" smtClean="0">
                        <a:latin typeface="Cambria Math"/>
                      </a:rPr>
                      <m:t>𝑓</m:t>
                    </m:r>
                    <m:r>
                      <a:rPr lang="en-US" altLang="x-none" i="1" dirty="0" smtClean="0">
                        <a:latin typeface="Cambria Math"/>
                      </a:rPr>
                      <m:t>(</m:t>
                    </m:r>
                    <m:r>
                      <a:rPr lang="en-US" altLang="x-none" i="1" dirty="0" smtClean="0">
                        <a:latin typeface="Cambria Math"/>
                      </a:rPr>
                      <m:t>𝑛</m:t>
                    </m:r>
                    <m:r>
                      <a:rPr lang="en-US" altLang="x-none" i="1" dirty="0" smtClean="0">
                        <a:latin typeface="Cambria Math"/>
                      </a:rPr>
                      <m:t>) = </m:t>
                    </m:r>
                    <m:r>
                      <a:rPr lang="en-US" altLang="x-none" i="1" dirty="0" smtClean="0">
                        <a:latin typeface="Cambria Math"/>
                      </a:rPr>
                      <m:t>h</m:t>
                    </m:r>
                    <m:r>
                      <a:rPr lang="en-US" altLang="x-none" i="1" dirty="0" smtClean="0">
                        <a:latin typeface="Cambria Math"/>
                      </a:rPr>
                      <m:t>(</m:t>
                    </m:r>
                    <m:r>
                      <a:rPr lang="en-US" altLang="x-none" i="1" dirty="0" smtClean="0">
                        <a:latin typeface="Cambria Math"/>
                      </a:rPr>
                      <m:t>𝑛</m:t>
                    </m:r>
                    <m:r>
                      <a:rPr lang="en-US" altLang="x-none" i="1" dirty="0" smtClean="0">
                        <a:latin typeface="Cambria Math"/>
                      </a:rPr>
                      <m:t>)</m:t>
                    </m:r>
                  </m:oMath>
                </a14:m>
                <a:endParaRPr lang="en-US" altLang="x-none" i="1" dirty="0"/>
              </a:p>
              <a:p>
                <a:pPr lvl="1"/>
                <a:r>
                  <a:rPr lang="en-US" altLang="x-none" dirty="0">
                    <a:solidFill>
                      <a:srgbClr val="0000FF"/>
                    </a:solidFill>
                  </a:rPr>
                  <a:t>A* Search</a:t>
                </a:r>
                <a:r>
                  <a:rPr lang="en-US" altLang="x-none" dirty="0"/>
                  <a:t>: </a:t>
                </a:r>
                <a14:m>
                  <m:oMath xmlns:m="http://schemas.openxmlformats.org/officeDocument/2006/math">
                    <m:r>
                      <a:rPr lang="en-US" altLang="x-none" i="1" dirty="0" smtClean="0">
                        <a:latin typeface="Cambria Math"/>
                      </a:rPr>
                      <m:t>𝑓</m:t>
                    </m:r>
                    <m:r>
                      <a:rPr lang="en-US" altLang="x-none" i="1" dirty="0" smtClean="0">
                        <a:latin typeface="Cambria Math"/>
                      </a:rPr>
                      <m:t>(</m:t>
                    </m:r>
                    <m:r>
                      <a:rPr lang="en-US" altLang="x-none" i="1" dirty="0" smtClean="0">
                        <a:latin typeface="Cambria Math"/>
                      </a:rPr>
                      <m:t>𝑛</m:t>
                    </m:r>
                    <m:r>
                      <a:rPr lang="en-US" altLang="x-none" i="1" dirty="0" smtClean="0">
                        <a:latin typeface="Cambria Math"/>
                      </a:rPr>
                      <m:t>) = </m:t>
                    </m:r>
                    <m:r>
                      <a:rPr lang="en-US" altLang="x-none" i="1" dirty="0" smtClean="0">
                        <a:latin typeface="Cambria Math"/>
                      </a:rPr>
                      <m:t>𝑔</m:t>
                    </m:r>
                    <m:r>
                      <a:rPr lang="en-US" altLang="x-none" i="1" dirty="0" smtClean="0">
                        <a:latin typeface="Cambria Math"/>
                      </a:rPr>
                      <m:t>(</m:t>
                    </m:r>
                    <m:r>
                      <a:rPr lang="en-US" altLang="x-none" i="1" dirty="0" smtClean="0">
                        <a:latin typeface="Cambria Math"/>
                      </a:rPr>
                      <m:t>𝑛</m:t>
                    </m:r>
                    <m:r>
                      <a:rPr lang="en-US" altLang="x-none" i="1" dirty="0" smtClean="0">
                        <a:latin typeface="Cambria Math"/>
                      </a:rPr>
                      <m:t>) + </m:t>
                    </m:r>
                    <m:r>
                      <a:rPr lang="en-US" altLang="x-none" i="1" dirty="0" smtClean="0">
                        <a:latin typeface="Cambria Math"/>
                      </a:rPr>
                      <m:t>h</m:t>
                    </m:r>
                    <m:r>
                      <a:rPr lang="en-US" altLang="x-none" i="1" dirty="0" smtClean="0">
                        <a:latin typeface="Cambria Math"/>
                      </a:rPr>
                      <m:t>(</m:t>
                    </m:r>
                    <m:r>
                      <a:rPr lang="en-US" altLang="x-none" i="1" dirty="0" smtClean="0">
                        <a:latin typeface="Cambria Math"/>
                      </a:rPr>
                      <m:t>𝑛</m:t>
                    </m:r>
                    <m:r>
                      <a:rPr lang="en-US" altLang="x-none" i="1" dirty="0" smtClean="0">
                        <a:latin typeface="Cambria Math"/>
                      </a:rPr>
                      <m:t>)</m:t>
                    </m:r>
                  </m:oMath>
                </a14:m>
                <a:endParaRPr lang="fr-FR" altLang="x-none" i="1" dirty="0"/>
              </a:p>
            </p:txBody>
          </p:sp>
        </mc:Choice>
        <mc:Fallback xmlns="">
          <p:sp>
            <p:nvSpPr>
              <p:cNvPr id="8192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37747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it works?</a:t>
            </a:r>
          </a:p>
        </p:txBody>
      </p:sp>
      <p:sp>
        <p:nvSpPr>
          <p:cNvPr id="512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x-none" dirty="0">
                <a:solidFill>
                  <a:srgbClr val="FF0000"/>
                </a:solidFill>
              </a:rPr>
              <a:t>Idea</a:t>
            </a:r>
            <a:r>
              <a:rPr lang="en-US" altLang="x-none" dirty="0"/>
              <a:t>: use heuristic function for each node</a:t>
            </a:r>
          </a:p>
          <a:p>
            <a:pPr lvl="1"/>
            <a:r>
              <a:rPr lang="en-US" altLang="x-none" dirty="0"/>
              <a:t>that estimates desirability</a:t>
            </a:r>
          </a:p>
          <a:p>
            <a:r>
              <a:rPr lang="en-US" altLang="x-none" dirty="0"/>
              <a:t>Expands most desirable unexpanded node</a:t>
            </a:r>
          </a:p>
          <a:p>
            <a:r>
              <a:rPr lang="en-US" altLang="x-none" b="1" dirty="0"/>
              <a:t>Implementation:</a:t>
            </a:r>
          </a:p>
          <a:p>
            <a:pPr lvl="1"/>
            <a:r>
              <a:rPr lang="en-US" altLang="x-none" dirty="0"/>
              <a:t>fringe is a queue sorted in order of desirability</a:t>
            </a:r>
          </a:p>
          <a:p>
            <a:r>
              <a:rPr lang="en-US" altLang="x-none" b="1" dirty="0"/>
              <a:t>Special cases:</a:t>
            </a:r>
          </a:p>
          <a:p>
            <a:pPr lvl="1"/>
            <a:r>
              <a:rPr lang="en-US" altLang="x-none" dirty="0"/>
              <a:t>Uniform Cost Search (uninformed)</a:t>
            </a:r>
          </a:p>
          <a:p>
            <a:pPr lvl="1"/>
            <a:r>
              <a:rPr lang="en-US" altLang="x-none" dirty="0">
                <a:solidFill>
                  <a:srgbClr val="FF0000"/>
                </a:solidFill>
              </a:rPr>
              <a:t>Greedy (best-first) Search (informed)</a:t>
            </a:r>
          </a:p>
          <a:p>
            <a:pPr lvl="1"/>
            <a:r>
              <a:rPr lang="en-US" altLang="x-none" dirty="0">
                <a:solidFill>
                  <a:srgbClr val="FF0000"/>
                </a:solidFill>
              </a:rPr>
              <a:t>A* Search (informed)</a:t>
            </a:r>
          </a:p>
        </p:txBody>
      </p:sp>
    </p:spTree>
    <p:extLst>
      <p:ext uri="{BB962C8B-B14F-4D97-AF65-F5344CB8AC3E}">
        <p14:creationId xmlns:p14="http://schemas.microsoft.com/office/powerpoint/2010/main" val="10101963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Heuristic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06444"/>
            <a:ext cx="10515600" cy="1925016"/>
          </a:xfrm>
        </p:spPr>
        <p:txBody>
          <a:bodyPr>
            <a:normAutofit/>
          </a:bodyPr>
          <a:lstStyle/>
          <a:p>
            <a:r>
              <a:rPr lang="en-US" dirty="0"/>
              <a:t>A heuristic is:</a:t>
            </a:r>
          </a:p>
          <a:p>
            <a:pPr lvl="1"/>
            <a:r>
              <a:rPr lang="en-US" kern="0" dirty="0">
                <a:latin typeface="Calibri" pitchFamily="34" charset="0"/>
              </a:rPr>
              <a:t>A function that </a:t>
            </a:r>
            <a:r>
              <a:rPr lang="en-US" i="1" kern="0" dirty="0">
                <a:latin typeface="Calibri" pitchFamily="34" charset="0"/>
              </a:rPr>
              <a:t>estimates</a:t>
            </a:r>
            <a:r>
              <a:rPr lang="en-US" kern="0" dirty="0">
                <a:latin typeface="Calibri" pitchFamily="34" charset="0"/>
              </a:rPr>
              <a:t> how close a state is to a goal</a:t>
            </a:r>
          </a:p>
          <a:p>
            <a:pPr lvl="1"/>
            <a:r>
              <a:rPr lang="en-US" kern="0" dirty="0">
                <a:latin typeface="Calibri" pitchFamily="34" charset="0"/>
              </a:rPr>
              <a:t>Designed for a particular search problem</a:t>
            </a:r>
          </a:p>
          <a:p>
            <a:pPr lvl="1"/>
            <a:r>
              <a:rPr lang="en-US" kern="0" dirty="0">
                <a:latin typeface="Calibri" pitchFamily="34" charset="0"/>
              </a:rPr>
              <a:t>Examples: Manhattan distance, Euclidean distance for pathing</a:t>
            </a:r>
          </a:p>
          <a:p>
            <a:endParaRPr lang="en-US" dirty="0"/>
          </a:p>
        </p:txBody>
      </p:sp>
      <p:pic>
        <p:nvPicPr>
          <p:cNvPr id="5" name="Picture 2" descr="Z:\Shared with PC\smallMaze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18792" y="3750641"/>
            <a:ext cx="6623051" cy="29781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" name="Group 18"/>
          <p:cNvGrpSpPr>
            <a:grpSpLocks/>
          </p:cNvGrpSpPr>
          <p:nvPr/>
        </p:nvGrpSpPr>
        <p:grpSpPr bwMode="auto">
          <a:xfrm>
            <a:off x="3288685" y="4330078"/>
            <a:ext cx="3025775" cy="1924051"/>
            <a:chOff x="1573306" y="4155142"/>
            <a:chExt cx="3025588" cy="1922929"/>
          </a:xfrm>
        </p:grpSpPr>
        <p:sp>
          <p:nvSpPr>
            <p:cNvPr id="7" name="Freeform 6"/>
            <p:cNvSpPr/>
            <p:nvPr/>
          </p:nvSpPr>
          <p:spPr>
            <a:xfrm>
              <a:off x="1573306" y="4578757"/>
              <a:ext cx="3025588" cy="1499314"/>
            </a:xfrm>
            <a:custGeom>
              <a:avLst/>
              <a:gdLst>
                <a:gd name="connsiteX0" fmla="*/ 3065929 w 3065929"/>
                <a:gd name="connsiteY0" fmla="*/ 13447 h 1479177"/>
                <a:gd name="connsiteX1" fmla="*/ 0 w 3065929"/>
                <a:gd name="connsiteY1" fmla="*/ 0 h 1479177"/>
                <a:gd name="connsiteX2" fmla="*/ 26894 w 3065929"/>
                <a:gd name="connsiteY2" fmla="*/ 1479177 h 1479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65929" h="1479177">
                  <a:moveTo>
                    <a:pt x="3065929" y="13447"/>
                  </a:moveTo>
                  <a:lnTo>
                    <a:pt x="0" y="0"/>
                  </a:lnTo>
                  <a:lnTo>
                    <a:pt x="26894" y="1479177"/>
                  </a:lnTo>
                </a:path>
              </a:pathLst>
            </a:custGeom>
            <a:ln w="57150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8" name="TextBox 15"/>
            <p:cNvSpPr txBox="1">
              <a:spLocks noChangeArrowheads="1"/>
            </p:cNvSpPr>
            <p:nvPr/>
          </p:nvSpPr>
          <p:spPr bwMode="auto">
            <a:xfrm>
              <a:off x="2164976" y="4155142"/>
              <a:ext cx="441119" cy="3691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srgbClr val="C00000"/>
                  </a:solidFill>
                </a:rPr>
                <a:t>10</a:t>
              </a:r>
            </a:p>
          </p:txBody>
        </p:sp>
        <p:sp>
          <p:nvSpPr>
            <p:cNvPr id="9" name="TextBox 16"/>
            <p:cNvSpPr txBox="1">
              <a:spLocks noChangeArrowheads="1"/>
            </p:cNvSpPr>
            <p:nvPr/>
          </p:nvSpPr>
          <p:spPr bwMode="auto">
            <a:xfrm>
              <a:off x="1591236" y="4953001"/>
              <a:ext cx="312887" cy="3691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srgbClr val="C00000"/>
                  </a:solidFill>
                </a:rPr>
                <a:t>5</a:t>
              </a:r>
            </a:p>
          </p:txBody>
        </p:sp>
      </p:grpSp>
      <p:grpSp>
        <p:nvGrpSpPr>
          <p:cNvPr id="10" name="Group 19"/>
          <p:cNvGrpSpPr>
            <a:grpSpLocks/>
          </p:cNvGrpSpPr>
          <p:nvPr/>
        </p:nvGrpSpPr>
        <p:grpSpPr bwMode="auto">
          <a:xfrm>
            <a:off x="3369649" y="4747593"/>
            <a:ext cx="2978143" cy="1506537"/>
            <a:chOff x="1653989" y="4572529"/>
            <a:chExt cx="2978334" cy="1505542"/>
          </a:xfrm>
        </p:grpSpPr>
        <p:cxnSp>
          <p:nvCxnSpPr>
            <p:cNvPr id="11" name="Straight Arrow Connector 10"/>
            <p:cNvCxnSpPr/>
            <p:nvPr/>
          </p:nvCxnSpPr>
          <p:spPr>
            <a:xfrm flipH="1">
              <a:off x="1653989" y="4572529"/>
              <a:ext cx="2978334" cy="1505542"/>
            </a:xfrm>
            <a:prstGeom prst="straightConnector1">
              <a:avLst/>
            </a:prstGeom>
            <a:ln w="57150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TextBox 17"/>
            <p:cNvSpPr txBox="1">
              <a:spLocks noChangeArrowheads="1"/>
            </p:cNvSpPr>
            <p:nvPr/>
          </p:nvSpPr>
          <p:spPr bwMode="auto">
            <a:xfrm>
              <a:off x="3016625" y="5356413"/>
              <a:ext cx="620787" cy="3690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srgbClr val="C00000"/>
                  </a:solidFill>
                </a:rPr>
                <a:t>11.2</a:t>
              </a: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D4D1B352-6E35-409A-AE9E-72B6BDF9BC4D}"/>
              </a:ext>
            </a:extLst>
          </p:cNvPr>
          <p:cNvSpPr/>
          <p:nvPr/>
        </p:nvSpPr>
        <p:spPr>
          <a:xfrm>
            <a:off x="5352945" y="3169763"/>
            <a:ext cx="1703109" cy="5184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PAC</a:t>
            </a:r>
            <a:r>
              <a:rPr lang="en-US" dirty="0"/>
              <a:t> </a:t>
            </a:r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MAN MAZE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638621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Example: Heuristic Function</a:t>
            </a:r>
          </a:p>
        </p:txBody>
      </p:sp>
      <p:pic>
        <p:nvPicPr>
          <p:cNvPr id="12292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6288" y="501092"/>
            <a:ext cx="9906656" cy="53663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294" name="Text Box 6"/>
          <p:cNvSpPr txBox="1">
            <a:spLocks noChangeArrowheads="1"/>
          </p:cNvSpPr>
          <p:nvPr/>
        </p:nvSpPr>
        <p:spPr bwMode="auto">
          <a:xfrm>
            <a:off x="8991600" y="5943600"/>
            <a:ext cx="1143000" cy="523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 dirty="0">
                <a:solidFill>
                  <a:srgbClr val="C00000"/>
                </a:solidFill>
              </a:rPr>
              <a:t>h(x)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22210" y="188536"/>
            <a:ext cx="2340990" cy="5678864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6328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3189" y="1166814"/>
            <a:ext cx="6905625" cy="452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6" name="Text Box 4"/>
          <p:cNvSpPr txBox="1">
            <a:spLocks noChangeArrowheads="1"/>
          </p:cNvSpPr>
          <p:nvPr/>
        </p:nvSpPr>
        <p:spPr bwMode="auto">
          <a:xfrm>
            <a:off x="1905000" y="381001"/>
            <a:ext cx="8458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1pPr>
            <a:lvl2pPr marL="37931725" indent="-37474525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GB" altLang="en-US" sz="2000" dirty="0"/>
              <a:t>First three levels of the tic-tac-toe state space reduced by symmetry</a:t>
            </a:r>
          </a:p>
        </p:txBody>
      </p:sp>
    </p:spTree>
    <p:extLst>
      <p:ext uri="{BB962C8B-B14F-4D97-AF65-F5344CB8AC3E}">
        <p14:creationId xmlns:p14="http://schemas.microsoft.com/office/powerpoint/2010/main" val="34288919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1" y="1981201"/>
            <a:ext cx="7153275" cy="2836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0" name="Text Box 4"/>
          <p:cNvSpPr txBox="1">
            <a:spLocks noChangeArrowheads="1"/>
          </p:cNvSpPr>
          <p:nvPr/>
        </p:nvSpPr>
        <p:spPr bwMode="auto">
          <a:xfrm>
            <a:off x="1981200" y="457201"/>
            <a:ext cx="830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1pPr>
            <a:lvl2pPr marL="37931725" indent="-37474525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GB" altLang="en-US" sz="2000" dirty="0"/>
              <a:t>The “most wins” heuristic applied to the first children in tic-tac-toe.</a:t>
            </a:r>
          </a:p>
        </p:txBody>
      </p:sp>
    </p:spTree>
    <p:extLst>
      <p:ext uri="{BB962C8B-B14F-4D97-AF65-F5344CB8AC3E}">
        <p14:creationId xmlns:p14="http://schemas.microsoft.com/office/powerpoint/2010/main" val="12584703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200" y="914401"/>
            <a:ext cx="5329238" cy="5686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4" name="Text Box 4"/>
          <p:cNvSpPr txBox="1">
            <a:spLocks noChangeArrowheads="1"/>
          </p:cNvSpPr>
          <p:nvPr/>
        </p:nvSpPr>
        <p:spPr bwMode="auto">
          <a:xfrm>
            <a:off x="2133600" y="457201"/>
            <a:ext cx="815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1pPr>
            <a:lvl2pPr marL="37931725" indent="-37474525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GB" altLang="en-US" sz="2000" dirty="0"/>
              <a:t>Heuristically reduced state space for tic-tac-toe.</a:t>
            </a:r>
          </a:p>
        </p:txBody>
      </p:sp>
    </p:spTree>
    <p:extLst>
      <p:ext uri="{BB962C8B-B14F-4D97-AF65-F5344CB8AC3E}">
        <p14:creationId xmlns:p14="http://schemas.microsoft.com/office/powerpoint/2010/main" val="14448254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8–Puzzle: Heuristics?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838200" y="5102087"/>
            <a:ext cx="10515600" cy="1074876"/>
          </a:xfrm>
        </p:spPr>
        <p:txBody>
          <a:bodyPr/>
          <a:lstStyle/>
          <a:p>
            <a:r>
              <a:rPr lang="en-US" altLang="en-US" dirty="0"/>
              <a:t>h1: The number of misplaced tiles (squares with number).</a:t>
            </a:r>
          </a:p>
          <a:p>
            <a:r>
              <a:rPr lang="en-US" altLang="en-US" dirty="0"/>
              <a:t>h2: The sum of the distances of the tiles from their goal positions.</a:t>
            </a:r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8580" y="2183434"/>
            <a:ext cx="4594839" cy="2375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035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6039" y="542926"/>
            <a:ext cx="7905750" cy="288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2727" y="3733801"/>
            <a:ext cx="7572375" cy="2505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546883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94" t="20350" r="34802" b="32385"/>
          <a:stretch/>
        </p:blipFill>
        <p:spPr bwMode="auto">
          <a:xfrm>
            <a:off x="4618058" y="1608352"/>
            <a:ext cx="2846229" cy="358650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2170741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CE4C1-E6A0-4AA9-9965-F1CD6F0FDCC0}" type="slidenum">
              <a:rPr lang="en-US" smtClean="0"/>
              <a:t>22</a:t>
            </a:fld>
            <a:endParaRPr lang="en-US"/>
          </a:p>
        </p:txBody>
      </p:sp>
      <p:pic>
        <p:nvPicPr>
          <p:cNvPr id="5" name="Picture 4"/>
          <p:cNvPicPr/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3794" t="20350" r="34802" b="32385"/>
          <a:stretch/>
        </p:blipFill>
        <p:spPr bwMode="auto">
          <a:xfrm>
            <a:off x="1649571" y="680700"/>
            <a:ext cx="2846229" cy="358650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" name="Rectangle 6"/>
          <p:cNvSpPr/>
          <p:nvPr/>
        </p:nvSpPr>
        <p:spPr>
          <a:xfrm>
            <a:off x="1524000" y="76200"/>
            <a:ext cx="9144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/>
              <a:t>h1: The number of misplaced tiles (not including the blank)</a:t>
            </a:r>
            <a:endParaRPr lang="en-US" sz="2800" dirty="0"/>
          </a:p>
        </p:txBody>
      </p:sp>
      <p:sp>
        <p:nvSpPr>
          <p:cNvPr id="11" name="Rectangle 10"/>
          <p:cNvSpPr/>
          <p:nvPr/>
        </p:nvSpPr>
        <p:spPr>
          <a:xfrm>
            <a:off x="1600200" y="4584918"/>
            <a:ext cx="891540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Only “</a:t>
            </a:r>
            <a:r>
              <a:rPr lang="en-US" sz="2800" b="1" dirty="0"/>
              <a:t>8</a:t>
            </a:r>
            <a:r>
              <a:rPr lang="en-US" sz="2800" dirty="0"/>
              <a:t>” is misplaced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So the heuristic function evaluates to 1.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The heuristic is </a:t>
            </a:r>
            <a:r>
              <a:rPr lang="en-US" sz="2800" i="1" dirty="0"/>
              <a:t>telling</a:t>
            </a:r>
            <a:r>
              <a:rPr lang="en-US" sz="2800" dirty="0"/>
              <a:t> us, that it </a:t>
            </a:r>
            <a:r>
              <a:rPr lang="en-US" sz="2800" i="1" dirty="0"/>
              <a:t>thinks</a:t>
            </a:r>
            <a:r>
              <a:rPr lang="en-US" sz="2800" dirty="0"/>
              <a:t> a solution might be available in just 1 more move.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4876800" y="1781452"/>
                <a:ext cx="5638800" cy="181588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800" i="1" dirty="0"/>
                  <a:t>Notation: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/>
                      </a:rPr>
                      <m:t>𝑓</m:t>
                    </m:r>
                    <m:r>
                      <a:rPr lang="en-US" sz="2800" i="1" dirty="0">
                        <a:latin typeface="Cambria Math"/>
                      </a:rPr>
                      <m:t>(</m:t>
                    </m:r>
                    <m:r>
                      <a:rPr lang="en-US" sz="2800" i="1" dirty="0">
                        <a:latin typeface="Cambria Math"/>
                      </a:rPr>
                      <m:t>𝑛</m:t>
                    </m:r>
                    <m:r>
                      <a:rPr lang="en-US" sz="2800" i="1" dirty="0">
                        <a:latin typeface="Cambria Math"/>
                      </a:rPr>
                      <m:t>) = </m:t>
                    </m:r>
                    <m:r>
                      <a:rPr lang="en-US" sz="2800" i="1" dirty="0">
                        <a:latin typeface="Cambria Math"/>
                      </a:rPr>
                      <m:t>h</m:t>
                    </m:r>
                    <m:r>
                      <a:rPr lang="en-US" sz="2800" i="1" dirty="0">
                        <a:latin typeface="Cambria Math"/>
                      </a:rPr>
                      <m:t>(</m:t>
                    </m:r>
                    <m:r>
                      <a:rPr lang="en-US" sz="2800" i="1" dirty="0">
                        <a:latin typeface="Cambria Math"/>
                      </a:rPr>
                      <m:t>𝑛</m:t>
                    </m:r>
                    <m:r>
                      <a:rPr lang="en-US" sz="2800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2800" i="1" dirty="0"/>
                  <a:t> </a:t>
                </a:r>
                <a:endParaRPr lang="en-US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800" i="1" dirty="0"/>
                  <a:t>h(current state) = 1</a:t>
                </a:r>
                <a:endParaRPr lang="en-US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Because this state has one misplaced tile.</a:t>
                </a:r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6800" y="1781452"/>
                <a:ext cx="5638800" cy="1815882"/>
              </a:xfrm>
              <a:prstGeom prst="rect">
                <a:avLst/>
              </a:prstGeom>
              <a:blipFill>
                <a:blip r:embed="rId4"/>
                <a:stretch>
                  <a:fillRect l="-1946" t="-3020" b="-87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260673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485900" y="76200"/>
            <a:ext cx="9144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/>
              <a:t>h2: </a:t>
            </a:r>
            <a:r>
              <a:rPr lang="fr-FR" sz="2800" b="1" dirty="0"/>
              <a:t>The </a:t>
            </a:r>
            <a:r>
              <a:rPr lang="fr-FR" sz="2800" b="1" dirty="0" err="1"/>
              <a:t>sum</a:t>
            </a:r>
            <a:r>
              <a:rPr lang="fr-FR" sz="2800" b="1" dirty="0"/>
              <a:t> of the distances of </a:t>
            </a:r>
            <a:r>
              <a:rPr lang="fr-FR" sz="2800" b="1" dirty="0" err="1"/>
              <a:t>tiles</a:t>
            </a:r>
            <a:r>
              <a:rPr lang="fr-FR" sz="2800" b="1" dirty="0"/>
              <a:t> </a:t>
            </a:r>
            <a:r>
              <a:rPr lang="fr-FR" sz="2800" b="1" dirty="0" err="1"/>
              <a:t>from</a:t>
            </a:r>
            <a:r>
              <a:rPr lang="fr-FR" sz="2800" b="1" dirty="0"/>
              <a:t> goal positions</a:t>
            </a:r>
            <a:endParaRPr lang="en-US" sz="28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1828800" y="6334780"/>
                <a:ext cx="8763000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800" i="1" dirty="0"/>
                  <a:t>Notation: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/>
                      </a:rPr>
                      <m:t>𝑓</m:t>
                    </m:r>
                    <m:r>
                      <a:rPr lang="en-US" sz="2800" i="1" dirty="0">
                        <a:latin typeface="Cambria Math"/>
                      </a:rPr>
                      <m:t>(</m:t>
                    </m:r>
                    <m:r>
                      <a:rPr lang="en-US" sz="2800" i="1" dirty="0">
                        <a:latin typeface="Cambria Math"/>
                      </a:rPr>
                      <m:t>𝑛</m:t>
                    </m:r>
                    <m:r>
                      <a:rPr lang="en-US" sz="2800" i="1" dirty="0">
                        <a:latin typeface="Cambria Math"/>
                      </a:rPr>
                      <m:t>) = </m:t>
                    </m:r>
                    <m:r>
                      <a:rPr lang="en-US" sz="2800" i="1" dirty="0">
                        <a:latin typeface="Cambria Math"/>
                      </a:rPr>
                      <m:t>h</m:t>
                    </m:r>
                    <m:r>
                      <a:rPr lang="en-US" sz="2800" i="1" dirty="0">
                        <a:latin typeface="Cambria Math"/>
                      </a:rPr>
                      <m:t>(</m:t>
                    </m:r>
                    <m:r>
                      <a:rPr lang="en-US" sz="2800" i="1" dirty="0">
                        <a:latin typeface="Cambria Math"/>
                      </a:rPr>
                      <m:t>𝑛</m:t>
                    </m:r>
                    <m:r>
                      <a:rPr lang="en-US" sz="2800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2800" i="1" dirty="0"/>
                  <a:t>, 	h(current state) = 8</a:t>
                </a:r>
                <a:endParaRPr lang="en-US" sz="2800" dirty="0"/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6334780"/>
                <a:ext cx="8763000" cy="523220"/>
              </a:xfrm>
              <a:prstGeom prst="rect">
                <a:avLst/>
              </a:prstGeom>
              <a:blipFill rotWithShape="1">
                <a:blip r:embed="rId2"/>
                <a:stretch>
                  <a:fillRect l="-1391" t="-10465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08" t="25289" r="17270" b="17701"/>
          <a:stretch/>
        </p:blipFill>
        <p:spPr bwMode="auto">
          <a:xfrm>
            <a:off x="1600200" y="751820"/>
            <a:ext cx="9024614" cy="564898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5418886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1850" y="2769604"/>
            <a:ext cx="10515600" cy="2852737"/>
          </a:xfrm>
        </p:spPr>
        <p:txBody>
          <a:bodyPr/>
          <a:lstStyle/>
          <a:p>
            <a:pPr algn="ctr"/>
            <a:r>
              <a:rPr lang="en-US" dirty="0"/>
              <a:t>Greedy Best First Search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Placeholder 4"/>
              <p:cNvSpPr>
                <a:spLocks noGrp="1"/>
              </p:cNvSpPr>
              <p:nvPr>
                <p:ph type="body" idx="1"/>
              </p:nvPr>
            </p:nvSpPr>
            <p:spPr>
              <a:xfrm>
                <a:off x="831850" y="5622341"/>
                <a:ext cx="10515600" cy="565633"/>
              </a:xfrm>
            </p:spPr>
            <p:txBody>
              <a:bodyPr/>
              <a:lstStyle/>
              <a:p>
                <a:pPr algn="ctr"/>
                <a:r>
                  <a:rPr lang="en-US" altLang="x-none" dirty="0">
                    <a:solidFill>
                      <a:srgbClr val="002060"/>
                    </a:solidFill>
                  </a:rPr>
                  <a:t>eval-fn: </a:t>
                </a:r>
                <a14:m>
                  <m:oMath xmlns:m="http://schemas.openxmlformats.org/officeDocument/2006/math">
                    <m:r>
                      <a:rPr lang="en-US" altLang="x-none" i="1" dirty="0">
                        <a:solidFill>
                          <a:srgbClr val="002060"/>
                        </a:solidFill>
                        <a:latin typeface="Cambria Math"/>
                      </a:rPr>
                      <m:t>𝑓</m:t>
                    </m:r>
                    <m:r>
                      <a:rPr lang="en-US" altLang="x-none" i="1" dirty="0">
                        <a:solidFill>
                          <a:srgbClr val="002060"/>
                        </a:solidFill>
                        <a:latin typeface="Cambria Math"/>
                      </a:rPr>
                      <m:t>(</m:t>
                    </m:r>
                    <m:r>
                      <a:rPr lang="en-US" altLang="x-none" i="1" dirty="0">
                        <a:solidFill>
                          <a:srgbClr val="002060"/>
                        </a:solidFill>
                        <a:latin typeface="Cambria Math"/>
                      </a:rPr>
                      <m:t>𝑛</m:t>
                    </m:r>
                    <m:r>
                      <a:rPr lang="en-US" altLang="x-none" i="1" dirty="0">
                        <a:solidFill>
                          <a:srgbClr val="002060"/>
                        </a:solidFill>
                        <a:latin typeface="Cambria Math"/>
                      </a:rPr>
                      <m:t>) = </m:t>
                    </m:r>
                    <m:r>
                      <a:rPr lang="en-US" altLang="x-none" i="1" dirty="0">
                        <a:solidFill>
                          <a:srgbClr val="002060"/>
                        </a:solidFill>
                        <a:latin typeface="Cambria Math"/>
                      </a:rPr>
                      <m:t>h</m:t>
                    </m:r>
                    <m:r>
                      <a:rPr lang="en-US" altLang="x-none" i="1" dirty="0">
                        <a:solidFill>
                          <a:srgbClr val="002060"/>
                        </a:solidFill>
                        <a:latin typeface="Cambria Math"/>
                      </a:rPr>
                      <m:t>(</m:t>
                    </m:r>
                    <m:r>
                      <a:rPr lang="en-US" altLang="x-none" i="1" dirty="0">
                        <a:solidFill>
                          <a:srgbClr val="002060"/>
                        </a:solidFill>
                        <a:latin typeface="Cambria Math"/>
                      </a:rPr>
                      <m:t>𝑛</m:t>
                    </m:r>
                    <m:r>
                      <a:rPr lang="en-US" altLang="x-none" i="1" dirty="0">
                        <a:solidFill>
                          <a:srgbClr val="002060"/>
                        </a:solidFill>
                        <a:latin typeface="Cambria Math"/>
                      </a:rPr>
                      <m:t>)</m:t>
                    </m:r>
                  </m:oMath>
                </a14:m>
                <a:endParaRPr lang="en-GB" altLang="x-none" dirty="0">
                  <a:solidFill>
                    <a:srgbClr val="002060"/>
                  </a:solidFill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5" name="Tex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831850" y="5622341"/>
                <a:ext cx="10515600" cy="565633"/>
              </a:xfrm>
              <a:blipFill rotWithShape="0">
                <a:blip r:embed="rId2"/>
                <a:stretch>
                  <a:fillRect t="-150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101009" y="153398"/>
            <a:ext cx="5552661" cy="447823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064566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Greedy (Best-First)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Idea: Expand node with the smallest estimated cost to reach the goal.</a:t>
            </a:r>
          </a:p>
          <a:p>
            <a:r>
              <a:rPr lang="en-US" dirty="0"/>
              <a:t>Use heuristic function f(n) = h(n)</a:t>
            </a:r>
          </a:p>
          <a:p>
            <a:r>
              <a:rPr lang="en-US" b="1" dirty="0"/>
              <a:t>Best-first search</a:t>
            </a:r>
            <a:r>
              <a:rPr lang="en-US" dirty="0"/>
              <a:t> tries to expand the node that is closest to the goal, on the grounds that this is likely to lead to a solution quickly. </a:t>
            </a:r>
          </a:p>
          <a:p>
            <a:endParaRPr lang="en-US" dirty="0"/>
          </a:p>
          <a:p>
            <a:r>
              <a:rPr lang="en-US" i="1" dirty="0"/>
              <a:t>Choose path with low heuristic value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95356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9168" y="1219200"/>
            <a:ext cx="8297333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089443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7315200" y="914400"/>
            <a:ext cx="4876800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Greedy Search</a:t>
            </a:r>
          </a:p>
        </p:txBody>
      </p:sp>
      <p:sp>
        <p:nvSpPr>
          <p:cNvPr id="81613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2800" dirty="0"/>
              <a:t>Expand the node that seems closest…</a:t>
            </a:r>
          </a:p>
          <a:p>
            <a:pPr eaLnBrk="1" hangingPunct="1">
              <a:lnSpc>
                <a:spcPct val="90000"/>
              </a:lnSpc>
            </a:pPr>
            <a:endParaRPr lang="en-US" sz="2800" dirty="0"/>
          </a:p>
          <a:p>
            <a:pPr eaLnBrk="1" hangingPunct="1">
              <a:lnSpc>
                <a:spcPct val="90000"/>
              </a:lnSpc>
            </a:pPr>
            <a:endParaRPr lang="en-US" sz="2800" dirty="0"/>
          </a:p>
          <a:p>
            <a:pPr eaLnBrk="1" hangingPunct="1">
              <a:lnSpc>
                <a:spcPct val="90000"/>
              </a:lnSpc>
            </a:pPr>
            <a:endParaRPr lang="en-US" sz="2800" dirty="0"/>
          </a:p>
          <a:p>
            <a:pPr eaLnBrk="1" hangingPunct="1">
              <a:lnSpc>
                <a:spcPct val="90000"/>
              </a:lnSpc>
            </a:pPr>
            <a:endParaRPr lang="en-US" sz="2800" dirty="0"/>
          </a:p>
          <a:p>
            <a:pPr eaLnBrk="1" hangingPunct="1">
              <a:lnSpc>
                <a:spcPct val="90000"/>
              </a:lnSpc>
            </a:pPr>
            <a:endParaRPr lang="en-US" sz="2800" dirty="0"/>
          </a:p>
          <a:p>
            <a:pPr eaLnBrk="1" hangingPunct="1">
              <a:lnSpc>
                <a:spcPct val="90000"/>
              </a:lnSpc>
            </a:pPr>
            <a:endParaRPr lang="en-US" sz="2800" dirty="0"/>
          </a:p>
          <a:p>
            <a:pPr eaLnBrk="1" hangingPunct="1">
              <a:lnSpc>
                <a:spcPct val="90000"/>
              </a:lnSpc>
            </a:pPr>
            <a:endParaRPr lang="en-US" sz="2800" dirty="0"/>
          </a:p>
          <a:p>
            <a:pPr eaLnBrk="1" hangingPunct="1">
              <a:lnSpc>
                <a:spcPct val="90000"/>
              </a:lnSpc>
            </a:pPr>
            <a:endParaRPr lang="en-US" sz="2800" dirty="0"/>
          </a:p>
          <a:p>
            <a:pPr eaLnBrk="1" hangingPunct="1">
              <a:lnSpc>
                <a:spcPct val="90000"/>
              </a:lnSpc>
            </a:pPr>
            <a:r>
              <a:rPr lang="en-US" sz="2800" dirty="0"/>
              <a:t>What can go wrong?</a:t>
            </a:r>
          </a:p>
        </p:txBody>
      </p:sp>
      <p:pic>
        <p:nvPicPr>
          <p:cNvPr id="816132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10177" y="2268535"/>
            <a:ext cx="1122363" cy="57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6133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693993" y="2311399"/>
            <a:ext cx="6535737" cy="132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6134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322394" y="2362200"/>
            <a:ext cx="7877175" cy="2128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6135" name="Picture 7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319218" y="2343153"/>
            <a:ext cx="7880351" cy="289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4"/>
          <p:cNvPicPr>
            <a:picLocks noChangeAspect="1" noChangeArrowheads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21803"/>
          <a:stretch>
            <a:fillRect/>
          </a:stretch>
        </p:blipFill>
        <p:spPr bwMode="auto">
          <a:xfrm>
            <a:off x="7339093" y="0"/>
            <a:ext cx="4852907" cy="304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67174" y="3719722"/>
            <a:ext cx="1352550" cy="295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95834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1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1487174" y="3000516"/>
            <a:ext cx="5059400" cy="3440043"/>
            <a:chOff x="1447417" y="2616200"/>
            <a:chExt cx="5829683" cy="3851716"/>
          </a:xfrm>
        </p:grpSpPr>
        <p:pic>
          <p:nvPicPr>
            <p:cNvPr id="2" name="Picture 1" descr="romania-subgraph.eps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36004" y="2616200"/>
              <a:ext cx="5641096" cy="3851716"/>
            </a:xfrm>
            <a:prstGeom prst="rect">
              <a:avLst/>
            </a:prstGeom>
          </p:spPr>
        </p:pic>
        <p:sp>
          <p:nvSpPr>
            <p:cNvPr id="18" name="Oval 17"/>
            <p:cNvSpPr/>
            <p:nvPr/>
          </p:nvSpPr>
          <p:spPr>
            <a:xfrm>
              <a:off x="1447417" y="2695752"/>
              <a:ext cx="597590" cy="597590"/>
            </a:xfrm>
            <a:prstGeom prst="ellipse">
              <a:avLst/>
            </a:prstGeom>
            <a:noFill/>
            <a:ln w="38100" cmpd="sng">
              <a:solidFill>
                <a:srgbClr val="008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5893409" y="5682267"/>
              <a:ext cx="512217" cy="512217"/>
            </a:xfrm>
            <a:prstGeom prst="ellipse">
              <a:avLst/>
            </a:prstGeom>
            <a:noFill/>
            <a:ln w="38100" cmpd="sng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Title 7">
            <a:extLst>
              <a:ext uri="{FF2B5EF4-FFF2-40B4-BE49-F238E27FC236}">
                <a16:creationId xmlns:a16="http://schemas.microsoft.com/office/drawing/2014/main" id="{BECEE6CD-C980-4552-B0FF-BB12E980B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Greedy Search</a:t>
            </a:r>
          </a:p>
        </p:txBody>
      </p:sp>
      <p:sp>
        <p:nvSpPr>
          <p:cNvPr id="8161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dirty="0"/>
              <a:t>Expand the node that seems closest…(order frontier by h)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dirty="0"/>
              <a:t>What can possibly go wrong?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348331" y="3167808"/>
            <a:ext cx="4961257" cy="3330015"/>
            <a:chOff x="308575" y="2783492"/>
            <a:chExt cx="5716598" cy="3728521"/>
          </a:xfrm>
        </p:grpSpPr>
        <p:sp>
          <p:nvSpPr>
            <p:cNvPr id="3" name="TextBox 2"/>
            <p:cNvSpPr txBox="1"/>
            <p:nvPr/>
          </p:nvSpPr>
          <p:spPr bwMode="auto">
            <a:xfrm>
              <a:off x="1528364" y="4132552"/>
              <a:ext cx="1102156" cy="5232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1438" tIns="45719" rIns="91438" bIns="45719" rtlCol="0">
              <a:spAutoFit/>
            </a:bodyPr>
            <a:lstStyle/>
            <a:p>
              <a:r>
                <a:rPr lang="en-US" sz="2800" b="1" dirty="0">
                  <a:solidFill>
                    <a:srgbClr val="FF0000"/>
                  </a:solidFill>
                  <a:latin typeface="Calibri"/>
                  <a:cs typeface="Calibri"/>
                </a:rPr>
                <a:t>h=193</a:t>
              </a:r>
            </a:p>
          </p:txBody>
        </p:sp>
        <p:sp>
          <p:nvSpPr>
            <p:cNvPr id="13" name="TextBox 12"/>
            <p:cNvSpPr txBox="1"/>
            <p:nvPr/>
          </p:nvSpPr>
          <p:spPr bwMode="auto">
            <a:xfrm>
              <a:off x="308575" y="2821338"/>
              <a:ext cx="1183333" cy="5232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1438" tIns="45719" rIns="91438" bIns="45719" rtlCol="0">
              <a:spAutoFit/>
            </a:bodyPr>
            <a:lstStyle/>
            <a:p>
              <a:r>
                <a:rPr lang="en-US" sz="2800" b="1" dirty="0">
                  <a:solidFill>
                    <a:srgbClr val="FF0000"/>
                  </a:solidFill>
                  <a:latin typeface="Calibri"/>
                  <a:cs typeface="Calibri"/>
                </a:rPr>
                <a:t>h= 253</a:t>
              </a:r>
            </a:p>
          </p:txBody>
        </p:sp>
        <p:sp>
          <p:nvSpPr>
            <p:cNvPr id="14" name="TextBox 13"/>
            <p:cNvSpPr txBox="1"/>
            <p:nvPr/>
          </p:nvSpPr>
          <p:spPr bwMode="auto">
            <a:xfrm>
              <a:off x="3619852" y="5104587"/>
              <a:ext cx="1102156" cy="5232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1438" tIns="45719" rIns="91438" bIns="45719" rtlCol="0">
              <a:spAutoFit/>
            </a:bodyPr>
            <a:lstStyle/>
            <a:p>
              <a:r>
                <a:rPr lang="en-US" sz="2800" b="1" dirty="0">
                  <a:solidFill>
                    <a:srgbClr val="FF0000"/>
                  </a:solidFill>
                  <a:latin typeface="Calibri"/>
                  <a:cs typeface="Calibri"/>
                </a:rPr>
                <a:t>h=100</a:t>
              </a:r>
            </a:p>
          </p:txBody>
        </p:sp>
        <p:sp>
          <p:nvSpPr>
            <p:cNvPr id="15" name="TextBox 14"/>
            <p:cNvSpPr txBox="1"/>
            <p:nvPr/>
          </p:nvSpPr>
          <p:spPr bwMode="auto">
            <a:xfrm>
              <a:off x="5286999" y="5988795"/>
              <a:ext cx="738174" cy="5232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1438" tIns="45719" rIns="91438" bIns="45719" rtlCol="0">
              <a:spAutoFit/>
            </a:bodyPr>
            <a:lstStyle/>
            <a:p>
              <a:r>
                <a:rPr lang="en-US" sz="2800" b="1" dirty="0">
                  <a:solidFill>
                    <a:srgbClr val="FF0000"/>
                  </a:solidFill>
                  <a:latin typeface="Calibri"/>
                  <a:cs typeface="Calibri"/>
                </a:rPr>
                <a:t>h=0</a:t>
              </a:r>
            </a:p>
          </p:txBody>
        </p:sp>
        <p:sp>
          <p:nvSpPr>
            <p:cNvPr id="16" name="TextBox 15"/>
            <p:cNvSpPr txBox="1"/>
            <p:nvPr/>
          </p:nvSpPr>
          <p:spPr bwMode="auto">
            <a:xfrm>
              <a:off x="4398233" y="2783492"/>
              <a:ext cx="1102156" cy="5232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1438" tIns="45719" rIns="91438" bIns="45719" rtlCol="0">
              <a:spAutoFit/>
            </a:bodyPr>
            <a:lstStyle/>
            <a:p>
              <a:r>
                <a:rPr lang="en-US" sz="2800" b="1" dirty="0">
                  <a:solidFill>
                    <a:srgbClr val="FF0000"/>
                  </a:solidFill>
                  <a:latin typeface="Calibri"/>
                  <a:cs typeface="Calibri"/>
                </a:rPr>
                <a:t>h=176</a:t>
              </a:r>
            </a:p>
          </p:txBody>
        </p:sp>
      </p:grpSp>
      <p:sp>
        <p:nvSpPr>
          <p:cNvPr id="5" name="TextBox 4"/>
          <p:cNvSpPr txBox="1"/>
          <p:nvPr/>
        </p:nvSpPr>
        <p:spPr bwMode="auto">
          <a:xfrm>
            <a:off x="5818212" y="2790448"/>
            <a:ext cx="6077291" cy="18158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8" tIns="45719" rIns="91438" bIns="45719" rtlCol="0">
            <a:spAutoFit/>
          </a:bodyPr>
          <a:lstStyle/>
          <a:p>
            <a:r>
              <a:rPr lang="en-US" sz="2800" dirty="0">
                <a:latin typeface="Calibri"/>
                <a:cs typeface="Calibri"/>
              </a:rPr>
              <a:t>Sibiu-</a:t>
            </a:r>
            <a:r>
              <a:rPr lang="en-US" sz="2800" dirty="0" err="1">
                <a:latin typeface="Calibri"/>
                <a:cs typeface="Calibri"/>
              </a:rPr>
              <a:t>Fagaras</a:t>
            </a:r>
            <a:r>
              <a:rPr lang="en-US" sz="2800" dirty="0">
                <a:latin typeface="Calibri"/>
                <a:cs typeface="Calibri"/>
              </a:rPr>
              <a:t>-Bucharest =</a:t>
            </a:r>
          </a:p>
          <a:p>
            <a:r>
              <a:rPr lang="en-US" sz="2800" dirty="0">
                <a:latin typeface="Calibri"/>
                <a:cs typeface="Calibri"/>
              </a:rPr>
              <a:t>         99+211 = </a:t>
            </a:r>
            <a:r>
              <a:rPr lang="en-US" sz="2800" b="1" dirty="0">
                <a:latin typeface="Calibri"/>
                <a:cs typeface="Calibri"/>
              </a:rPr>
              <a:t>310</a:t>
            </a:r>
          </a:p>
          <a:p>
            <a:r>
              <a:rPr lang="en-US" sz="2800" dirty="0">
                <a:latin typeface="Calibri"/>
                <a:cs typeface="Calibri"/>
              </a:rPr>
              <a:t>Sibiu-</a:t>
            </a:r>
            <a:r>
              <a:rPr lang="en-US" sz="2800" dirty="0" err="1">
                <a:latin typeface="Calibri"/>
                <a:cs typeface="Calibri"/>
              </a:rPr>
              <a:t>Rimnicu</a:t>
            </a:r>
            <a:r>
              <a:rPr lang="en-US" sz="2800" dirty="0">
                <a:latin typeface="Calibri"/>
                <a:cs typeface="Calibri"/>
              </a:rPr>
              <a:t> </a:t>
            </a:r>
            <a:r>
              <a:rPr lang="en-US" sz="2800" dirty="0" err="1">
                <a:latin typeface="Calibri"/>
                <a:cs typeface="Calibri"/>
              </a:rPr>
              <a:t>Vilcea</a:t>
            </a:r>
            <a:r>
              <a:rPr lang="en-US" sz="2800" dirty="0">
                <a:latin typeface="Calibri"/>
                <a:cs typeface="Calibri"/>
              </a:rPr>
              <a:t>-Pitesti-Bucharest =</a:t>
            </a:r>
          </a:p>
          <a:p>
            <a:r>
              <a:rPr lang="en-US" sz="2800" dirty="0">
                <a:latin typeface="Calibri"/>
                <a:cs typeface="Calibri"/>
              </a:rPr>
              <a:t>         80+97+101 = </a:t>
            </a:r>
            <a:r>
              <a:rPr lang="en-US" sz="2800" b="1" dirty="0">
                <a:latin typeface="Calibri"/>
                <a:cs typeface="Calibri"/>
              </a:rPr>
              <a:t>278</a:t>
            </a:r>
          </a:p>
        </p:txBody>
      </p:sp>
      <p:cxnSp>
        <p:nvCxnSpPr>
          <p:cNvPr id="20" name="Straight Connector 19"/>
          <p:cNvCxnSpPr/>
          <p:nvPr/>
        </p:nvCxnSpPr>
        <p:spPr>
          <a:xfrm flipH="1">
            <a:off x="4790523" y="4741697"/>
            <a:ext cx="511065" cy="15490"/>
          </a:xfrm>
          <a:prstGeom prst="line">
            <a:avLst/>
          </a:prstGeom>
          <a:ln w="57150" cmpd="sng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 bwMode="auto">
          <a:xfrm>
            <a:off x="4945389" y="4788158"/>
            <a:ext cx="1003621" cy="369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438" tIns="45719" rIns="91438" bIns="45719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alibri"/>
                <a:cs typeface="Calibri"/>
              </a:rPr>
              <a:t>1000000</a:t>
            </a:r>
          </a:p>
        </p:txBody>
      </p:sp>
    </p:spTree>
    <p:extLst>
      <p:ext uri="{BB962C8B-B14F-4D97-AF65-F5344CB8AC3E}">
        <p14:creationId xmlns:p14="http://schemas.microsoft.com/office/powerpoint/2010/main" val="189030798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Freeform 28"/>
          <p:cNvSpPr>
            <a:spLocks/>
          </p:cNvSpPr>
          <p:nvPr/>
        </p:nvSpPr>
        <p:spPr bwMode="auto">
          <a:xfrm>
            <a:off x="8094662" y="3833812"/>
            <a:ext cx="2884488" cy="2263775"/>
          </a:xfrm>
          <a:custGeom>
            <a:avLst/>
            <a:gdLst>
              <a:gd name="T0" fmla="*/ 2147483647 w 1817"/>
              <a:gd name="T1" fmla="*/ 2147483647 h 1714"/>
              <a:gd name="T2" fmla="*/ 2147483647 w 1817"/>
              <a:gd name="T3" fmla="*/ 2147483647 h 1714"/>
              <a:gd name="T4" fmla="*/ 2147483647 w 1817"/>
              <a:gd name="T5" fmla="*/ 2147483647 h 1714"/>
              <a:gd name="T6" fmla="*/ 2147483647 w 1817"/>
              <a:gd name="T7" fmla="*/ 2147483647 h 1714"/>
              <a:gd name="T8" fmla="*/ 2147483647 w 1817"/>
              <a:gd name="T9" fmla="*/ 2147483647 h 1714"/>
              <a:gd name="T10" fmla="*/ 2147483647 w 1817"/>
              <a:gd name="T11" fmla="*/ 2147483647 h 1714"/>
              <a:gd name="T12" fmla="*/ 2147483647 w 1817"/>
              <a:gd name="T13" fmla="*/ 2147483647 h 1714"/>
              <a:gd name="T14" fmla="*/ 2147483647 w 1817"/>
              <a:gd name="T15" fmla="*/ 2147483647 h 1714"/>
              <a:gd name="T16" fmla="*/ 2147483647 w 1817"/>
              <a:gd name="T17" fmla="*/ 2147483647 h 1714"/>
              <a:gd name="T18" fmla="*/ 2147483647 w 1817"/>
              <a:gd name="T19" fmla="*/ 2147483647 h 171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17"/>
              <a:gd name="T31" fmla="*/ 0 h 1714"/>
              <a:gd name="T32" fmla="*/ 1817 w 1817"/>
              <a:gd name="T33" fmla="*/ 1714 h 1714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17" h="1714">
                <a:moveTo>
                  <a:pt x="938" y="164"/>
                </a:moveTo>
                <a:cubicBezTo>
                  <a:pt x="1096" y="407"/>
                  <a:pt x="1716" y="1413"/>
                  <a:pt x="1817" y="1625"/>
                </a:cubicBezTo>
                <a:cubicBezTo>
                  <a:pt x="1741" y="1629"/>
                  <a:pt x="1331" y="1650"/>
                  <a:pt x="1054" y="1649"/>
                </a:cubicBezTo>
                <a:cubicBezTo>
                  <a:pt x="1021" y="1539"/>
                  <a:pt x="1101" y="1279"/>
                  <a:pt x="1036" y="1021"/>
                </a:cubicBezTo>
                <a:cubicBezTo>
                  <a:pt x="1008" y="965"/>
                  <a:pt x="973" y="949"/>
                  <a:pt x="897" y="973"/>
                </a:cubicBezTo>
                <a:cubicBezTo>
                  <a:pt x="855" y="963"/>
                  <a:pt x="618" y="1676"/>
                  <a:pt x="586" y="1654"/>
                </a:cubicBezTo>
                <a:cubicBezTo>
                  <a:pt x="468" y="1651"/>
                  <a:pt x="44" y="1714"/>
                  <a:pt x="47" y="1649"/>
                </a:cubicBezTo>
                <a:cubicBezTo>
                  <a:pt x="0" y="1570"/>
                  <a:pt x="165" y="1427"/>
                  <a:pt x="302" y="1181"/>
                </a:cubicBezTo>
                <a:cubicBezTo>
                  <a:pt x="348" y="1005"/>
                  <a:pt x="762" y="338"/>
                  <a:pt x="868" y="169"/>
                </a:cubicBezTo>
                <a:cubicBezTo>
                  <a:pt x="974" y="0"/>
                  <a:pt x="924" y="165"/>
                  <a:pt x="938" y="164"/>
                </a:cubicBezTo>
                <a:close/>
              </a:path>
            </a:pathLst>
          </a:cu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91438" tIns="45719" rIns="91438" bIns="45719"/>
          <a:lstStyle/>
          <a:p>
            <a:endParaRPr lang="en-US"/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Greedy Search</a:t>
            </a:r>
          </a:p>
        </p:txBody>
      </p:sp>
      <p:sp>
        <p:nvSpPr>
          <p:cNvPr id="13316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7138990" cy="4351338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80000"/>
              </a:lnSpc>
            </a:pPr>
            <a:r>
              <a:rPr lang="en-US" sz="2800" dirty="0"/>
              <a:t>Strategy: expand a node that you think is closest to a goal state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400" dirty="0"/>
              <a:t>Heuristic: estimate of distance to nearest goal for each state</a:t>
            </a:r>
          </a:p>
          <a:p>
            <a:pPr lvl="1" eaLnBrk="1" hangingPunct="1">
              <a:lnSpc>
                <a:spcPct val="80000"/>
              </a:lnSpc>
            </a:pPr>
            <a:endParaRPr lang="en-US" sz="1200" dirty="0"/>
          </a:p>
          <a:p>
            <a:pPr eaLnBrk="1" hangingPunct="1">
              <a:lnSpc>
                <a:spcPct val="80000"/>
              </a:lnSpc>
            </a:pPr>
            <a:endParaRPr lang="en-US" sz="2800" dirty="0"/>
          </a:p>
          <a:p>
            <a:pPr eaLnBrk="1" hangingPunct="1">
              <a:lnSpc>
                <a:spcPct val="80000"/>
              </a:lnSpc>
            </a:pPr>
            <a:r>
              <a:rPr lang="en-US" sz="2800" dirty="0"/>
              <a:t>A common case: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400" dirty="0"/>
              <a:t>Best-first takes you straight to the (wrong) goal</a:t>
            </a:r>
          </a:p>
          <a:p>
            <a:pPr eaLnBrk="1" hangingPunct="1">
              <a:lnSpc>
                <a:spcPct val="80000"/>
              </a:lnSpc>
            </a:pPr>
            <a:endParaRPr lang="en-US" sz="1200" dirty="0"/>
          </a:p>
          <a:p>
            <a:pPr eaLnBrk="1" hangingPunct="1">
              <a:lnSpc>
                <a:spcPct val="80000"/>
              </a:lnSpc>
            </a:pPr>
            <a:endParaRPr lang="en-US" sz="1200" dirty="0"/>
          </a:p>
          <a:p>
            <a:pPr eaLnBrk="1" hangingPunct="1">
              <a:lnSpc>
                <a:spcPct val="80000"/>
              </a:lnSpc>
            </a:pPr>
            <a:endParaRPr lang="en-US" sz="2800" dirty="0"/>
          </a:p>
          <a:p>
            <a:pPr eaLnBrk="1" hangingPunct="1">
              <a:lnSpc>
                <a:spcPct val="80000"/>
              </a:lnSpc>
            </a:pPr>
            <a:r>
              <a:rPr lang="en-US" sz="2800" dirty="0"/>
              <a:t>Worst-case: like a badly-guided DFS</a:t>
            </a:r>
          </a:p>
        </p:txBody>
      </p:sp>
      <p:sp>
        <p:nvSpPr>
          <p:cNvPr id="13317" name="Freeform 30"/>
          <p:cNvSpPr>
            <a:spLocks/>
          </p:cNvSpPr>
          <p:nvPr/>
        </p:nvSpPr>
        <p:spPr bwMode="auto">
          <a:xfrm>
            <a:off x="9348787" y="1219200"/>
            <a:ext cx="846139" cy="1774825"/>
          </a:xfrm>
          <a:custGeom>
            <a:avLst/>
            <a:gdLst>
              <a:gd name="T0" fmla="*/ 2147483647 w 533"/>
              <a:gd name="T1" fmla="*/ 2147483647 h 1118"/>
              <a:gd name="T2" fmla="*/ 2147483647 w 533"/>
              <a:gd name="T3" fmla="*/ 2147483647 h 1118"/>
              <a:gd name="T4" fmla="*/ 2147483647 w 533"/>
              <a:gd name="T5" fmla="*/ 2147483647 h 1118"/>
              <a:gd name="T6" fmla="*/ 2147483647 w 533"/>
              <a:gd name="T7" fmla="*/ 2147483647 h 1118"/>
              <a:gd name="T8" fmla="*/ 2147483647 w 533"/>
              <a:gd name="T9" fmla="*/ 2147483647 h 1118"/>
              <a:gd name="T10" fmla="*/ 2147483647 w 533"/>
              <a:gd name="T11" fmla="*/ 2147483647 h 111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533"/>
              <a:gd name="T19" fmla="*/ 0 h 1118"/>
              <a:gd name="T20" fmla="*/ 533 w 533"/>
              <a:gd name="T21" fmla="*/ 1118 h 1118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533" h="1118">
                <a:moveTo>
                  <a:pt x="100" y="137"/>
                </a:moveTo>
                <a:cubicBezTo>
                  <a:pt x="172" y="245"/>
                  <a:pt x="395" y="656"/>
                  <a:pt x="464" y="788"/>
                </a:cubicBezTo>
                <a:cubicBezTo>
                  <a:pt x="533" y="920"/>
                  <a:pt x="513" y="858"/>
                  <a:pt x="513" y="928"/>
                </a:cubicBezTo>
                <a:cubicBezTo>
                  <a:pt x="472" y="988"/>
                  <a:pt x="380" y="1118"/>
                  <a:pt x="281" y="991"/>
                </a:cubicBezTo>
                <a:cubicBezTo>
                  <a:pt x="260" y="823"/>
                  <a:pt x="60" y="284"/>
                  <a:pt x="30" y="142"/>
                </a:cubicBezTo>
                <a:cubicBezTo>
                  <a:pt x="0" y="0"/>
                  <a:pt x="32" y="29"/>
                  <a:pt x="100" y="137"/>
                </a:cubicBezTo>
                <a:close/>
              </a:path>
            </a:pathLst>
          </a:cu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91438" tIns="45719" rIns="91438" bIns="45719"/>
          <a:lstStyle/>
          <a:p>
            <a:endParaRPr lang="en-US"/>
          </a:p>
        </p:txBody>
      </p:sp>
      <p:sp>
        <p:nvSpPr>
          <p:cNvPr id="13318" name="Freeform 4"/>
          <p:cNvSpPr>
            <a:spLocks/>
          </p:cNvSpPr>
          <p:nvPr/>
        </p:nvSpPr>
        <p:spPr bwMode="auto">
          <a:xfrm>
            <a:off x="8001000" y="1322386"/>
            <a:ext cx="2927351" cy="2108200"/>
          </a:xfrm>
          <a:custGeom>
            <a:avLst/>
            <a:gdLst>
              <a:gd name="T0" fmla="*/ 0 w 1844"/>
              <a:gd name="T1" fmla="*/ 2147483647 h 1609"/>
              <a:gd name="T2" fmla="*/ 2147483647 w 1844"/>
              <a:gd name="T3" fmla="*/ 2147483647 h 1609"/>
              <a:gd name="T4" fmla="*/ 2147483647 w 1844"/>
              <a:gd name="T5" fmla="*/ 0 h 1609"/>
              <a:gd name="T6" fmla="*/ 0 w 1844"/>
              <a:gd name="T7" fmla="*/ 2147483647 h 1609"/>
              <a:gd name="T8" fmla="*/ 0 60000 65536"/>
              <a:gd name="T9" fmla="*/ 0 60000 65536"/>
              <a:gd name="T10" fmla="*/ 0 60000 65536"/>
              <a:gd name="T11" fmla="*/ 0 60000 65536"/>
              <a:gd name="T12" fmla="*/ 0 w 1844"/>
              <a:gd name="T13" fmla="*/ 0 h 1609"/>
              <a:gd name="T14" fmla="*/ 1844 w 1844"/>
              <a:gd name="T15" fmla="*/ 1609 h 160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844" h="1609">
                <a:moveTo>
                  <a:pt x="0" y="1609"/>
                </a:moveTo>
                <a:lnTo>
                  <a:pt x="1844" y="1609"/>
                </a:lnTo>
                <a:lnTo>
                  <a:pt x="915" y="0"/>
                </a:lnTo>
                <a:lnTo>
                  <a:pt x="0" y="1609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91438" tIns="45719" rIns="91438" bIns="45719"/>
          <a:lstStyle/>
          <a:p>
            <a:endParaRPr lang="en-US"/>
          </a:p>
        </p:txBody>
      </p:sp>
      <p:sp>
        <p:nvSpPr>
          <p:cNvPr id="13319" name="Oval 5"/>
          <p:cNvSpPr>
            <a:spLocks noChangeArrowheads="1"/>
          </p:cNvSpPr>
          <p:nvPr/>
        </p:nvSpPr>
        <p:spPr bwMode="auto">
          <a:xfrm>
            <a:off x="9123363" y="1677987"/>
            <a:ext cx="179388" cy="1793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/>
          </a:p>
        </p:txBody>
      </p:sp>
      <p:sp>
        <p:nvSpPr>
          <p:cNvPr id="13320" name="Oval 6"/>
          <p:cNvSpPr>
            <a:spLocks noChangeArrowheads="1"/>
          </p:cNvSpPr>
          <p:nvPr/>
        </p:nvSpPr>
        <p:spPr bwMode="auto">
          <a:xfrm>
            <a:off x="9599613" y="1668461"/>
            <a:ext cx="179388" cy="1793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/>
          </a:p>
        </p:txBody>
      </p:sp>
      <p:sp>
        <p:nvSpPr>
          <p:cNvPr id="13321" name="Text Box 7"/>
          <p:cNvSpPr txBox="1">
            <a:spLocks noChangeArrowheads="1"/>
          </p:cNvSpPr>
          <p:nvPr/>
        </p:nvSpPr>
        <p:spPr bwMode="auto">
          <a:xfrm>
            <a:off x="9253537" y="1528763"/>
            <a:ext cx="274639" cy="369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…</a:t>
            </a:r>
          </a:p>
        </p:txBody>
      </p:sp>
      <p:sp>
        <p:nvSpPr>
          <p:cNvPr id="13322" name="Freeform 8"/>
          <p:cNvSpPr>
            <a:spLocks/>
          </p:cNvSpPr>
          <p:nvPr/>
        </p:nvSpPr>
        <p:spPr bwMode="auto">
          <a:xfrm>
            <a:off x="9236076" y="1482725"/>
            <a:ext cx="444500" cy="88900"/>
          </a:xfrm>
          <a:custGeom>
            <a:avLst/>
            <a:gdLst>
              <a:gd name="T0" fmla="*/ 0 w 280"/>
              <a:gd name="T1" fmla="*/ 2147483647 h 56"/>
              <a:gd name="T2" fmla="*/ 2147483647 w 280"/>
              <a:gd name="T3" fmla="*/ 2147483647 h 56"/>
              <a:gd name="T4" fmla="*/ 2147483647 w 280"/>
              <a:gd name="T5" fmla="*/ 0 h 56"/>
              <a:gd name="T6" fmla="*/ 0 60000 65536"/>
              <a:gd name="T7" fmla="*/ 0 60000 65536"/>
              <a:gd name="T8" fmla="*/ 0 60000 65536"/>
              <a:gd name="T9" fmla="*/ 0 w 280"/>
              <a:gd name="T10" fmla="*/ 0 h 56"/>
              <a:gd name="T11" fmla="*/ 280 w 280"/>
              <a:gd name="T12" fmla="*/ 56 h 5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0" h="56">
                <a:moveTo>
                  <a:pt x="0" y="11"/>
                </a:moveTo>
                <a:cubicBezTo>
                  <a:pt x="52" y="33"/>
                  <a:pt x="104" y="56"/>
                  <a:pt x="151" y="54"/>
                </a:cubicBezTo>
                <a:cubicBezTo>
                  <a:pt x="198" y="52"/>
                  <a:pt x="239" y="26"/>
                  <a:pt x="28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sm" len="sm"/>
          </a:ln>
        </p:spPr>
        <p:txBody>
          <a:bodyPr lIns="91438" tIns="45719" rIns="91438" bIns="45719"/>
          <a:lstStyle/>
          <a:p>
            <a:endParaRPr lang="en-US"/>
          </a:p>
        </p:txBody>
      </p:sp>
      <p:sp>
        <p:nvSpPr>
          <p:cNvPr id="13323" name="Text Box 9"/>
          <p:cNvSpPr txBox="1">
            <a:spLocks noChangeArrowheads="1"/>
          </p:cNvSpPr>
          <p:nvPr/>
        </p:nvSpPr>
        <p:spPr bwMode="auto">
          <a:xfrm>
            <a:off x="9637711" y="1281112"/>
            <a:ext cx="298451" cy="369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b</a:t>
            </a:r>
          </a:p>
        </p:txBody>
      </p:sp>
      <p:sp>
        <p:nvSpPr>
          <p:cNvPr id="13324" name="Oval 11"/>
          <p:cNvSpPr>
            <a:spLocks noChangeArrowheads="1"/>
          </p:cNvSpPr>
          <p:nvPr/>
        </p:nvSpPr>
        <p:spPr bwMode="auto">
          <a:xfrm>
            <a:off x="9847263" y="2592387"/>
            <a:ext cx="179388" cy="179388"/>
          </a:xfrm>
          <a:prstGeom prst="ellipse">
            <a:avLst/>
          </a:prstGeom>
          <a:solidFill>
            <a:srgbClr val="FF99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/>
          </a:p>
        </p:txBody>
      </p:sp>
      <p:sp>
        <p:nvSpPr>
          <p:cNvPr id="13325" name="Oval 17"/>
          <p:cNvSpPr>
            <a:spLocks noChangeArrowheads="1"/>
          </p:cNvSpPr>
          <p:nvPr/>
        </p:nvSpPr>
        <p:spPr bwMode="auto">
          <a:xfrm>
            <a:off x="9355137" y="1252537"/>
            <a:ext cx="179388" cy="1793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/>
          </a:p>
        </p:txBody>
      </p:sp>
      <p:sp>
        <p:nvSpPr>
          <p:cNvPr id="13326" name="Freeform 18"/>
          <p:cNvSpPr>
            <a:spLocks/>
          </p:cNvSpPr>
          <p:nvPr/>
        </p:nvSpPr>
        <p:spPr bwMode="auto">
          <a:xfrm>
            <a:off x="8080376" y="3959223"/>
            <a:ext cx="2927351" cy="2062163"/>
          </a:xfrm>
          <a:custGeom>
            <a:avLst/>
            <a:gdLst>
              <a:gd name="T0" fmla="*/ 0 w 1844"/>
              <a:gd name="T1" fmla="*/ 2147483647 h 1609"/>
              <a:gd name="T2" fmla="*/ 2147483647 w 1844"/>
              <a:gd name="T3" fmla="*/ 2147483647 h 1609"/>
              <a:gd name="T4" fmla="*/ 2147483647 w 1844"/>
              <a:gd name="T5" fmla="*/ 0 h 1609"/>
              <a:gd name="T6" fmla="*/ 0 w 1844"/>
              <a:gd name="T7" fmla="*/ 2147483647 h 1609"/>
              <a:gd name="T8" fmla="*/ 0 60000 65536"/>
              <a:gd name="T9" fmla="*/ 0 60000 65536"/>
              <a:gd name="T10" fmla="*/ 0 60000 65536"/>
              <a:gd name="T11" fmla="*/ 0 60000 65536"/>
              <a:gd name="T12" fmla="*/ 0 w 1844"/>
              <a:gd name="T13" fmla="*/ 0 h 1609"/>
              <a:gd name="T14" fmla="*/ 1844 w 1844"/>
              <a:gd name="T15" fmla="*/ 1609 h 160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844" h="1609">
                <a:moveTo>
                  <a:pt x="0" y="1609"/>
                </a:moveTo>
                <a:lnTo>
                  <a:pt x="1844" y="1609"/>
                </a:lnTo>
                <a:lnTo>
                  <a:pt x="915" y="0"/>
                </a:lnTo>
                <a:lnTo>
                  <a:pt x="0" y="1609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91438" tIns="45719" rIns="91438" bIns="45719"/>
          <a:lstStyle/>
          <a:p>
            <a:endParaRPr lang="en-US"/>
          </a:p>
        </p:txBody>
      </p:sp>
      <p:sp>
        <p:nvSpPr>
          <p:cNvPr id="13327" name="Oval 19"/>
          <p:cNvSpPr>
            <a:spLocks noChangeArrowheads="1"/>
          </p:cNvSpPr>
          <p:nvPr/>
        </p:nvSpPr>
        <p:spPr bwMode="auto">
          <a:xfrm>
            <a:off x="9202737" y="4314825"/>
            <a:ext cx="179388" cy="179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/>
          </a:p>
        </p:txBody>
      </p:sp>
      <p:sp>
        <p:nvSpPr>
          <p:cNvPr id="13328" name="Oval 20"/>
          <p:cNvSpPr>
            <a:spLocks noChangeArrowheads="1"/>
          </p:cNvSpPr>
          <p:nvPr/>
        </p:nvSpPr>
        <p:spPr bwMode="auto">
          <a:xfrm>
            <a:off x="9678988" y="4305299"/>
            <a:ext cx="179388" cy="179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/>
          </a:p>
        </p:txBody>
      </p:sp>
      <p:sp>
        <p:nvSpPr>
          <p:cNvPr id="13329" name="Text Box 21"/>
          <p:cNvSpPr txBox="1">
            <a:spLocks noChangeArrowheads="1"/>
          </p:cNvSpPr>
          <p:nvPr/>
        </p:nvSpPr>
        <p:spPr bwMode="auto">
          <a:xfrm>
            <a:off x="9332912" y="4165600"/>
            <a:ext cx="274639" cy="369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…</a:t>
            </a:r>
          </a:p>
        </p:txBody>
      </p:sp>
      <p:sp>
        <p:nvSpPr>
          <p:cNvPr id="13330" name="Freeform 22"/>
          <p:cNvSpPr>
            <a:spLocks/>
          </p:cNvSpPr>
          <p:nvPr/>
        </p:nvSpPr>
        <p:spPr bwMode="auto">
          <a:xfrm>
            <a:off x="9315451" y="4119561"/>
            <a:ext cx="444500" cy="88900"/>
          </a:xfrm>
          <a:custGeom>
            <a:avLst/>
            <a:gdLst>
              <a:gd name="T0" fmla="*/ 0 w 280"/>
              <a:gd name="T1" fmla="*/ 2147483647 h 56"/>
              <a:gd name="T2" fmla="*/ 2147483647 w 280"/>
              <a:gd name="T3" fmla="*/ 2147483647 h 56"/>
              <a:gd name="T4" fmla="*/ 2147483647 w 280"/>
              <a:gd name="T5" fmla="*/ 0 h 56"/>
              <a:gd name="T6" fmla="*/ 0 60000 65536"/>
              <a:gd name="T7" fmla="*/ 0 60000 65536"/>
              <a:gd name="T8" fmla="*/ 0 60000 65536"/>
              <a:gd name="T9" fmla="*/ 0 w 280"/>
              <a:gd name="T10" fmla="*/ 0 h 56"/>
              <a:gd name="T11" fmla="*/ 280 w 280"/>
              <a:gd name="T12" fmla="*/ 56 h 5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0" h="56">
                <a:moveTo>
                  <a:pt x="0" y="11"/>
                </a:moveTo>
                <a:cubicBezTo>
                  <a:pt x="52" y="33"/>
                  <a:pt x="104" y="56"/>
                  <a:pt x="151" y="54"/>
                </a:cubicBezTo>
                <a:cubicBezTo>
                  <a:pt x="198" y="52"/>
                  <a:pt x="239" y="26"/>
                  <a:pt x="28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sm" len="sm"/>
          </a:ln>
        </p:spPr>
        <p:txBody>
          <a:bodyPr lIns="91438" tIns="45719" rIns="91438" bIns="45719"/>
          <a:lstStyle/>
          <a:p>
            <a:endParaRPr lang="en-US"/>
          </a:p>
        </p:txBody>
      </p:sp>
      <p:sp>
        <p:nvSpPr>
          <p:cNvPr id="13331" name="Text Box 23"/>
          <p:cNvSpPr txBox="1">
            <a:spLocks noChangeArrowheads="1"/>
          </p:cNvSpPr>
          <p:nvPr/>
        </p:nvSpPr>
        <p:spPr bwMode="auto">
          <a:xfrm>
            <a:off x="9717087" y="3917950"/>
            <a:ext cx="298451" cy="369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b</a:t>
            </a:r>
          </a:p>
        </p:txBody>
      </p:sp>
      <p:sp>
        <p:nvSpPr>
          <p:cNvPr id="13332" name="Oval 25"/>
          <p:cNvSpPr>
            <a:spLocks noChangeArrowheads="1"/>
          </p:cNvSpPr>
          <p:nvPr/>
        </p:nvSpPr>
        <p:spPr bwMode="auto">
          <a:xfrm>
            <a:off x="9466263" y="5335587"/>
            <a:ext cx="179388" cy="179388"/>
          </a:xfrm>
          <a:prstGeom prst="ellipse">
            <a:avLst/>
          </a:prstGeom>
          <a:solidFill>
            <a:srgbClr val="FF99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/>
          </a:p>
        </p:txBody>
      </p:sp>
      <p:sp>
        <p:nvSpPr>
          <p:cNvPr id="13333" name="Oval 29"/>
          <p:cNvSpPr>
            <a:spLocks noChangeArrowheads="1"/>
          </p:cNvSpPr>
          <p:nvPr/>
        </p:nvSpPr>
        <p:spPr bwMode="auto">
          <a:xfrm>
            <a:off x="9434513" y="3889375"/>
            <a:ext cx="179388" cy="179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371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4" grpId="0" animBg="1"/>
      <p:bldP spid="13326" grpId="0" animBg="1"/>
      <p:bldP spid="13327" grpId="0" animBg="1"/>
      <p:bldP spid="13328" grpId="0" animBg="1"/>
      <p:bldP spid="13329" grpId="0"/>
      <p:bldP spid="13330" grpId="0" animBg="1"/>
      <p:bldP spid="13331" grpId="0"/>
      <p:bldP spid="13332" grpId="0" animBg="1"/>
      <p:bldP spid="1333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7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9218" y="150171"/>
            <a:ext cx="6506816" cy="65910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5274124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2" name="Picture 2" descr="pg129_nl.pct                                                   0002692FMacintosh HD                   ABA78158: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281630"/>
            <a:ext cx="8534400" cy="301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0875" y="365125"/>
            <a:ext cx="4352925" cy="3620254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Best First Search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884171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/>
              <a:t>Greedy Search</a:t>
            </a:r>
            <a:endParaRPr lang="en-GB" altLang="x-none"/>
          </a:p>
        </p:txBody>
      </p:sp>
      <p:graphicFrame>
        <p:nvGraphicFramePr>
          <p:cNvPr id="193586" name="Group 50"/>
          <p:cNvGraphicFramePr>
            <a:graphicFrameLocks noGrp="1"/>
          </p:cNvGraphicFramePr>
          <p:nvPr>
            <p:ph sz="half" idx="2"/>
          </p:nvPr>
        </p:nvGraphicFramePr>
        <p:xfrm>
          <a:off x="6172200" y="1600200"/>
          <a:ext cx="3810000" cy="4064000"/>
        </p:xfrm>
        <a:graphic>
          <a:graphicData uri="http://schemas.openxmlformats.org/drawingml/2006/table">
            <a:tbl>
              <a:tblPr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x-none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State</a:t>
                      </a:r>
                      <a:endParaRPr kumimoji="0" lang="en-GB" altLang="x-none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x-none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Heuristic: h(n)</a:t>
                      </a:r>
                      <a:endParaRPr kumimoji="0" lang="en-GB" altLang="x-none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A</a:t>
                      </a:r>
                      <a:endParaRPr kumimoji="0" lang="en-GB" altLang="x-none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366</a:t>
                      </a:r>
                      <a:endParaRPr kumimoji="0" lang="en-GB" altLang="x-none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B</a:t>
                      </a:r>
                      <a:endParaRPr kumimoji="0" lang="en-GB" altLang="x-none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374</a:t>
                      </a:r>
                      <a:endParaRPr kumimoji="0" lang="en-GB" altLang="x-none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C</a:t>
                      </a:r>
                      <a:endParaRPr kumimoji="0" lang="en-GB" altLang="x-none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329</a:t>
                      </a:r>
                      <a:endParaRPr kumimoji="0" lang="en-GB" altLang="x-none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D</a:t>
                      </a:r>
                      <a:endParaRPr kumimoji="0" lang="en-GB" altLang="x-none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244</a:t>
                      </a:r>
                      <a:endParaRPr kumimoji="0" lang="en-GB" altLang="x-none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E</a:t>
                      </a:r>
                      <a:endParaRPr kumimoji="0" lang="en-GB" altLang="x-none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253</a:t>
                      </a:r>
                      <a:endParaRPr kumimoji="0" lang="en-GB" altLang="x-none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F</a:t>
                      </a:r>
                      <a:endParaRPr kumimoji="0" lang="en-GB" altLang="x-none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178</a:t>
                      </a:r>
                      <a:endParaRPr kumimoji="0" lang="en-GB" altLang="x-none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G</a:t>
                      </a:r>
                      <a:endParaRPr kumimoji="0" lang="en-GB" altLang="x-none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193</a:t>
                      </a:r>
                      <a:endParaRPr kumimoji="0" lang="en-GB" altLang="x-none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H</a:t>
                      </a:r>
                      <a:endParaRPr kumimoji="0" lang="en-GB" altLang="x-none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98</a:t>
                      </a:r>
                      <a:endParaRPr kumimoji="0" lang="en-GB" altLang="x-none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x-none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I</a:t>
                      </a:r>
                      <a:endParaRPr kumimoji="0" lang="en-GB" altLang="x-none" sz="18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x-none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0</a:t>
                      </a:r>
                      <a:endParaRPr kumimoji="0" lang="en-GB" altLang="x-none" sz="18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193539" name="Group 3"/>
          <p:cNvGrpSpPr>
            <a:grpSpLocks/>
          </p:cNvGrpSpPr>
          <p:nvPr/>
        </p:nvGrpSpPr>
        <p:grpSpPr bwMode="auto">
          <a:xfrm>
            <a:off x="3657600" y="1981200"/>
            <a:ext cx="457200" cy="457200"/>
            <a:chOff x="1344" y="1248"/>
            <a:chExt cx="288" cy="288"/>
          </a:xfrm>
        </p:grpSpPr>
        <p:sp>
          <p:nvSpPr>
            <p:cNvPr id="193540" name="Oval 4"/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3541" name="Text Box 5"/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x-none"/>
                <a:t>A</a:t>
              </a:r>
              <a:endParaRPr lang="en-GB" altLang="x-none"/>
            </a:p>
          </p:txBody>
        </p:sp>
      </p:grpSp>
      <p:grpSp>
        <p:nvGrpSpPr>
          <p:cNvPr id="193542" name="Group 6"/>
          <p:cNvGrpSpPr>
            <a:grpSpLocks/>
          </p:cNvGrpSpPr>
          <p:nvPr/>
        </p:nvGrpSpPr>
        <p:grpSpPr bwMode="auto">
          <a:xfrm>
            <a:off x="4724400" y="2514600"/>
            <a:ext cx="457200" cy="457200"/>
            <a:chOff x="1344" y="1248"/>
            <a:chExt cx="288" cy="288"/>
          </a:xfrm>
        </p:grpSpPr>
        <p:sp>
          <p:nvSpPr>
            <p:cNvPr id="193543" name="Oval 7"/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3544" name="Text Box 8"/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x-none"/>
                <a:t>B</a:t>
              </a:r>
              <a:endParaRPr lang="en-GB" altLang="x-none"/>
            </a:p>
          </p:txBody>
        </p:sp>
      </p:grpSp>
      <p:grpSp>
        <p:nvGrpSpPr>
          <p:cNvPr id="193545" name="Group 9"/>
          <p:cNvGrpSpPr>
            <a:grpSpLocks/>
          </p:cNvGrpSpPr>
          <p:nvPr/>
        </p:nvGrpSpPr>
        <p:grpSpPr bwMode="auto">
          <a:xfrm>
            <a:off x="2057400" y="3429000"/>
            <a:ext cx="457200" cy="457200"/>
            <a:chOff x="1344" y="1248"/>
            <a:chExt cx="288" cy="288"/>
          </a:xfrm>
        </p:grpSpPr>
        <p:sp>
          <p:nvSpPr>
            <p:cNvPr id="193546" name="Oval 10"/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3547" name="Text Box 11"/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x-none"/>
                <a:t>D</a:t>
              </a:r>
              <a:endParaRPr lang="en-GB" altLang="x-none"/>
            </a:p>
          </p:txBody>
        </p:sp>
      </p:grpSp>
      <p:grpSp>
        <p:nvGrpSpPr>
          <p:cNvPr id="193548" name="Group 12"/>
          <p:cNvGrpSpPr>
            <a:grpSpLocks/>
          </p:cNvGrpSpPr>
          <p:nvPr/>
        </p:nvGrpSpPr>
        <p:grpSpPr bwMode="auto">
          <a:xfrm>
            <a:off x="2590800" y="2667000"/>
            <a:ext cx="457200" cy="457200"/>
            <a:chOff x="1344" y="1248"/>
            <a:chExt cx="288" cy="288"/>
          </a:xfrm>
        </p:grpSpPr>
        <p:sp>
          <p:nvSpPr>
            <p:cNvPr id="193549" name="Oval 13"/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3550" name="Text Box 14"/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x-none"/>
                <a:t>C</a:t>
              </a:r>
              <a:endParaRPr lang="en-GB" altLang="x-none"/>
            </a:p>
          </p:txBody>
        </p:sp>
      </p:grpSp>
      <p:grpSp>
        <p:nvGrpSpPr>
          <p:cNvPr id="193551" name="Group 15"/>
          <p:cNvGrpSpPr>
            <a:grpSpLocks/>
          </p:cNvGrpSpPr>
          <p:nvPr/>
        </p:nvGrpSpPr>
        <p:grpSpPr bwMode="auto">
          <a:xfrm>
            <a:off x="3733800" y="3124200"/>
            <a:ext cx="457200" cy="457200"/>
            <a:chOff x="1344" y="1248"/>
            <a:chExt cx="288" cy="288"/>
          </a:xfrm>
        </p:grpSpPr>
        <p:sp>
          <p:nvSpPr>
            <p:cNvPr id="193552" name="Oval 16"/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3553" name="Text Box 17"/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x-none"/>
                <a:t>E</a:t>
              </a:r>
              <a:endParaRPr lang="en-GB" altLang="x-none"/>
            </a:p>
          </p:txBody>
        </p:sp>
      </p:grpSp>
      <p:grpSp>
        <p:nvGrpSpPr>
          <p:cNvPr id="193554" name="Group 18"/>
          <p:cNvGrpSpPr>
            <a:grpSpLocks/>
          </p:cNvGrpSpPr>
          <p:nvPr/>
        </p:nvGrpSpPr>
        <p:grpSpPr bwMode="auto">
          <a:xfrm>
            <a:off x="4419600" y="4038600"/>
            <a:ext cx="457200" cy="457200"/>
            <a:chOff x="1344" y="1248"/>
            <a:chExt cx="288" cy="288"/>
          </a:xfrm>
        </p:grpSpPr>
        <p:sp>
          <p:nvSpPr>
            <p:cNvPr id="193555" name="Oval 19"/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3556" name="Text Box 20"/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x-none"/>
                <a:t>F</a:t>
              </a:r>
              <a:endParaRPr lang="en-GB" altLang="x-none"/>
            </a:p>
          </p:txBody>
        </p:sp>
      </p:grpSp>
      <p:grpSp>
        <p:nvGrpSpPr>
          <p:cNvPr id="193557" name="Group 21"/>
          <p:cNvGrpSpPr>
            <a:grpSpLocks/>
          </p:cNvGrpSpPr>
          <p:nvPr/>
        </p:nvGrpSpPr>
        <p:grpSpPr bwMode="auto">
          <a:xfrm>
            <a:off x="3429000" y="5715000"/>
            <a:ext cx="457200" cy="457200"/>
            <a:chOff x="1344" y="1248"/>
            <a:chExt cx="288" cy="288"/>
          </a:xfrm>
        </p:grpSpPr>
        <p:sp>
          <p:nvSpPr>
            <p:cNvPr id="193558" name="Oval 22"/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3559" name="Text Box 23"/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x-none"/>
                <a:t>I</a:t>
              </a:r>
              <a:endParaRPr lang="en-GB" altLang="x-none"/>
            </a:p>
          </p:txBody>
        </p:sp>
      </p:grpSp>
      <p:sp>
        <p:nvSpPr>
          <p:cNvPr id="193560" name="Line 24"/>
          <p:cNvSpPr>
            <a:spLocks noChangeShapeType="1"/>
          </p:cNvSpPr>
          <p:nvPr/>
        </p:nvSpPr>
        <p:spPr bwMode="auto">
          <a:xfrm>
            <a:off x="3962400" y="3581400"/>
            <a:ext cx="609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3561" name="Line 25"/>
          <p:cNvSpPr>
            <a:spLocks noChangeShapeType="1"/>
          </p:cNvSpPr>
          <p:nvPr/>
        </p:nvSpPr>
        <p:spPr bwMode="auto">
          <a:xfrm flipH="1">
            <a:off x="3657600" y="4495800"/>
            <a:ext cx="99060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3562" name="Text Box 26"/>
          <p:cNvSpPr txBox="1">
            <a:spLocks noChangeArrowheads="1"/>
          </p:cNvSpPr>
          <p:nvPr/>
        </p:nvSpPr>
        <p:spPr bwMode="auto">
          <a:xfrm>
            <a:off x="4191000" y="3505201"/>
            <a:ext cx="609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b="1">
                <a:solidFill>
                  <a:schemeClr val="hlink"/>
                </a:solidFill>
              </a:rPr>
              <a:t>99</a:t>
            </a:r>
            <a:endParaRPr lang="en-GB" altLang="x-none" b="1">
              <a:solidFill>
                <a:schemeClr val="hlink"/>
              </a:solidFill>
            </a:endParaRPr>
          </a:p>
        </p:txBody>
      </p:sp>
      <p:sp>
        <p:nvSpPr>
          <p:cNvPr id="193563" name="Text Box 27"/>
          <p:cNvSpPr txBox="1">
            <a:spLocks noChangeArrowheads="1"/>
          </p:cNvSpPr>
          <p:nvPr/>
        </p:nvSpPr>
        <p:spPr bwMode="auto">
          <a:xfrm>
            <a:off x="4191000" y="5105401"/>
            <a:ext cx="762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b="1">
                <a:solidFill>
                  <a:schemeClr val="hlink"/>
                </a:solidFill>
              </a:rPr>
              <a:t>211</a:t>
            </a:r>
            <a:endParaRPr lang="en-GB" altLang="x-none" b="1">
              <a:solidFill>
                <a:schemeClr val="hlink"/>
              </a:solidFill>
            </a:endParaRPr>
          </a:p>
        </p:txBody>
      </p:sp>
      <p:grpSp>
        <p:nvGrpSpPr>
          <p:cNvPr id="193564" name="Group 28"/>
          <p:cNvGrpSpPr>
            <a:grpSpLocks/>
          </p:cNvGrpSpPr>
          <p:nvPr/>
        </p:nvGrpSpPr>
        <p:grpSpPr bwMode="auto">
          <a:xfrm>
            <a:off x="2895600" y="4038600"/>
            <a:ext cx="457200" cy="457200"/>
            <a:chOff x="1344" y="1248"/>
            <a:chExt cx="288" cy="288"/>
          </a:xfrm>
        </p:grpSpPr>
        <p:sp>
          <p:nvSpPr>
            <p:cNvPr id="193565" name="Oval 29"/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3566" name="Text Box 30"/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x-none"/>
                <a:t>G</a:t>
              </a:r>
              <a:endParaRPr lang="en-GB" altLang="x-none"/>
            </a:p>
          </p:txBody>
        </p:sp>
      </p:grpSp>
      <p:grpSp>
        <p:nvGrpSpPr>
          <p:cNvPr id="193567" name="Group 31"/>
          <p:cNvGrpSpPr>
            <a:grpSpLocks/>
          </p:cNvGrpSpPr>
          <p:nvPr/>
        </p:nvGrpSpPr>
        <p:grpSpPr bwMode="auto">
          <a:xfrm>
            <a:off x="2667000" y="4953000"/>
            <a:ext cx="457200" cy="457200"/>
            <a:chOff x="1344" y="1248"/>
            <a:chExt cx="288" cy="288"/>
          </a:xfrm>
        </p:grpSpPr>
        <p:sp>
          <p:nvSpPr>
            <p:cNvPr id="193568" name="Oval 32"/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3569" name="Text Box 33"/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x-none"/>
                <a:t>H</a:t>
              </a:r>
              <a:endParaRPr lang="en-GB" altLang="x-none"/>
            </a:p>
          </p:txBody>
        </p:sp>
      </p:grpSp>
      <p:sp>
        <p:nvSpPr>
          <p:cNvPr id="193570" name="Line 34"/>
          <p:cNvSpPr>
            <a:spLocks noChangeShapeType="1"/>
          </p:cNvSpPr>
          <p:nvPr/>
        </p:nvSpPr>
        <p:spPr bwMode="auto">
          <a:xfrm flipH="1">
            <a:off x="3048000" y="3581400"/>
            <a:ext cx="914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3571" name="Line 35"/>
          <p:cNvSpPr>
            <a:spLocks noChangeShapeType="1"/>
          </p:cNvSpPr>
          <p:nvPr/>
        </p:nvSpPr>
        <p:spPr bwMode="auto">
          <a:xfrm flipH="1">
            <a:off x="2895600" y="4495800"/>
            <a:ext cx="228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3572" name="Line 36"/>
          <p:cNvSpPr>
            <a:spLocks noChangeShapeType="1"/>
          </p:cNvSpPr>
          <p:nvPr/>
        </p:nvSpPr>
        <p:spPr bwMode="auto">
          <a:xfrm>
            <a:off x="2895600" y="5410200"/>
            <a:ext cx="762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3573" name="Text Box 37"/>
          <p:cNvSpPr txBox="1">
            <a:spLocks noChangeArrowheads="1"/>
          </p:cNvSpPr>
          <p:nvPr/>
        </p:nvSpPr>
        <p:spPr bwMode="auto">
          <a:xfrm>
            <a:off x="3124200" y="3505201"/>
            <a:ext cx="609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b="1">
                <a:solidFill>
                  <a:schemeClr val="hlink"/>
                </a:solidFill>
              </a:rPr>
              <a:t>80</a:t>
            </a:r>
            <a:endParaRPr lang="en-GB" altLang="x-none" b="1">
              <a:solidFill>
                <a:schemeClr val="hlink"/>
              </a:solidFill>
            </a:endParaRPr>
          </a:p>
        </p:txBody>
      </p:sp>
      <p:sp>
        <p:nvSpPr>
          <p:cNvPr id="193574" name="Line 38"/>
          <p:cNvSpPr>
            <a:spLocks noChangeShapeType="1"/>
          </p:cNvSpPr>
          <p:nvPr/>
        </p:nvSpPr>
        <p:spPr bwMode="auto">
          <a:xfrm>
            <a:off x="3886200" y="2438400"/>
            <a:ext cx="10668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3575" name="Line 39"/>
          <p:cNvSpPr>
            <a:spLocks noChangeShapeType="1"/>
          </p:cNvSpPr>
          <p:nvPr/>
        </p:nvSpPr>
        <p:spPr bwMode="auto">
          <a:xfrm>
            <a:off x="3886200" y="2438400"/>
            <a:ext cx="76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3576" name="Line 40"/>
          <p:cNvSpPr>
            <a:spLocks noChangeShapeType="1"/>
          </p:cNvSpPr>
          <p:nvPr/>
        </p:nvSpPr>
        <p:spPr bwMode="auto">
          <a:xfrm flipH="1">
            <a:off x="2819400" y="2438400"/>
            <a:ext cx="10668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3577" name="Line 41"/>
          <p:cNvSpPr>
            <a:spLocks noChangeShapeType="1"/>
          </p:cNvSpPr>
          <p:nvPr/>
        </p:nvSpPr>
        <p:spPr bwMode="auto">
          <a:xfrm flipH="1">
            <a:off x="2286000" y="3124200"/>
            <a:ext cx="5334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3578" name="Text Box 42"/>
          <p:cNvSpPr txBox="1">
            <a:spLocks noChangeArrowheads="1"/>
          </p:cNvSpPr>
          <p:nvPr/>
        </p:nvSpPr>
        <p:spPr bwMode="auto">
          <a:xfrm>
            <a:off x="4114800" y="1828801"/>
            <a:ext cx="1219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/>
              <a:t>Start</a:t>
            </a:r>
            <a:endParaRPr lang="en-GB" altLang="x-none"/>
          </a:p>
        </p:txBody>
      </p:sp>
      <p:sp>
        <p:nvSpPr>
          <p:cNvPr id="193579" name="Text Box 43"/>
          <p:cNvSpPr txBox="1">
            <a:spLocks noChangeArrowheads="1"/>
          </p:cNvSpPr>
          <p:nvPr/>
        </p:nvSpPr>
        <p:spPr bwMode="auto">
          <a:xfrm>
            <a:off x="3962400" y="6019801"/>
            <a:ext cx="1219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/>
              <a:t>Goal</a:t>
            </a:r>
            <a:endParaRPr lang="en-GB" altLang="x-none"/>
          </a:p>
        </p:txBody>
      </p:sp>
      <p:sp>
        <p:nvSpPr>
          <p:cNvPr id="193580" name="Text Box 44"/>
          <p:cNvSpPr txBox="1">
            <a:spLocks noChangeArrowheads="1"/>
          </p:cNvSpPr>
          <p:nvPr/>
        </p:nvSpPr>
        <p:spPr bwMode="auto">
          <a:xfrm>
            <a:off x="2514600" y="4572001"/>
            <a:ext cx="609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b="1">
                <a:solidFill>
                  <a:schemeClr val="hlink"/>
                </a:solidFill>
              </a:rPr>
              <a:t>97</a:t>
            </a:r>
            <a:endParaRPr lang="en-GB" altLang="x-none" b="1">
              <a:solidFill>
                <a:schemeClr val="hlink"/>
              </a:solidFill>
            </a:endParaRPr>
          </a:p>
        </p:txBody>
      </p:sp>
      <p:sp>
        <p:nvSpPr>
          <p:cNvPr id="193581" name="Text Box 45"/>
          <p:cNvSpPr txBox="1">
            <a:spLocks noChangeArrowheads="1"/>
          </p:cNvSpPr>
          <p:nvPr/>
        </p:nvSpPr>
        <p:spPr bwMode="auto">
          <a:xfrm>
            <a:off x="2819400" y="5486401"/>
            <a:ext cx="838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b="1">
                <a:solidFill>
                  <a:schemeClr val="hlink"/>
                </a:solidFill>
              </a:rPr>
              <a:t>101</a:t>
            </a:r>
            <a:endParaRPr lang="en-GB" altLang="x-none" b="1">
              <a:solidFill>
                <a:schemeClr val="hlink"/>
              </a:solidFill>
            </a:endParaRPr>
          </a:p>
        </p:txBody>
      </p:sp>
      <p:sp>
        <p:nvSpPr>
          <p:cNvPr id="193582" name="Text Box 46"/>
          <p:cNvSpPr txBox="1">
            <a:spLocks noChangeArrowheads="1"/>
          </p:cNvSpPr>
          <p:nvPr/>
        </p:nvSpPr>
        <p:spPr bwMode="auto">
          <a:xfrm>
            <a:off x="4343400" y="2133601"/>
            <a:ext cx="609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b="1">
                <a:solidFill>
                  <a:schemeClr val="hlink"/>
                </a:solidFill>
              </a:rPr>
              <a:t>75</a:t>
            </a:r>
            <a:endParaRPr lang="en-GB" altLang="x-none" b="1">
              <a:solidFill>
                <a:schemeClr val="hlink"/>
              </a:solidFill>
            </a:endParaRPr>
          </a:p>
        </p:txBody>
      </p:sp>
      <p:sp>
        <p:nvSpPr>
          <p:cNvPr id="193583" name="Text Box 47"/>
          <p:cNvSpPr txBox="1">
            <a:spLocks noChangeArrowheads="1"/>
          </p:cNvSpPr>
          <p:nvPr/>
        </p:nvSpPr>
        <p:spPr bwMode="auto">
          <a:xfrm>
            <a:off x="2895600" y="2209801"/>
            <a:ext cx="762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b="1">
                <a:solidFill>
                  <a:schemeClr val="hlink"/>
                </a:solidFill>
              </a:rPr>
              <a:t>118</a:t>
            </a:r>
            <a:endParaRPr lang="en-GB" altLang="x-none" b="1">
              <a:solidFill>
                <a:schemeClr val="hlink"/>
              </a:solidFill>
            </a:endParaRPr>
          </a:p>
        </p:txBody>
      </p:sp>
      <p:sp>
        <p:nvSpPr>
          <p:cNvPr id="193584" name="Text Box 48"/>
          <p:cNvSpPr txBox="1">
            <a:spLocks noChangeArrowheads="1"/>
          </p:cNvSpPr>
          <p:nvPr/>
        </p:nvSpPr>
        <p:spPr bwMode="auto">
          <a:xfrm>
            <a:off x="1905000" y="3048001"/>
            <a:ext cx="762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b="1">
                <a:solidFill>
                  <a:schemeClr val="hlink"/>
                </a:solidFill>
              </a:rPr>
              <a:t>111</a:t>
            </a:r>
            <a:endParaRPr lang="en-GB" altLang="x-none" b="1">
              <a:solidFill>
                <a:schemeClr val="hlink"/>
              </a:solidFill>
            </a:endParaRPr>
          </a:p>
        </p:txBody>
      </p:sp>
      <p:sp>
        <p:nvSpPr>
          <p:cNvPr id="193621" name="Text Box 85"/>
          <p:cNvSpPr txBox="1">
            <a:spLocks noChangeArrowheads="1"/>
          </p:cNvSpPr>
          <p:nvPr/>
        </p:nvSpPr>
        <p:spPr bwMode="auto">
          <a:xfrm>
            <a:off x="3886200" y="2681288"/>
            <a:ext cx="762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b="1">
                <a:solidFill>
                  <a:schemeClr val="hlink"/>
                </a:solidFill>
              </a:rPr>
              <a:t>140</a:t>
            </a:r>
            <a:endParaRPr lang="en-GB" altLang="x-none" b="1">
              <a:solidFill>
                <a:schemeClr val="hlink"/>
              </a:solidFill>
            </a:endParaRPr>
          </a:p>
        </p:txBody>
      </p:sp>
      <p:sp>
        <p:nvSpPr>
          <p:cNvPr id="53" name="Text Box 49"/>
          <p:cNvSpPr txBox="1">
            <a:spLocks noChangeArrowheads="1"/>
          </p:cNvSpPr>
          <p:nvPr/>
        </p:nvSpPr>
        <p:spPr bwMode="auto">
          <a:xfrm>
            <a:off x="4876800" y="5943601"/>
            <a:ext cx="5791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sz="2400" b="1" i="1" dirty="0"/>
              <a:t>f(n) = h </a:t>
            </a:r>
            <a:r>
              <a:rPr lang="en-US" altLang="x-none" sz="2400" b="1" dirty="0"/>
              <a:t>(</a:t>
            </a:r>
            <a:r>
              <a:rPr lang="en-US" altLang="x-none" sz="2400" b="1" i="1" dirty="0"/>
              <a:t>n</a:t>
            </a:r>
            <a:r>
              <a:rPr lang="en-US" altLang="x-none" sz="2400" b="1" dirty="0"/>
              <a:t>) = straight-line distance heuristic</a:t>
            </a:r>
            <a:endParaRPr lang="en-GB" altLang="x-none" sz="2400" b="1" dirty="0"/>
          </a:p>
        </p:txBody>
      </p:sp>
    </p:spTree>
    <p:extLst>
      <p:ext uri="{BB962C8B-B14F-4D97-AF65-F5344CB8AC3E}">
        <p14:creationId xmlns:p14="http://schemas.microsoft.com/office/powerpoint/2010/main" val="27358136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/>
              <a:t>Greedy Search: Tree Search</a:t>
            </a:r>
            <a:endParaRPr lang="en-GB" altLang="x-none"/>
          </a:p>
        </p:txBody>
      </p:sp>
      <p:grpSp>
        <p:nvGrpSpPr>
          <p:cNvPr id="222211" name="Group 3"/>
          <p:cNvGrpSpPr>
            <a:grpSpLocks/>
          </p:cNvGrpSpPr>
          <p:nvPr/>
        </p:nvGrpSpPr>
        <p:grpSpPr bwMode="auto">
          <a:xfrm>
            <a:off x="5638800" y="1981200"/>
            <a:ext cx="457200" cy="457200"/>
            <a:chOff x="1344" y="1248"/>
            <a:chExt cx="288" cy="288"/>
          </a:xfrm>
        </p:grpSpPr>
        <p:sp>
          <p:nvSpPr>
            <p:cNvPr id="222212" name="Oval 4"/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2213" name="Text Box 5"/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x-none"/>
                <a:t>A</a:t>
              </a:r>
              <a:endParaRPr lang="en-GB" altLang="x-none"/>
            </a:p>
          </p:txBody>
        </p:sp>
      </p:grpSp>
      <p:sp>
        <p:nvSpPr>
          <p:cNvPr id="222250" name="Text Box 42"/>
          <p:cNvSpPr txBox="1">
            <a:spLocks noChangeArrowheads="1"/>
          </p:cNvSpPr>
          <p:nvPr/>
        </p:nvSpPr>
        <p:spPr bwMode="auto">
          <a:xfrm>
            <a:off x="6096000" y="1828801"/>
            <a:ext cx="1219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b="1">
                <a:solidFill>
                  <a:schemeClr val="accent1"/>
                </a:solidFill>
              </a:rPr>
              <a:t>Start</a:t>
            </a:r>
            <a:endParaRPr lang="en-GB" altLang="x-none" b="1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422148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/>
              <a:t>Greedy Search: Tree Search</a:t>
            </a:r>
            <a:endParaRPr lang="en-GB" altLang="x-none"/>
          </a:p>
        </p:txBody>
      </p:sp>
      <p:grpSp>
        <p:nvGrpSpPr>
          <p:cNvPr id="224259" name="Group 3"/>
          <p:cNvGrpSpPr>
            <a:grpSpLocks/>
          </p:cNvGrpSpPr>
          <p:nvPr/>
        </p:nvGrpSpPr>
        <p:grpSpPr bwMode="auto">
          <a:xfrm>
            <a:off x="5638800" y="1981200"/>
            <a:ext cx="457200" cy="457200"/>
            <a:chOff x="1344" y="1248"/>
            <a:chExt cx="288" cy="288"/>
          </a:xfrm>
        </p:grpSpPr>
        <p:sp>
          <p:nvSpPr>
            <p:cNvPr id="224260" name="Oval 4"/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4261" name="Text Box 5"/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x-none"/>
                <a:t>A</a:t>
              </a:r>
              <a:endParaRPr lang="en-GB" altLang="x-none"/>
            </a:p>
          </p:txBody>
        </p:sp>
      </p:grpSp>
      <p:grpSp>
        <p:nvGrpSpPr>
          <p:cNvPr id="224262" name="Group 6"/>
          <p:cNvGrpSpPr>
            <a:grpSpLocks/>
          </p:cNvGrpSpPr>
          <p:nvPr/>
        </p:nvGrpSpPr>
        <p:grpSpPr bwMode="auto">
          <a:xfrm>
            <a:off x="7391400" y="2514600"/>
            <a:ext cx="457200" cy="457200"/>
            <a:chOff x="1344" y="1248"/>
            <a:chExt cx="288" cy="288"/>
          </a:xfrm>
        </p:grpSpPr>
        <p:sp>
          <p:nvSpPr>
            <p:cNvPr id="224263" name="Oval 7"/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4264" name="Text Box 8"/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x-none"/>
                <a:t>B</a:t>
              </a:r>
              <a:endParaRPr lang="en-GB" altLang="x-none"/>
            </a:p>
          </p:txBody>
        </p:sp>
      </p:grpSp>
      <p:grpSp>
        <p:nvGrpSpPr>
          <p:cNvPr id="224265" name="Group 9"/>
          <p:cNvGrpSpPr>
            <a:grpSpLocks/>
          </p:cNvGrpSpPr>
          <p:nvPr/>
        </p:nvGrpSpPr>
        <p:grpSpPr bwMode="auto">
          <a:xfrm>
            <a:off x="3429000" y="2667000"/>
            <a:ext cx="457200" cy="457200"/>
            <a:chOff x="1344" y="1248"/>
            <a:chExt cx="288" cy="288"/>
          </a:xfrm>
        </p:grpSpPr>
        <p:sp>
          <p:nvSpPr>
            <p:cNvPr id="224266" name="Oval 10"/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4267" name="Text Box 11"/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x-none"/>
                <a:t>C</a:t>
              </a:r>
              <a:endParaRPr lang="en-GB" altLang="x-none"/>
            </a:p>
          </p:txBody>
        </p:sp>
      </p:grpSp>
      <p:grpSp>
        <p:nvGrpSpPr>
          <p:cNvPr id="224268" name="Group 12"/>
          <p:cNvGrpSpPr>
            <a:grpSpLocks/>
          </p:cNvGrpSpPr>
          <p:nvPr/>
        </p:nvGrpSpPr>
        <p:grpSpPr bwMode="auto">
          <a:xfrm>
            <a:off x="5715000" y="3124200"/>
            <a:ext cx="457200" cy="457200"/>
            <a:chOff x="1344" y="1248"/>
            <a:chExt cx="288" cy="288"/>
          </a:xfrm>
        </p:grpSpPr>
        <p:sp>
          <p:nvSpPr>
            <p:cNvPr id="224269" name="Oval 13"/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4270" name="Text Box 14"/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x-none"/>
                <a:t>E</a:t>
              </a:r>
              <a:endParaRPr lang="en-GB" altLang="x-none"/>
            </a:p>
          </p:txBody>
        </p:sp>
      </p:grpSp>
      <p:sp>
        <p:nvSpPr>
          <p:cNvPr id="224290" name="Line 34"/>
          <p:cNvSpPr>
            <a:spLocks noChangeShapeType="1"/>
          </p:cNvSpPr>
          <p:nvPr/>
        </p:nvSpPr>
        <p:spPr bwMode="auto">
          <a:xfrm>
            <a:off x="5867400" y="2438400"/>
            <a:ext cx="17526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4291" name="Line 35"/>
          <p:cNvSpPr>
            <a:spLocks noChangeShapeType="1"/>
          </p:cNvSpPr>
          <p:nvPr/>
        </p:nvSpPr>
        <p:spPr bwMode="auto">
          <a:xfrm>
            <a:off x="5867400" y="2438400"/>
            <a:ext cx="76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4292" name="Line 36"/>
          <p:cNvSpPr>
            <a:spLocks noChangeShapeType="1"/>
          </p:cNvSpPr>
          <p:nvPr/>
        </p:nvSpPr>
        <p:spPr bwMode="auto">
          <a:xfrm flipH="1">
            <a:off x="3657600" y="2438400"/>
            <a:ext cx="22098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4293" name="Text Box 37"/>
          <p:cNvSpPr txBox="1">
            <a:spLocks noChangeArrowheads="1"/>
          </p:cNvSpPr>
          <p:nvPr/>
        </p:nvSpPr>
        <p:spPr bwMode="auto">
          <a:xfrm>
            <a:off x="6096000" y="1828801"/>
            <a:ext cx="1219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b="1">
                <a:solidFill>
                  <a:schemeClr val="accent1"/>
                </a:solidFill>
              </a:rPr>
              <a:t>Start</a:t>
            </a:r>
            <a:endParaRPr lang="en-GB" altLang="x-none" b="1">
              <a:solidFill>
                <a:schemeClr val="accent1"/>
              </a:solidFill>
            </a:endParaRPr>
          </a:p>
        </p:txBody>
      </p:sp>
      <p:sp>
        <p:nvSpPr>
          <p:cNvPr id="224295" name="Text Box 39"/>
          <p:cNvSpPr txBox="1">
            <a:spLocks noChangeArrowheads="1"/>
          </p:cNvSpPr>
          <p:nvPr/>
        </p:nvSpPr>
        <p:spPr bwMode="auto">
          <a:xfrm>
            <a:off x="6324600" y="2133601"/>
            <a:ext cx="609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b="1">
                <a:solidFill>
                  <a:schemeClr val="accent2"/>
                </a:solidFill>
              </a:rPr>
              <a:t>75</a:t>
            </a:r>
            <a:endParaRPr lang="en-GB" altLang="x-none" b="1">
              <a:solidFill>
                <a:schemeClr val="accent2"/>
              </a:solidFill>
            </a:endParaRPr>
          </a:p>
        </p:txBody>
      </p:sp>
      <p:sp>
        <p:nvSpPr>
          <p:cNvPr id="224296" name="Text Box 40"/>
          <p:cNvSpPr txBox="1">
            <a:spLocks noChangeArrowheads="1"/>
          </p:cNvSpPr>
          <p:nvPr/>
        </p:nvSpPr>
        <p:spPr bwMode="auto">
          <a:xfrm>
            <a:off x="4419600" y="2209801"/>
            <a:ext cx="762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b="1">
                <a:solidFill>
                  <a:schemeClr val="accent2"/>
                </a:solidFill>
              </a:rPr>
              <a:t>118</a:t>
            </a:r>
            <a:endParaRPr lang="en-GB" altLang="x-none" b="1">
              <a:solidFill>
                <a:schemeClr val="accent2"/>
              </a:solidFill>
            </a:endParaRPr>
          </a:p>
        </p:txBody>
      </p:sp>
      <p:sp>
        <p:nvSpPr>
          <p:cNvPr id="224297" name="Text Box 41"/>
          <p:cNvSpPr txBox="1">
            <a:spLocks noChangeArrowheads="1"/>
          </p:cNvSpPr>
          <p:nvPr/>
        </p:nvSpPr>
        <p:spPr bwMode="auto">
          <a:xfrm>
            <a:off x="5867400" y="2681288"/>
            <a:ext cx="762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b="1">
                <a:solidFill>
                  <a:schemeClr val="accent2"/>
                </a:solidFill>
              </a:rPr>
              <a:t>140</a:t>
            </a:r>
            <a:endParaRPr lang="en-GB" altLang="x-none" b="1">
              <a:solidFill>
                <a:schemeClr val="accent2"/>
              </a:solidFill>
            </a:endParaRPr>
          </a:p>
        </p:txBody>
      </p:sp>
      <p:sp>
        <p:nvSpPr>
          <p:cNvPr id="224298" name="Text Box 42"/>
          <p:cNvSpPr txBox="1">
            <a:spLocks noChangeArrowheads="1"/>
          </p:cNvSpPr>
          <p:nvPr/>
        </p:nvSpPr>
        <p:spPr bwMode="auto">
          <a:xfrm>
            <a:off x="6705600" y="2605088"/>
            <a:ext cx="8382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/>
              <a:t>[374]</a:t>
            </a:r>
            <a:endParaRPr lang="en-GB" altLang="x-none"/>
          </a:p>
        </p:txBody>
      </p:sp>
      <p:sp>
        <p:nvSpPr>
          <p:cNvPr id="224299" name="Text Box 43"/>
          <p:cNvSpPr txBox="1">
            <a:spLocks noChangeArrowheads="1"/>
          </p:cNvSpPr>
          <p:nvPr/>
        </p:nvSpPr>
        <p:spPr bwMode="auto">
          <a:xfrm>
            <a:off x="2667000" y="2667001"/>
            <a:ext cx="838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/>
              <a:t>[329]</a:t>
            </a:r>
            <a:endParaRPr lang="en-GB" altLang="x-none"/>
          </a:p>
        </p:txBody>
      </p:sp>
      <p:sp>
        <p:nvSpPr>
          <p:cNvPr id="224300" name="Text Box 44"/>
          <p:cNvSpPr txBox="1">
            <a:spLocks noChangeArrowheads="1"/>
          </p:cNvSpPr>
          <p:nvPr/>
        </p:nvSpPr>
        <p:spPr bwMode="auto">
          <a:xfrm>
            <a:off x="5029200" y="3214688"/>
            <a:ext cx="8382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/>
              <a:t>[253]</a:t>
            </a:r>
            <a:endParaRPr lang="en-GB" altLang="x-none"/>
          </a:p>
        </p:txBody>
      </p:sp>
    </p:spTree>
    <p:extLst>
      <p:ext uri="{BB962C8B-B14F-4D97-AF65-F5344CB8AC3E}">
        <p14:creationId xmlns:p14="http://schemas.microsoft.com/office/powerpoint/2010/main" val="408074791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/>
              <a:t>Greedy Search: Tree Search</a:t>
            </a:r>
            <a:endParaRPr lang="en-GB" altLang="x-none"/>
          </a:p>
        </p:txBody>
      </p:sp>
      <p:grpSp>
        <p:nvGrpSpPr>
          <p:cNvPr id="225283" name="Group 3"/>
          <p:cNvGrpSpPr>
            <a:grpSpLocks/>
          </p:cNvGrpSpPr>
          <p:nvPr/>
        </p:nvGrpSpPr>
        <p:grpSpPr bwMode="auto">
          <a:xfrm>
            <a:off x="5638800" y="1981200"/>
            <a:ext cx="457200" cy="457200"/>
            <a:chOff x="1344" y="1248"/>
            <a:chExt cx="288" cy="288"/>
          </a:xfrm>
        </p:grpSpPr>
        <p:sp>
          <p:nvSpPr>
            <p:cNvPr id="225284" name="Oval 4"/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285" name="Text Box 5"/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x-none"/>
                <a:t>A</a:t>
              </a:r>
              <a:endParaRPr lang="en-GB" altLang="x-none"/>
            </a:p>
          </p:txBody>
        </p:sp>
      </p:grpSp>
      <p:grpSp>
        <p:nvGrpSpPr>
          <p:cNvPr id="225286" name="Group 6"/>
          <p:cNvGrpSpPr>
            <a:grpSpLocks/>
          </p:cNvGrpSpPr>
          <p:nvPr/>
        </p:nvGrpSpPr>
        <p:grpSpPr bwMode="auto">
          <a:xfrm>
            <a:off x="7391400" y="2514600"/>
            <a:ext cx="457200" cy="457200"/>
            <a:chOff x="1344" y="1248"/>
            <a:chExt cx="288" cy="288"/>
          </a:xfrm>
        </p:grpSpPr>
        <p:sp>
          <p:nvSpPr>
            <p:cNvPr id="225287" name="Oval 7"/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288" name="Text Box 8"/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x-none"/>
                <a:t>B</a:t>
              </a:r>
              <a:endParaRPr lang="en-GB" altLang="x-none"/>
            </a:p>
          </p:txBody>
        </p:sp>
      </p:grpSp>
      <p:grpSp>
        <p:nvGrpSpPr>
          <p:cNvPr id="225289" name="Group 9"/>
          <p:cNvGrpSpPr>
            <a:grpSpLocks/>
          </p:cNvGrpSpPr>
          <p:nvPr/>
        </p:nvGrpSpPr>
        <p:grpSpPr bwMode="auto">
          <a:xfrm>
            <a:off x="3429000" y="2667000"/>
            <a:ext cx="457200" cy="457200"/>
            <a:chOff x="1344" y="1248"/>
            <a:chExt cx="288" cy="288"/>
          </a:xfrm>
        </p:grpSpPr>
        <p:sp>
          <p:nvSpPr>
            <p:cNvPr id="225290" name="Oval 10"/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291" name="Text Box 11"/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x-none"/>
                <a:t>C</a:t>
              </a:r>
              <a:endParaRPr lang="en-GB" altLang="x-none"/>
            </a:p>
          </p:txBody>
        </p:sp>
      </p:grpSp>
      <p:grpSp>
        <p:nvGrpSpPr>
          <p:cNvPr id="225292" name="Group 12"/>
          <p:cNvGrpSpPr>
            <a:grpSpLocks/>
          </p:cNvGrpSpPr>
          <p:nvPr/>
        </p:nvGrpSpPr>
        <p:grpSpPr bwMode="auto">
          <a:xfrm>
            <a:off x="5715000" y="3124200"/>
            <a:ext cx="457200" cy="457200"/>
            <a:chOff x="1344" y="1248"/>
            <a:chExt cx="288" cy="288"/>
          </a:xfrm>
        </p:grpSpPr>
        <p:sp>
          <p:nvSpPr>
            <p:cNvPr id="225293" name="Oval 13"/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294" name="Text Box 14"/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x-none"/>
                <a:t>E</a:t>
              </a:r>
              <a:endParaRPr lang="en-GB" altLang="x-none"/>
            </a:p>
          </p:txBody>
        </p:sp>
      </p:grpSp>
      <p:grpSp>
        <p:nvGrpSpPr>
          <p:cNvPr id="225295" name="Group 15"/>
          <p:cNvGrpSpPr>
            <a:grpSpLocks/>
          </p:cNvGrpSpPr>
          <p:nvPr/>
        </p:nvGrpSpPr>
        <p:grpSpPr bwMode="auto">
          <a:xfrm>
            <a:off x="7467600" y="4038600"/>
            <a:ext cx="457200" cy="457200"/>
            <a:chOff x="1344" y="1248"/>
            <a:chExt cx="288" cy="288"/>
          </a:xfrm>
        </p:grpSpPr>
        <p:sp>
          <p:nvSpPr>
            <p:cNvPr id="225296" name="Oval 16"/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297" name="Text Box 17"/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x-none"/>
                <a:t>F</a:t>
              </a:r>
              <a:endParaRPr lang="en-GB" altLang="x-none"/>
            </a:p>
          </p:txBody>
        </p:sp>
      </p:grpSp>
      <p:sp>
        <p:nvSpPr>
          <p:cNvPr id="225301" name="Line 21"/>
          <p:cNvSpPr>
            <a:spLocks noChangeShapeType="1"/>
          </p:cNvSpPr>
          <p:nvPr/>
        </p:nvSpPr>
        <p:spPr bwMode="auto">
          <a:xfrm>
            <a:off x="5943600" y="3581400"/>
            <a:ext cx="1752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303" name="Text Box 23"/>
          <p:cNvSpPr txBox="1">
            <a:spLocks noChangeArrowheads="1"/>
          </p:cNvSpPr>
          <p:nvPr/>
        </p:nvSpPr>
        <p:spPr bwMode="auto">
          <a:xfrm>
            <a:off x="6477000" y="3429001"/>
            <a:ext cx="609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b="1">
                <a:solidFill>
                  <a:schemeClr val="accent2"/>
                </a:solidFill>
              </a:rPr>
              <a:t>99</a:t>
            </a:r>
            <a:endParaRPr lang="en-GB" altLang="x-none" b="1">
              <a:solidFill>
                <a:schemeClr val="accent2"/>
              </a:solidFill>
            </a:endParaRPr>
          </a:p>
        </p:txBody>
      </p:sp>
      <p:grpSp>
        <p:nvGrpSpPr>
          <p:cNvPr id="225305" name="Group 25"/>
          <p:cNvGrpSpPr>
            <a:grpSpLocks/>
          </p:cNvGrpSpPr>
          <p:nvPr/>
        </p:nvGrpSpPr>
        <p:grpSpPr bwMode="auto">
          <a:xfrm>
            <a:off x="3505200" y="4038600"/>
            <a:ext cx="457200" cy="457200"/>
            <a:chOff x="1344" y="1248"/>
            <a:chExt cx="288" cy="288"/>
          </a:xfrm>
        </p:grpSpPr>
        <p:sp>
          <p:nvSpPr>
            <p:cNvPr id="225306" name="Oval 26"/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307" name="Text Box 27"/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x-none"/>
                <a:t>G</a:t>
              </a:r>
              <a:endParaRPr lang="en-GB" altLang="x-none"/>
            </a:p>
          </p:txBody>
        </p:sp>
      </p:grpSp>
      <p:grpSp>
        <p:nvGrpSpPr>
          <p:cNvPr id="225308" name="Group 28"/>
          <p:cNvGrpSpPr>
            <a:grpSpLocks/>
          </p:cNvGrpSpPr>
          <p:nvPr/>
        </p:nvGrpSpPr>
        <p:grpSpPr bwMode="auto">
          <a:xfrm>
            <a:off x="5791200" y="4267200"/>
            <a:ext cx="457200" cy="457200"/>
            <a:chOff x="1344" y="1248"/>
            <a:chExt cx="288" cy="288"/>
          </a:xfrm>
        </p:grpSpPr>
        <p:sp>
          <p:nvSpPr>
            <p:cNvPr id="225309" name="Oval 29"/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310" name="Text Box 30"/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x-none"/>
                <a:t>A</a:t>
              </a:r>
              <a:endParaRPr lang="en-GB" altLang="x-none"/>
            </a:p>
          </p:txBody>
        </p:sp>
      </p:grpSp>
      <p:sp>
        <p:nvSpPr>
          <p:cNvPr id="225311" name="Line 31"/>
          <p:cNvSpPr>
            <a:spLocks noChangeShapeType="1"/>
          </p:cNvSpPr>
          <p:nvPr/>
        </p:nvSpPr>
        <p:spPr bwMode="auto">
          <a:xfrm flipH="1">
            <a:off x="3657600" y="3581400"/>
            <a:ext cx="2286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313" name="Text Box 33"/>
          <p:cNvSpPr txBox="1">
            <a:spLocks noChangeArrowheads="1"/>
          </p:cNvSpPr>
          <p:nvPr/>
        </p:nvSpPr>
        <p:spPr bwMode="auto">
          <a:xfrm>
            <a:off x="4572000" y="3505201"/>
            <a:ext cx="609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b="1">
                <a:solidFill>
                  <a:schemeClr val="accent2"/>
                </a:solidFill>
              </a:rPr>
              <a:t>80</a:t>
            </a:r>
            <a:endParaRPr lang="en-GB" altLang="x-none" b="1">
              <a:solidFill>
                <a:schemeClr val="accent2"/>
              </a:solidFill>
            </a:endParaRPr>
          </a:p>
        </p:txBody>
      </p:sp>
      <p:sp>
        <p:nvSpPr>
          <p:cNvPr id="225314" name="Line 34"/>
          <p:cNvSpPr>
            <a:spLocks noChangeShapeType="1"/>
          </p:cNvSpPr>
          <p:nvPr/>
        </p:nvSpPr>
        <p:spPr bwMode="auto">
          <a:xfrm>
            <a:off x="5867400" y="2438400"/>
            <a:ext cx="17526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315" name="Line 35"/>
          <p:cNvSpPr>
            <a:spLocks noChangeShapeType="1"/>
          </p:cNvSpPr>
          <p:nvPr/>
        </p:nvSpPr>
        <p:spPr bwMode="auto">
          <a:xfrm>
            <a:off x="5867400" y="2438400"/>
            <a:ext cx="76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316" name="Line 36"/>
          <p:cNvSpPr>
            <a:spLocks noChangeShapeType="1"/>
          </p:cNvSpPr>
          <p:nvPr/>
        </p:nvSpPr>
        <p:spPr bwMode="auto">
          <a:xfrm flipH="1">
            <a:off x="3657600" y="2438400"/>
            <a:ext cx="22098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317" name="Text Box 37"/>
          <p:cNvSpPr txBox="1">
            <a:spLocks noChangeArrowheads="1"/>
          </p:cNvSpPr>
          <p:nvPr/>
        </p:nvSpPr>
        <p:spPr bwMode="auto">
          <a:xfrm>
            <a:off x="6096000" y="1828801"/>
            <a:ext cx="1219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b="1">
                <a:solidFill>
                  <a:schemeClr val="accent1"/>
                </a:solidFill>
              </a:rPr>
              <a:t>Start</a:t>
            </a:r>
            <a:endParaRPr lang="en-GB" altLang="x-none" b="1">
              <a:solidFill>
                <a:schemeClr val="accent1"/>
              </a:solidFill>
            </a:endParaRPr>
          </a:p>
        </p:txBody>
      </p:sp>
      <p:sp>
        <p:nvSpPr>
          <p:cNvPr id="225319" name="Text Box 39"/>
          <p:cNvSpPr txBox="1">
            <a:spLocks noChangeArrowheads="1"/>
          </p:cNvSpPr>
          <p:nvPr/>
        </p:nvSpPr>
        <p:spPr bwMode="auto">
          <a:xfrm>
            <a:off x="6324600" y="2133601"/>
            <a:ext cx="609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b="1">
                <a:solidFill>
                  <a:schemeClr val="accent2"/>
                </a:solidFill>
              </a:rPr>
              <a:t>75</a:t>
            </a:r>
            <a:endParaRPr lang="en-GB" altLang="x-none" b="1">
              <a:solidFill>
                <a:schemeClr val="accent2"/>
              </a:solidFill>
            </a:endParaRPr>
          </a:p>
        </p:txBody>
      </p:sp>
      <p:sp>
        <p:nvSpPr>
          <p:cNvPr id="225320" name="Text Box 40"/>
          <p:cNvSpPr txBox="1">
            <a:spLocks noChangeArrowheads="1"/>
          </p:cNvSpPr>
          <p:nvPr/>
        </p:nvSpPr>
        <p:spPr bwMode="auto">
          <a:xfrm>
            <a:off x="4419600" y="2209801"/>
            <a:ext cx="762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b="1">
                <a:solidFill>
                  <a:schemeClr val="accent2"/>
                </a:solidFill>
              </a:rPr>
              <a:t>118</a:t>
            </a:r>
            <a:endParaRPr lang="en-GB" altLang="x-none" b="1">
              <a:solidFill>
                <a:schemeClr val="accent2"/>
              </a:solidFill>
            </a:endParaRPr>
          </a:p>
        </p:txBody>
      </p:sp>
      <p:sp>
        <p:nvSpPr>
          <p:cNvPr id="225321" name="Text Box 41"/>
          <p:cNvSpPr txBox="1">
            <a:spLocks noChangeArrowheads="1"/>
          </p:cNvSpPr>
          <p:nvPr/>
        </p:nvSpPr>
        <p:spPr bwMode="auto">
          <a:xfrm>
            <a:off x="5867400" y="2681288"/>
            <a:ext cx="762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b="1">
                <a:solidFill>
                  <a:schemeClr val="accent2"/>
                </a:solidFill>
              </a:rPr>
              <a:t>140</a:t>
            </a:r>
            <a:endParaRPr lang="en-GB" altLang="x-none" b="1">
              <a:solidFill>
                <a:schemeClr val="accent2"/>
              </a:solidFill>
            </a:endParaRPr>
          </a:p>
        </p:txBody>
      </p:sp>
      <p:sp>
        <p:nvSpPr>
          <p:cNvPr id="225322" name="Text Box 42"/>
          <p:cNvSpPr txBox="1">
            <a:spLocks noChangeArrowheads="1"/>
          </p:cNvSpPr>
          <p:nvPr/>
        </p:nvSpPr>
        <p:spPr bwMode="auto">
          <a:xfrm>
            <a:off x="6705600" y="2605088"/>
            <a:ext cx="8382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/>
              <a:t>[374]</a:t>
            </a:r>
            <a:endParaRPr lang="en-GB" altLang="x-none"/>
          </a:p>
        </p:txBody>
      </p:sp>
      <p:sp>
        <p:nvSpPr>
          <p:cNvPr id="225323" name="Text Box 43"/>
          <p:cNvSpPr txBox="1">
            <a:spLocks noChangeArrowheads="1"/>
          </p:cNvSpPr>
          <p:nvPr/>
        </p:nvSpPr>
        <p:spPr bwMode="auto">
          <a:xfrm>
            <a:off x="2667000" y="2667001"/>
            <a:ext cx="838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/>
              <a:t>[329]</a:t>
            </a:r>
            <a:endParaRPr lang="en-GB" altLang="x-none"/>
          </a:p>
        </p:txBody>
      </p:sp>
      <p:sp>
        <p:nvSpPr>
          <p:cNvPr id="225324" name="Text Box 44"/>
          <p:cNvSpPr txBox="1">
            <a:spLocks noChangeArrowheads="1"/>
          </p:cNvSpPr>
          <p:nvPr/>
        </p:nvSpPr>
        <p:spPr bwMode="auto">
          <a:xfrm>
            <a:off x="5029200" y="3214688"/>
            <a:ext cx="8382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/>
              <a:t>[253]</a:t>
            </a:r>
            <a:endParaRPr lang="en-GB" altLang="x-none"/>
          </a:p>
        </p:txBody>
      </p:sp>
      <p:sp>
        <p:nvSpPr>
          <p:cNvPr id="225325" name="Text Box 45"/>
          <p:cNvSpPr txBox="1">
            <a:spLocks noChangeArrowheads="1"/>
          </p:cNvSpPr>
          <p:nvPr/>
        </p:nvSpPr>
        <p:spPr bwMode="auto">
          <a:xfrm>
            <a:off x="2819400" y="3976688"/>
            <a:ext cx="8382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/>
              <a:t>[193]</a:t>
            </a:r>
            <a:endParaRPr lang="en-GB" altLang="x-none"/>
          </a:p>
        </p:txBody>
      </p:sp>
      <p:sp>
        <p:nvSpPr>
          <p:cNvPr id="225326" name="Line 46"/>
          <p:cNvSpPr>
            <a:spLocks noChangeShapeType="1"/>
          </p:cNvSpPr>
          <p:nvPr/>
        </p:nvSpPr>
        <p:spPr bwMode="auto">
          <a:xfrm>
            <a:off x="5943600" y="3581400"/>
            <a:ext cx="76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327" name="Text Box 47"/>
          <p:cNvSpPr txBox="1">
            <a:spLocks noChangeArrowheads="1"/>
          </p:cNvSpPr>
          <p:nvPr/>
        </p:nvSpPr>
        <p:spPr bwMode="auto">
          <a:xfrm>
            <a:off x="5105400" y="4357688"/>
            <a:ext cx="8382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/>
              <a:t>[366]</a:t>
            </a:r>
            <a:endParaRPr lang="en-GB" altLang="x-none"/>
          </a:p>
        </p:txBody>
      </p:sp>
      <p:sp>
        <p:nvSpPr>
          <p:cNvPr id="225328" name="Text Box 48"/>
          <p:cNvSpPr txBox="1">
            <a:spLocks noChangeArrowheads="1"/>
          </p:cNvSpPr>
          <p:nvPr/>
        </p:nvSpPr>
        <p:spPr bwMode="auto">
          <a:xfrm>
            <a:off x="7924800" y="4038601"/>
            <a:ext cx="838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/>
              <a:t>[178]</a:t>
            </a:r>
            <a:endParaRPr lang="en-GB" altLang="x-none"/>
          </a:p>
        </p:txBody>
      </p:sp>
    </p:spTree>
    <p:extLst>
      <p:ext uri="{BB962C8B-B14F-4D97-AF65-F5344CB8AC3E}">
        <p14:creationId xmlns:p14="http://schemas.microsoft.com/office/powerpoint/2010/main" val="422311617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/>
              <a:t>Greedy Search: Tree Search</a:t>
            </a:r>
            <a:endParaRPr lang="en-GB" altLang="x-none"/>
          </a:p>
        </p:txBody>
      </p:sp>
      <p:grpSp>
        <p:nvGrpSpPr>
          <p:cNvPr id="226307" name="Group 3"/>
          <p:cNvGrpSpPr>
            <a:grpSpLocks/>
          </p:cNvGrpSpPr>
          <p:nvPr/>
        </p:nvGrpSpPr>
        <p:grpSpPr bwMode="auto">
          <a:xfrm>
            <a:off x="5638800" y="1981200"/>
            <a:ext cx="457200" cy="457200"/>
            <a:chOff x="1344" y="1248"/>
            <a:chExt cx="288" cy="288"/>
          </a:xfrm>
        </p:grpSpPr>
        <p:sp>
          <p:nvSpPr>
            <p:cNvPr id="226308" name="Oval 4"/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6309" name="Text Box 5"/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x-none"/>
                <a:t>A</a:t>
              </a:r>
              <a:endParaRPr lang="en-GB" altLang="x-none"/>
            </a:p>
          </p:txBody>
        </p:sp>
      </p:grpSp>
      <p:grpSp>
        <p:nvGrpSpPr>
          <p:cNvPr id="226310" name="Group 6"/>
          <p:cNvGrpSpPr>
            <a:grpSpLocks/>
          </p:cNvGrpSpPr>
          <p:nvPr/>
        </p:nvGrpSpPr>
        <p:grpSpPr bwMode="auto">
          <a:xfrm>
            <a:off x="7391400" y="2514600"/>
            <a:ext cx="457200" cy="457200"/>
            <a:chOff x="1344" y="1248"/>
            <a:chExt cx="288" cy="288"/>
          </a:xfrm>
        </p:grpSpPr>
        <p:sp>
          <p:nvSpPr>
            <p:cNvPr id="226311" name="Oval 7"/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6312" name="Text Box 8"/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x-none"/>
                <a:t>B</a:t>
              </a:r>
              <a:endParaRPr lang="en-GB" altLang="x-none"/>
            </a:p>
          </p:txBody>
        </p:sp>
      </p:grpSp>
      <p:grpSp>
        <p:nvGrpSpPr>
          <p:cNvPr id="226313" name="Group 9"/>
          <p:cNvGrpSpPr>
            <a:grpSpLocks/>
          </p:cNvGrpSpPr>
          <p:nvPr/>
        </p:nvGrpSpPr>
        <p:grpSpPr bwMode="auto">
          <a:xfrm>
            <a:off x="3429000" y="2667000"/>
            <a:ext cx="457200" cy="457200"/>
            <a:chOff x="1344" y="1248"/>
            <a:chExt cx="288" cy="288"/>
          </a:xfrm>
        </p:grpSpPr>
        <p:sp>
          <p:nvSpPr>
            <p:cNvPr id="226314" name="Oval 10"/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6315" name="Text Box 11"/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x-none"/>
                <a:t>C</a:t>
              </a:r>
              <a:endParaRPr lang="en-GB" altLang="x-none"/>
            </a:p>
          </p:txBody>
        </p:sp>
      </p:grpSp>
      <p:grpSp>
        <p:nvGrpSpPr>
          <p:cNvPr id="226316" name="Group 12"/>
          <p:cNvGrpSpPr>
            <a:grpSpLocks/>
          </p:cNvGrpSpPr>
          <p:nvPr/>
        </p:nvGrpSpPr>
        <p:grpSpPr bwMode="auto">
          <a:xfrm>
            <a:off x="5715000" y="3124200"/>
            <a:ext cx="457200" cy="457200"/>
            <a:chOff x="1344" y="1248"/>
            <a:chExt cx="288" cy="288"/>
          </a:xfrm>
        </p:grpSpPr>
        <p:sp>
          <p:nvSpPr>
            <p:cNvPr id="226317" name="Oval 13"/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6318" name="Text Box 14"/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x-none"/>
                <a:t>E</a:t>
              </a:r>
              <a:endParaRPr lang="en-GB" altLang="x-none"/>
            </a:p>
          </p:txBody>
        </p:sp>
      </p:grpSp>
      <p:grpSp>
        <p:nvGrpSpPr>
          <p:cNvPr id="226319" name="Group 15"/>
          <p:cNvGrpSpPr>
            <a:grpSpLocks/>
          </p:cNvGrpSpPr>
          <p:nvPr/>
        </p:nvGrpSpPr>
        <p:grpSpPr bwMode="auto">
          <a:xfrm>
            <a:off x="7467600" y="4038600"/>
            <a:ext cx="457200" cy="457200"/>
            <a:chOff x="1344" y="1248"/>
            <a:chExt cx="288" cy="288"/>
          </a:xfrm>
        </p:grpSpPr>
        <p:sp>
          <p:nvSpPr>
            <p:cNvPr id="226320" name="Oval 16"/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6321" name="Text Box 17"/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x-none"/>
                <a:t>F</a:t>
              </a:r>
              <a:endParaRPr lang="en-GB" altLang="x-none"/>
            </a:p>
          </p:txBody>
        </p:sp>
      </p:grpSp>
      <p:grpSp>
        <p:nvGrpSpPr>
          <p:cNvPr id="226322" name="Group 18"/>
          <p:cNvGrpSpPr>
            <a:grpSpLocks/>
          </p:cNvGrpSpPr>
          <p:nvPr/>
        </p:nvGrpSpPr>
        <p:grpSpPr bwMode="auto">
          <a:xfrm>
            <a:off x="8305800" y="5257800"/>
            <a:ext cx="457200" cy="457200"/>
            <a:chOff x="1344" y="1248"/>
            <a:chExt cx="288" cy="288"/>
          </a:xfrm>
        </p:grpSpPr>
        <p:sp>
          <p:nvSpPr>
            <p:cNvPr id="226323" name="Oval 19"/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6324" name="Text Box 20"/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x-none"/>
                <a:t>I</a:t>
              </a:r>
              <a:endParaRPr lang="en-GB" altLang="x-none"/>
            </a:p>
          </p:txBody>
        </p:sp>
      </p:grpSp>
      <p:sp>
        <p:nvSpPr>
          <p:cNvPr id="226325" name="Line 21"/>
          <p:cNvSpPr>
            <a:spLocks noChangeShapeType="1"/>
          </p:cNvSpPr>
          <p:nvPr/>
        </p:nvSpPr>
        <p:spPr bwMode="auto">
          <a:xfrm>
            <a:off x="5943600" y="3581400"/>
            <a:ext cx="1752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6326" name="Line 22"/>
          <p:cNvSpPr>
            <a:spLocks noChangeShapeType="1"/>
          </p:cNvSpPr>
          <p:nvPr/>
        </p:nvSpPr>
        <p:spPr bwMode="auto">
          <a:xfrm>
            <a:off x="7696200" y="4495800"/>
            <a:ext cx="8382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6327" name="Text Box 23"/>
          <p:cNvSpPr txBox="1">
            <a:spLocks noChangeArrowheads="1"/>
          </p:cNvSpPr>
          <p:nvPr/>
        </p:nvSpPr>
        <p:spPr bwMode="auto">
          <a:xfrm>
            <a:off x="6477000" y="3429001"/>
            <a:ext cx="609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b="1">
                <a:solidFill>
                  <a:schemeClr val="accent2"/>
                </a:solidFill>
              </a:rPr>
              <a:t>99</a:t>
            </a:r>
            <a:endParaRPr lang="en-GB" altLang="x-none" b="1">
              <a:solidFill>
                <a:schemeClr val="accent2"/>
              </a:solidFill>
            </a:endParaRPr>
          </a:p>
        </p:txBody>
      </p:sp>
      <p:sp>
        <p:nvSpPr>
          <p:cNvPr id="226328" name="Text Box 24"/>
          <p:cNvSpPr txBox="1">
            <a:spLocks noChangeArrowheads="1"/>
          </p:cNvSpPr>
          <p:nvPr/>
        </p:nvSpPr>
        <p:spPr bwMode="auto">
          <a:xfrm>
            <a:off x="8001000" y="4572001"/>
            <a:ext cx="762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b="1">
                <a:solidFill>
                  <a:schemeClr val="accent2"/>
                </a:solidFill>
              </a:rPr>
              <a:t>211</a:t>
            </a:r>
            <a:endParaRPr lang="en-GB" altLang="x-none" b="1">
              <a:solidFill>
                <a:schemeClr val="accent2"/>
              </a:solidFill>
            </a:endParaRPr>
          </a:p>
        </p:txBody>
      </p:sp>
      <p:grpSp>
        <p:nvGrpSpPr>
          <p:cNvPr id="226329" name="Group 25"/>
          <p:cNvGrpSpPr>
            <a:grpSpLocks/>
          </p:cNvGrpSpPr>
          <p:nvPr/>
        </p:nvGrpSpPr>
        <p:grpSpPr bwMode="auto">
          <a:xfrm>
            <a:off x="3505200" y="4038600"/>
            <a:ext cx="457200" cy="457200"/>
            <a:chOff x="1344" y="1248"/>
            <a:chExt cx="288" cy="288"/>
          </a:xfrm>
        </p:grpSpPr>
        <p:sp>
          <p:nvSpPr>
            <p:cNvPr id="226330" name="Oval 26"/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6331" name="Text Box 27"/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x-none"/>
                <a:t>G</a:t>
              </a:r>
              <a:endParaRPr lang="en-GB" altLang="x-none"/>
            </a:p>
          </p:txBody>
        </p:sp>
      </p:grpSp>
      <p:grpSp>
        <p:nvGrpSpPr>
          <p:cNvPr id="226332" name="Group 28"/>
          <p:cNvGrpSpPr>
            <a:grpSpLocks/>
          </p:cNvGrpSpPr>
          <p:nvPr/>
        </p:nvGrpSpPr>
        <p:grpSpPr bwMode="auto">
          <a:xfrm>
            <a:off x="5791200" y="4267200"/>
            <a:ext cx="457200" cy="457200"/>
            <a:chOff x="1344" y="1248"/>
            <a:chExt cx="288" cy="288"/>
          </a:xfrm>
        </p:grpSpPr>
        <p:sp>
          <p:nvSpPr>
            <p:cNvPr id="226333" name="Oval 29"/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6334" name="Text Box 30"/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x-none"/>
                <a:t>A</a:t>
              </a:r>
              <a:endParaRPr lang="en-GB" altLang="x-none"/>
            </a:p>
          </p:txBody>
        </p:sp>
      </p:grpSp>
      <p:sp>
        <p:nvSpPr>
          <p:cNvPr id="226335" name="Line 31"/>
          <p:cNvSpPr>
            <a:spLocks noChangeShapeType="1"/>
          </p:cNvSpPr>
          <p:nvPr/>
        </p:nvSpPr>
        <p:spPr bwMode="auto">
          <a:xfrm flipH="1">
            <a:off x="3657600" y="3581400"/>
            <a:ext cx="2286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6336" name="Line 32"/>
          <p:cNvSpPr>
            <a:spLocks noChangeShapeType="1"/>
          </p:cNvSpPr>
          <p:nvPr/>
        </p:nvSpPr>
        <p:spPr bwMode="auto">
          <a:xfrm flipH="1">
            <a:off x="7086600" y="4495800"/>
            <a:ext cx="5334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6337" name="Text Box 33"/>
          <p:cNvSpPr txBox="1">
            <a:spLocks noChangeArrowheads="1"/>
          </p:cNvSpPr>
          <p:nvPr/>
        </p:nvSpPr>
        <p:spPr bwMode="auto">
          <a:xfrm>
            <a:off x="4572000" y="3505201"/>
            <a:ext cx="609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b="1">
                <a:solidFill>
                  <a:schemeClr val="accent2"/>
                </a:solidFill>
              </a:rPr>
              <a:t>80</a:t>
            </a:r>
            <a:endParaRPr lang="en-GB" altLang="x-none" b="1">
              <a:solidFill>
                <a:schemeClr val="accent2"/>
              </a:solidFill>
            </a:endParaRPr>
          </a:p>
        </p:txBody>
      </p:sp>
      <p:sp>
        <p:nvSpPr>
          <p:cNvPr id="226338" name="Line 34"/>
          <p:cNvSpPr>
            <a:spLocks noChangeShapeType="1"/>
          </p:cNvSpPr>
          <p:nvPr/>
        </p:nvSpPr>
        <p:spPr bwMode="auto">
          <a:xfrm>
            <a:off x="5867400" y="2438400"/>
            <a:ext cx="17526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6339" name="Line 35"/>
          <p:cNvSpPr>
            <a:spLocks noChangeShapeType="1"/>
          </p:cNvSpPr>
          <p:nvPr/>
        </p:nvSpPr>
        <p:spPr bwMode="auto">
          <a:xfrm>
            <a:off x="5867400" y="2438400"/>
            <a:ext cx="76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6340" name="Line 36"/>
          <p:cNvSpPr>
            <a:spLocks noChangeShapeType="1"/>
          </p:cNvSpPr>
          <p:nvPr/>
        </p:nvSpPr>
        <p:spPr bwMode="auto">
          <a:xfrm flipH="1">
            <a:off x="3657600" y="2438400"/>
            <a:ext cx="22098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6341" name="Text Box 37"/>
          <p:cNvSpPr txBox="1">
            <a:spLocks noChangeArrowheads="1"/>
          </p:cNvSpPr>
          <p:nvPr/>
        </p:nvSpPr>
        <p:spPr bwMode="auto">
          <a:xfrm>
            <a:off x="6096000" y="1828801"/>
            <a:ext cx="1219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b="1">
                <a:solidFill>
                  <a:schemeClr val="accent1"/>
                </a:solidFill>
              </a:rPr>
              <a:t>Start</a:t>
            </a:r>
            <a:endParaRPr lang="en-GB" altLang="x-none" b="1">
              <a:solidFill>
                <a:schemeClr val="accent1"/>
              </a:solidFill>
            </a:endParaRPr>
          </a:p>
        </p:txBody>
      </p:sp>
      <p:sp>
        <p:nvSpPr>
          <p:cNvPr id="226342" name="Text Box 38"/>
          <p:cNvSpPr txBox="1">
            <a:spLocks noChangeArrowheads="1"/>
          </p:cNvSpPr>
          <p:nvPr/>
        </p:nvSpPr>
        <p:spPr bwMode="auto">
          <a:xfrm>
            <a:off x="8077200" y="5867401"/>
            <a:ext cx="1219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b="1"/>
              <a:t>Goal</a:t>
            </a:r>
            <a:endParaRPr lang="en-GB" altLang="x-none" b="1"/>
          </a:p>
        </p:txBody>
      </p:sp>
      <p:sp>
        <p:nvSpPr>
          <p:cNvPr id="226343" name="Text Box 39"/>
          <p:cNvSpPr txBox="1">
            <a:spLocks noChangeArrowheads="1"/>
          </p:cNvSpPr>
          <p:nvPr/>
        </p:nvSpPr>
        <p:spPr bwMode="auto">
          <a:xfrm>
            <a:off x="6324600" y="2133601"/>
            <a:ext cx="609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b="1">
                <a:solidFill>
                  <a:schemeClr val="accent2"/>
                </a:solidFill>
              </a:rPr>
              <a:t>75</a:t>
            </a:r>
            <a:endParaRPr lang="en-GB" altLang="x-none" b="1">
              <a:solidFill>
                <a:schemeClr val="accent2"/>
              </a:solidFill>
            </a:endParaRPr>
          </a:p>
        </p:txBody>
      </p:sp>
      <p:sp>
        <p:nvSpPr>
          <p:cNvPr id="226344" name="Text Box 40"/>
          <p:cNvSpPr txBox="1">
            <a:spLocks noChangeArrowheads="1"/>
          </p:cNvSpPr>
          <p:nvPr/>
        </p:nvSpPr>
        <p:spPr bwMode="auto">
          <a:xfrm>
            <a:off x="4419600" y="2209801"/>
            <a:ext cx="762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b="1">
                <a:solidFill>
                  <a:schemeClr val="accent2"/>
                </a:solidFill>
              </a:rPr>
              <a:t>118</a:t>
            </a:r>
            <a:endParaRPr lang="en-GB" altLang="x-none" b="1">
              <a:solidFill>
                <a:schemeClr val="accent2"/>
              </a:solidFill>
            </a:endParaRPr>
          </a:p>
        </p:txBody>
      </p:sp>
      <p:sp>
        <p:nvSpPr>
          <p:cNvPr id="226345" name="Text Box 41"/>
          <p:cNvSpPr txBox="1">
            <a:spLocks noChangeArrowheads="1"/>
          </p:cNvSpPr>
          <p:nvPr/>
        </p:nvSpPr>
        <p:spPr bwMode="auto">
          <a:xfrm>
            <a:off x="5867400" y="2681288"/>
            <a:ext cx="762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b="1">
                <a:solidFill>
                  <a:schemeClr val="accent2"/>
                </a:solidFill>
              </a:rPr>
              <a:t>140</a:t>
            </a:r>
            <a:endParaRPr lang="en-GB" altLang="x-none" b="1">
              <a:solidFill>
                <a:schemeClr val="accent2"/>
              </a:solidFill>
            </a:endParaRPr>
          </a:p>
        </p:txBody>
      </p:sp>
      <p:sp>
        <p:nvSpPr>
          <p:cNvPr id="226346" name="Text Box 42"/>
          <p:cNvSpPr txBox="1">
            <a:spLocks noChangeArrowheads="1"/>
          </p:cNvSpPr>
          <p:nvPr/>
        </p:nvSpPr>
        <p:spPr bwMode="auto">
          <a:xfrm>
            <a:off x="6705600" y="2605088"/>
            <a:ext cx="8382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/>
              <a:t>[374]</a:t>
            </a:r>
            <a:endParaRPr lang="en-GB" altLang="x-none"/>
          </a:p>
        </p:txBody>
      </p:sp>
      <p:sp>
        <p:nvSpPr>
          <p:cNvPr id="226347" name="Text Box 43"/>
          <p:cNvSpPr txBox="1">
            <a:spLocks noChangeArrowheads="1"/>
          </p:cNvSpPr>
          <p:nvPr/>
        </p:nvSpPr>
        <p:spPr bwMode="auto">
          <a:xfrm>
            <a:off x="2667000" y="2667001"/>
            <a:ext cx="838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/>
              <a:t>[329]</a:t>
            </a:r>
            <a:endParaRPr lang="en-GB" altLang="x-none"/>
          </a:p>
        </p:txBody>
      </p:sp>
      <p:sp>
        <p:nvSpPr>
          <p:cNvPr id="226348" name="Text Box 44"/>
          <p:cNvSpPr txBox="1">
            <a:spLocks noChangeArrowheads="1"/>
          </p:cNvSpPr>
          <p:nvPr/>
        </p:nvSpPr>
        <p:spPr bwMode="auto">
          <a:xfrm>
            <a:off x="5029200" y="3214688"/>
            <a:ext cx="8382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/>
              <a:t>[253]</a:t>
            </a:r>
            <a:endParaRPr lang="en-GB" altLang="x-none"/>
          </a:p>
        </p:txBody>
      </p:sp>
      <p:sp>
        <p:nvSpPr>
          <p:cNvPr id="226349" name="Text Box 45"/>
          <p:cNvSpPr txBox="1">
            <a:spLocks noChangeArrowheads="1"/>
          </p:cNvSpPr>
          <p:nvPr/>
        </p:nvSpPr>
        <p:spPr bwMode="auto">
          <a:xfrm>
            <a:off x="2819400" y="3976688"/>
            <a:ext cx="8382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/>
              <a:t>[193]</a:t>
            </a:r>
            <a:endParaRPr lang="en-GB" altLang="x-none"/>
          </a:p>
        </p:txBody>
      </p:sp>
      <p:sp>
        <p:nvSpPr>
          <p:cNvPr id="226350" name="Line 46"/>
          <p:cNvSpPr>
            <a:spLocks noChangeShapeType="1"/>
          </p:cNvSpPr>
          <p:nvPr/>
        </p:nvSpPr>
        <p:spPr bwMode="auto">
          <a:xfrm>
            <a:off x="5943600" y="3581400"/>
            <a:ext cx="76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6351" name="Text Box 47"/>
          <p:cNvSpPr txBox="1">
            <a:spLocks noChangeArrowheads="1"/>
          </p:cNvSpPr>
          <p:nvPr/>
        </p:nvSpPr>
        <p:spPr bwMode="auto">
          <a:xfrm>
            <a:off x="5105400" y="4357688"/>
            <a:ext cx="8382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/>
              <a:t>[366]</a:t>
            </a:r>
            <a:endParaRPr lang="en-GB" altLang="x-none"/>
          </a:p>
        </p:txBody>
      </p:sp>
      <p:sp>
        <p:nvSpPr>
          <p:cNvPr id="226352" name="Text Box 48"/>
          <p:cNvSpPr txBox="1">
            <a:spLocks noChangeArrowheads="1"/>
          </p:cNvSpPr>
          <p:nvPr/>
        </p:nvSpPr>
        <p:spPr bwMode="auto">
          <a:xfrm>
            <a:off x="7924800" y="4038601"/>
            <a:ext cx="838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/>
              <a:t>[178]</a:t>
            </a:r>
            <a:endParaRPr lang="en-GB" altLang="x-none"/>
          </a:p>
        </p:txBody>
      </p:sp>
      <p:grpSp>
        <p:nvGrpSpPr>
          <p:cNvPr id="226353" name="Group 49"/>
          <p:cNvGrpSpPr>
            <a:grpSpLocks/>
          </p:cNvGrpSpPr>
          <p:nvPr/>
        </p:nvGrpSpPr>
        <p:grpSpPr bwMode="auto">
          <a:xfrm>
            <a:off x="6858000" y="5334000"/>
            <a:ext cx="457200" cy="457200"/>
            <a:chOff x="1344" y="1248"/>
            <a:chExt cx="288" cy="288"/>
          </a:xfrm>
        </p:grpSpPr>
        <p:sp>
          <p:nvSpPr>
            <p:cNvPr id="226354" name="Oval 50"/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6355" name="Text Box 51"/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x-none"/>
                <a:t>E</a:t>
              </a:r>
              <a:endParaRPr lang="en-GB" altLang="x-none"/>
            </a:p>
          </p:txBody>
        </p:sp>
      </p:grpSp>
      <p:sp>
        <p:nvSpPr>
          <p:cNvPr id="226356" name="Text Box 52"/>
          <p:cNvSpPr txBox="1">
            <a:spLocks noChangeArrowheads="1"/>
          </p:cNvSpPr>
          <p:nvPr/>
        </p:nvSpPr>
        <p:spPr bwMode="auto">
          <a:xfrm>
            <a:off x="8763000" y="5257801"/>
            <a:ext cx="838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/>
              <a:t>[0]</a:t>
            </a:r>
            <a:endParaRPr lang="en-GB" altLang="x-none"/>
          </a:p>
        </p:txBody>
      </p:sp>
      <p:sp>
        <p:nvSpPr>
          <p:cNvPr id="226357" name="Text Box 53"/>
          <p:cNvSpPr txBox="1">
            <a:spLocks noChangeArrowheads="1"/>
          </p:cNvSpPr>
          <p:nvPr/>
        </p:nvSpPr>
        <p:spPr bwMode="auto">
          <a:xfrm>
            <a:off x="6172200" y="5334001"/>
            <a:ext cx="838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/>
              <a:t>[253]</a:t>
            </a:r>
            <a:endParaRPr lang="en-GB" altLang="x-none"/>
          </a:p>
        </p:txBody>
      </p:sp>
    </p:spTree>
    <p:extLst>
      <p:ext uri="{BB962C8B-B14F-4D97-AF65-F5344CB8AC3E}">
        <p14:creationId xmlns:p14="http://schemas.microsoft.com/office/powerpoint/2010/main" val="196956596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/>
              <a:t>Greedy Search: Tree Search</a:t>
            </a:r>
            <a:endParaRPr lang="en-GB" altLang="x-none"/>
          </a:p>
        </p:txBody>
      </p:sp>
      <p:grpSp>
        <p:nvGrpSpPr>
          <p:cNvPr id="227331" name="Group 3"/>
          <p:cNvGrpSpPr>
            <a:grpSpLocks/>
          </p:cNvGrpSpPr>
          <p:nvPr/>
        </p:nvGrpSpPr>
        <p:grpSpPr bwMode="auto">
          <a:xfrm>
            <a:off x="5638800" y="1981200"/>
            <a:ext cx="457200" cy="457200"/>
            <a:chOff x="1344" y="1248"/>
            <a:chExt cx="288" cy="288"/>
          </a:xfrm>
        </p:grpSpPr>
        <p:sp>
          <p:nvSpPr>
            <p:cNvPr id="227332" name="Oval 4"/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7333" name="Text Box 5"/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x-none"/>
                <a:t>A</a:t>
              </a:r>
              <a:endParaRPr lang="en-GB" altLang="x-none"/>
            </a:p>
          </p:txBody>
        </p:sp>
      </p:grpSp>
      <p:grpSp>
        <p:nvGrpSpPr>
          <p:cNvPr id="227334" name="Group 6"/>
          <p:cNvGrpSpPr>
            <a:grpSpLocks/>
          </p:cNvGrpSpPr>
          <p:nvPr/>
        </p:nvGrpSpPr>
        <p:grpSpPr bwMode="auto">
          <a:xfrm>
            <a:off x="7391400" y="2514600"/>
            <a:ext cx="457200" cy="457200"/>
            <a:chOff x="1344" y="1248"/>
            <a:chExt cx="288" cy="288"/>
          </a:xfrm>
        </p:grpSpPr>
        <p:sp>
          <p:nvSpPr>
            <p:cNvPr id="227335" name="Oval 7"/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7336" name="Text Box 8"/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x-none"/>
                <a:t>B</a:t>
              </a:r>
              <a:endParaRPr lang="en-GB" altLang="x-none"/>
            </a:p>
          </p:txBody>
        </p:sp>
      </p:grpSp>
      <p:grpSp>
        <p:nvGrpSpPr>
          <p:cNvPr id="227337" name="Group 9"/>
          <p:cNvGrpSpPr>
            <a:grpSpLocks/>
          </p:cNvGrpSpPr>
          <p:nvPr/>
        </p:nvGrpSpPr>
        <p:grpSpPr bwMode="auto">
          <a:xfrm>
            <a:off x="3429000" y="2667000"/>
            <a:ext cx="457200" cy="457200"/>
            <a:chOff x="1344" y="1248"/>
            <a:chExt cx="288" cy="288"/>
          </a:xfrm>
        </p:grpSpPr>
        <p:sp>
          <p:nvSpPr>
            <p:cNvPr id="227338" name="Oval 10"/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7339" name="Text Box 11"/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x-none"/>
                <a:t>C</a:t>
              </a:r>
              <a:endParaRPr lang="en-GB" altLang="x-none"/>
            </a:p>
          </p:txBody>
        </p:sp>
      </p:grpSp>
      <p:grpSp>
        <p:nvGrpSpPr>
          <p:cNvPr id="227340" name="Group 12"/>
          <p:cNvGrpSpPr>
            <a:grpSpLocks/>
          </p:cNvGrpSpPr>
          <p:nvPr/>
        </p:nvGrpSpPr>
        <p:grpSpPr bwMode="auto">
          <a:xfrm>
            <a:off x="5715000" y="3124200"/>
            <a:ext cx="457200" cy="457200"/>
            <a:chOff x="1344" y="1248"/>
            <a:chExt cx="288" cy="288"/>
          </a:xfrm>
        </p:grpSpPr>
        <p:sp>
          <p:nvSpPr>
            <p:cNvPr id="227341" name="Oval 13"/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7342" name="Text Box 14"/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x-none"/>
                <a:t>E</a:t>
              </a:r>
              <a:endParaRPr lang="en-GB" altLang="x-none"/>
            </a:p>
          </p:txBody>
        </p:sp>
      </p:grpSp>
      <p:grpSp>
        <p:nvGrpSpPr>
          <p:cNvPr id="227343" name="Group 15"/>
          <p:cNvGrpSpPr>
            <a:grpSpLocks/>
          </p:cNvGrpSpPr>
          <p:nvPr/>
        </p:nvGrpSpPr>
        <p:grpSpPr bwMode="auto">
          <a:xfrm>
            <a:off x="7467600" y="4038600"/>
            <a:ext cx="457200" cy="457200"/>
            <a:chOff x="1344" y="1248"/>
            <a:chExt cx="288" cy="288"/>
          </a:xfrm>
        </p:grpSpPr>
        <p:sp>
          <p:nvSpPr>
            <p:cNvPr id="227344" name="Oval 16"/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7345" name="Text Box 17"/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x-none"/>
                <a:t>F</a:t>
              </a:r>
              <a:endParaRPr lang="en-GB" altLang="x-none"/>
            </a:p>
          </p:txBody>
        </p:sp>
      </p:grpSp>
      <p:grpSp>
        <p:nvGrpSpPr>
          <p:cNvPr id="227346" name="Group 18"/>
          <p:cNvGrpSpPr>
            <a:grpSpLocks/>
          </p:cNvGrpSpPr>
          <p:nvPr/>
        </p:nvGrpSpPr>
        <p:grpSpPr bwMode="auto">
          <a:xfrm>
            <a:off x="8305800" y="5257800"/>
            <a:ext cx="457200" cy="457200"/>
            <a:chOff x="1344" y="1248"/>
            <a:chExt cx="288" cy="288"/>
          </a:xfrm>
        </p:grpSpPr>
        <p:sp>
          <p:nvSpPr>
            <p:cNvPr id="227347" name="Oval 19"/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7348" name="Text Box 20"/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x-none"/>
                <a:t>I</a:t>
              </a:r>
              <a:endParaRPr lang="en-GB" altLang="x-none"/>
            </a:p>
          </p:txBody>
        </p:sp>
      </p:grpSp>
      <p:sp>
        <p:nvSpPr>
          <p:cNvPr id="227349" name="Line 21"/>
          <p:cNvSpPr>
            <a:spLocks noChangeShapeType="1"/>
          </p:cNvSpPr>
          <p:nvPr/>
        </p:nvSpPr>
        <p:spPr bwMode="auto">
          <a:xfrm>
            <a:off x="5943600" y="3581400"/>
            <a:ext cx="1752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7350" name="Line 22"/>
          <p:cNvSpPr>
            <a:spLocks noChangeShapeType="1"/>
          </p:cNvSpPr>
          <p:nvPr/>
        </p:nvSpPr>
        <p:spPr bwMode="auto">
          <a:xfrm>
            <a:off x="7696200" y="4495800"/>
            <a:ext cx="8382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7351" name="Text Box 23"/>
          <p:cNvSpPr txBox="1">
            <a:spLocks noChangeArrowheads="1"/>
          </p:cNvSpPr>
          <p:nvPr/>
        </p:nvSpPr>
        <p:spPr bwMode="auto">
          <a:xfrm>
            <a:off x="6477000" y="3429001"/>
            <a:ext cx="609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b="1">
                <a:solidFill>
                  <a:schemeClr val="accent2"/>
                </a:solidFill>
              </a:rPr>
              <a:t>99</a:t>
            </a:r>
            <a:endParaRPr lang="en-GB" altLang="x-none" b="1">
              <a:solidFill>
                <a:schemeClr val="accent2"/>
              </a:solidFill>
            </a:endParaRPr>
          </a:p>
        </p:txBody>
      </p:sp>
      <p:sp>
        <p:nvSpPr>
          <p:cNvPr id="227352" name="Text Box 24"/>
          <p:cNvSpPr txBox="1">
            <a:spLocks noChangeArrowheads="1"/>
          </p:cNvSpPr>
          <p:nvPr/>
        </p:nvSpPr>
        <p:spPr bwMode="auto">
          <a:xfrm>
            <a:off x="8001000" y="4572001"/>
            <a:ext cx="762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b="1">
                <a:solidFill>
                  <a:schemeClr val="accent2"/>
                </a:solidFill>
              </a:rPr>
              <a:t>211</a:t>
            </a:r>
            <a:endParaRPr lang="en-GB" altLang="x-none" b="1">
              <a:solidFill>
                <a:schemeClr val="accent2"/>
              </a:solidFill>
            </a:endParaRPr>
          </a:p>
        </p:txBody>
      </p:sp>
      <p:grpSp>
        <p:nvGrpSpPr>
          <p:cNvPr id="227353" name="Group 25"/>
          <p:cNvGrpSpPr>
            <a:grpSpLocks/>
          </p:cNvGrpSpPr>
          <p:nvPr/>
        </p:nvGrpSpPr>
        <p:grpSpPr bwMode="auto">
          <a:xfrm>
            <a:off x="3505200" y="4038600"/>
            <a:ext cx="457200" cy="457200"/>
            <a:chOff x="1344" y="1248"/>
            <a:chExt cx="288" cy="288"/>
          </a:xfrm>
        </p:grpSpPr>
        <p:sp>
          <p:nvSpPr>
            <p:cNvPr id="227354" name="Oval 26"/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7355" name="Text Box 27"/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x-none"/>
                <a:t>G</a:t>
              </a:r>
              <a:endParaRPr lang="en-GB" altLang="x-none"/>
            </a:p>
          </p:txBody>
        </p:sp>
      </p:grpSp>
      <p:grpSp>
        <p:nvGrpSpPr>
          <p:cNvPr id="227356" name="Group 28"/>
          <p:cNvGrpSpPr>
            <a:grpSpLocks/>
          </p:cNvGrpSpPr>
          <p:nvPr/>
        </p:nvGrpSpPr>
        <p:grpSpPr bwMode="auto">
          <a:xfrm>
            <a:off x="5791200" y="4267200"/>
            <a:ext cx="457200" cy="457200"/>
            <a:chOff x="1344" y="1248"/>
            <a:chExt cx="288" cy="288"/>
          </a:xfrm>
        </p:grpSpPr>
        <p:sp>
          <p:nvSpPr>
            <p:cNvPr id="227357" name="Oval 29"/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7358" name="Text Box 30"/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x-none"/>
                <a:t>A</a:t>
              </a:r>
              <a:endParaRPr lang="en-GB" altLang="x-none"/>
            </a:p>
          </p:txBody>
        </p:sp>
      </p:grpSp>
      <p:sp>
        <p:nvSpPr>
          <p:cNvPr id="227359" name="Line 31"/>
          <p:cNvSpPr>
            <a:spLocks noChangeShapeType="1"/>
          </p:cNvSpPr>
          <p:nvPr/>
        </p:nvSpPr>
        <p:spPr bwMode="auto">
          <a:xfrm flipH="1">
            <a:off x="3657600" y="3581400"/>
            <a:ext cx="2286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7360" name="Line 32"/>
          <p:cNvSpPr>
            <a:spLocks noChangeShapeType="1"/>
          </p:cNvSpPr>
          <p:nvPr/>
        </p:nvSpPr>
        <p:spPr bwMode="auto">
          <a:xfrm flipH="1">
            <a:off x="7086600" y="4495800"/>
            <a:ext cx="5334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7361" name="Text Box 33"/>
          <p:cNvSpPr txBox="1">
            <a:spLocks noChangeArrowheads="1"/>
          </p:cNvSpPr>
          <p:nvPr/>
        </p:nvSpPr>
        <p:spPr bwMode="auto">
          <a:xfrm>
            <a:off x="4572000" y="3505201"/>
            <a:ext cx="609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b="1">
                <a:solidFill>
                  <a:schemeClr val="accent2"/>
                </a:solidFill>
              </a:rPr>
              <a:t>80</a:t>
            </a:r>
            <a:endParaRPr lang="en-GB" altLang="x-none" b="1">
              <a:solidFill>
                <a:schemeClr val="accent2"/>
              </a:solidFill>
            </a:endParaRPr>
          </a:p>
        </p:txBody>
      </p:sp>
      <p:sp>
        <p:nvSpPr>
          <p:cNvPr id="227362" name="Line 34"/>
          <p:cNvSpPr>
            <a:spLocks noChangeShapeType="1"/>
          </p:cNvSpPr>
          <p:nvPr/>
        </p:nvSpPr>
        <p:spPr bwMode="auto">
          <a:xfrm>
            <a:off x="5867400" y="2438400"/>
            <a:ext cx="17526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7363" name="Line 35"/>
          <p:cNvSpPr>
            <a:spLocks noChangeShapeType="1"/>
          </p:cNvSpPr>
          <p:nvPr/>
        </p:nvSpPr>
        <p:spPr bwMode="auto">
          <a:xfrm>
            <a:off x="5867400" y="2438400"/>
            <a:ext cx="76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7364" name="Line 36"/>
          <p:cNvSpPr>
            <a:spLocks noChangeShapeType="1"/>
          </p:cNvSpPr>
          <p:nvPr/>
        </p:nvSpPr>
        <p:spPr bwMode="auto">
          <a:xfrm flipH="1">
            <a:off x="3657600" y="2438400"/>
            <a:ext cx="22098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7365" name="Text Box 37"/>
          <p:cNvSpPr txBox="1">
            <a:spLocks noChangeArrowheads="1"/>
          </p:cNvSpPr>
          <p:nvPr/>
        </p:nvSpPr>
        <p:spPr bwMode="auto">
          <a:xfrm>
            <a:off x="6096000" y="1828801"/>
            <a:ext cx="1219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b="1">
                <a:solidFill>
                  <a:schemeClr val="accent1"/>
                </a:solidFill>
              </a:rPr>
              <a:t>Start</a:t>
            </a:r>
            <a:endParaRPr lang="en-GB" altLang="x-none" b="1">
              <a:solidFill>
                <a:schemeClr val="accent1"/>
              </a:solidFill>
            </a:endParaRPr>
          </a:p>
        </p:txBody>
      </p:sp>
      <p:sp>
        <p:nvSpPr>
          <p:cNvPr id="227366" name="Text Box 38"/>
          <p:cNvSpPr txBox="1">
            <a:spLocks noChangeArrowheads="1"/>
          </p:cNvSpPr>
          <p:nvPr/>
        </p:nvSpPr>
        <p:spPr bwMode="auto">
          <a:xfrm>
            <a:off x="8077200" y="5867401"/>
            <a:ext cx="1219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b="1"/>
              <a:t>Goal</a:t>
            </a:r>
            <a:endParaRPr lang="en-GB" altLang="x-none" b="1"/>
          </a:p>
        </p:txBody>
      </p:sp>
      <p:sp>
        <p:nvSpPr>
          <p:cNvPr id="227367" name="Text Box 39"/>
          <p:cNvSpPr txBox="1">
            <a:spLocks noChangeArrowheads="1"/>
          </p:cNvSpPr>
          <p:nvPr/>
        </p:nvSpPr>
        <p:spPr bwMode="auto">
          <a:xfrm>
            <a:off x="6324600" y="2133601"/>
            <a:ext cx="609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b="1">
                <a:solidFill>
                  <a:schemeClr val="accent2"/>
                </a:solidFill>
              </a:rPr>
              <a:t>75</a:t>
            </a:r>
            <a:endParaRPr lang="en-GB" altLang="x-none" b="1">
              <a:solidFill>
                <a:schemeClr val="accent2"/>
              </a:solidFill>
            </a:endParaRPr>
          </a:p>
        </p:txBody>
      </p:sp>
      <p:sp>
        <p:nvSpPr>
          <p:cNvPr id="227368" name="Text Box 40"/>
          <p:cNvSpPr txBox="1">
            <a:spLocks noChangeArrowheads="1"/>
          </p:cNvSpPr>
          <p:nvPr/>
        </p:nvSpPr>
        <p:spPr bwMode="auto">
          <a:xfrm>
            <a:off x="4419600" y="2209801"/>
            <a:ext cx="762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b="1">
                <a:solidFill>
                  <a:schemeClr val="accent2"/>
                </a:solidFill>
              </a:rPr>
              <a:t>118</a:t>
            </a:r>
            <a:endParaRPr lang="en-GB" altLang="x-none" b="1">
              <a:solidFill>
                <a:schemeClr val="accent2"/>
              </a:solidFill>
            </a:endParaRPr>
          </a:p>
        </p:txBody>
      </p:sp>
      <p:sp>
        <p:nvSpPr>
          <p:cNvPr id="227369" name="Text Box 41"/>
          <p:cNvSpPr txBox="1">
            <a:spLocks noChangeArrowheads="1"/>
          </p:cNvSpPr>
          <p:nvPr/>
        </p:nvSpPr>
        <p:spPr bwMode="auto">
          <a:xfrm>
            <a:off x="5867400" y="2681288"/>
            <a:ext cx="762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b="1">
                <a:solidFill>
                  <a:schemeClr val="accent2"/>
                </a:solidFill>
              </a:rPr>
              <a:t>140</a:t>
            </a:r>
            <a:endParaRPr lang="en-GB" altLang="x-none" b="1">
              <a:solidFill>
                <a:schemeClr val="accent2"/>
              </a:solidFill>
            </a:endParaRPr>
          </a:p>
        </p:txBody>
      </p:sp>
      <p:sp>
        <p:nvSpPr>
          <p:cNvPr id="227370" name="Text Box 42"/>
          <p:cNvSpPr txBox="1">
            <a:spLocks noChangeArrowheads="1"/>
          </p:cNvSpPr>
          <p:nvPr/>
        </p:nvSpPr>
        <p:spPr bwMode="auto">
          <a:xfrm>
            <a:off x="6705600" y="2605088"/>
            <a:ext cx="8382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/>
              <a:t>[374]</a:t>
            </a:r>
            <a:endParaRPr lang="en-GB" altLang="x-none"/>
          </a:p>
        </p:txBody>
      </p:sp>
      <p:sp>
        <p:nvSpPr>
          <p:cNvPr id="227371" name="Text Box 43"/>
          <p:cNvSpPr txBox="1">
            <a:spLocks noChangeArrowheads="1"/>
          </p:cNvSpPr>
          <p:nvPr/>
        </p:nvSpPr>
        <p:spPr bwMode="auto">
          <a:xfrm>
            <a:off x="2667000" y="2667001"/>
            <a:ext cx="838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/>
              <a:t>[329]</a:t>
            </a:r>
            <a:endParaRPr lang="en-GB" altLang="x-none"/>
          </a:p>
        </p:txBody>
      </p:sp>
      <p:sp>
        <p:nvSpPr>
          <p:cNvPr id="227372" name="Text Box 44"/>
          <p:cNvSpPr txBox="1">
            <a:spLocks noChangeArrowheads="1"/>
          </p:cNvSpPr>
          <p:nvPr/>
        </p:nvSpPr>
        <p:spPr bwMode="auto">
          <a:xfrm>
            <a:off x="5029200" y="3214688"/>
            <a:ext cx="8382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/>
              <a:t>[253]</a:t>
            </a:r>
            <a:endParaRPr lang="en-GB" altLang="x-none"/>
          </a:p>
        </p:txBody>
      </p:sp>
      <p:sp>
        <p:nvSpPr>
          <p:cNvPr id="227373" name="Text Box 45"/>
          <p:cNvSpPr txBox="1">
            <a:spLocks noChangeArrowheads="1"/>
          </p:cNvSpPr>
          <p:nvPr/>
        </p:nvSpPr>
        <p:spPr bwMode="auto">
          <a:xfrm>
            <a:off x="2819400" y="3976688"/>
            <a:ext cx="8382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/>
              <a:t>[193]</a:t>
            </a:r>
            <a:endParaRPr lang="en-GB" altLang="x-none"/>
          </a:p>
        </p:txBody>
      </p:sp>
      <p:sp>
        <p:nvSpPr>
          <p:cNvPr id="227374" name="Line 46"/>
          <p:cNvSpPr>
            <a:spLocks noChangeShapeType="1"/>
          </p:cNvSpPr>
          <p:nvPr/>
        </p:nvSpPr>
        <p:spPr bwMode="auto">
          <a:xfrm>
            <a:off x="5943600" y="3581400"/>
            <a:ext cx="76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7375" name="Text Box 47"/>
          <p:cNvSpPr txBox="1">
            <a:spLocks noChangeArrowheads="1"/>
          </p:cNvSpPr>
          <p:nvPr/>
        </p:nvSpPr>
        <p:spPr bwMode="auto">
          <a:xfrm>
            <a:off x="5105400" y="4357688"/>
            <a:ext cx="8382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/>
              <a:t>[366]</a:t>
            </a:r>
            <a:endParaRPr lang="en-GB" altLang="x-none"/>
          </a:p>
        </p:txBody>
      </p:sp>
      <p:sp>
        <p:nvSpPr>
          <p:cNvPr id="227376" name="Text Box 48"/>
          <p:cNvSpPr txBox="1">
            <a:spLocks noChangeArrowheads="1"/>
          </p:cNvSpPr>
          <p:nvPr/>
        </p:nvSpPr>
        <p:spPr bwMode="auto">
          <a:xfrm>
            <a:off x="7924800" y="4038601"/>
            <a:ext cx="838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/>
              <a:t>[178]</a:t>
            </a:r>
            <a:endParaRPr lang="en-GB" altLang="x-none"/>
          </a:p>
        </p:txBody>
      </p:sp>
      <p:grpSp>
        <p:nvGrpSpPr>
          <p:cNvPr id="227377" name="Group 49"/>
          <p:cNvGrpSpPr>
            <a:grpSpLocks/>
          </p:cNvGrpSpPr>
          <p:nvPr/>
        </p:nvGrpSpPr>
        <p:grpSpPr bwMode="auto">
          <a:xfrm>
            <a:off x="6858000" y="5334000"/>
            <a:ext cx="457200" cy="457200"/>
            <a:chOff x="1344" y="1248"/>
            <a:chExt cx="288" cy="288"/>
          </a:xfrm>
        </p:grpSpPr>
        <p:sp>
          <p:nvSpPr>
            <p:cNvPr id="227378" name="Oval 50"/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7379" name="Text Box 51"/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x-none"/>
                <a:t>E</a:t>
              </a:r>
              <a:endParaRPr lang="en-GB" altLang="x-none"/>
            </a:p>
          </p:txBody>
        </p:sp>
      </p:grpSp>
      <p:sp>
        <p:nvSpPr>
          <p:cNvPr id="227380" name="Text Box 52"/>
          <p:cNvSpPr txBox="1">
            <a:spLocks noChangeArrowheads="1"/>
          </p:cNvSpPr>
          <p:nvPr/>
        </p:nvSpPr>
        <p:spPr bwMode="auto">
          <a:xfrm>
            <a:off x="8763000" y="5257801"/>
            <a:ext cx="838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b="1">
                <a:solidFill>
                  <a:schemeClr val="hlink"/>
                </a:solidFill>
              </a:rPr>
              <a:t>[0]</a:t>
            </a:r>
            <a:endParaRPr lang="en-GB" altLang="x-none" b="1">
              <a:solidFill>
                <a:schemeClr val="hlink"/>
              </a:solidFill>
            </a:endParaRPr>
          </a:p>
        </p:txBody>
      </p:sp>
      <p:sp>
        <p:nvSpPr>
          <p:cNvPr id="227381" name="Text Box 53"/>
          <p:cNvSpPr txBox="1">
            <a:spLocks noChangeArrowheads="1"/>
          </p:cNvSpPr>
          <p:nvPr/>
        </p:nvSpPr>
        <p:spPr bwMode="auto">
          <a:xfrm>
            <a:off x="6172200" y="5334001"/>
            <a:ext cx="838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/>
              <a:t>[253]</a:t>
            </a:r>
            <a:endParaRPr lang="en-GB" altLang="x-none"/>
          </a:p>
        </p:txBody>
      </p:sp>
      <p:sp>
        <p:nvSpPr>
          <p:cNvPr id="227382" name="Text Box 54"/>
          <p:cNvSpPr txBox="1">
            <a:spLocks noChangeArrowheads="1"/>
          </p:cNvSpPr>
          <p:nvPr/>
        </p:nvSpPr>
        <p:spPr bwMode="auto">
          <a:xfrm>
            <a:off x="1676400" y="5562600"/>
            <a:ext cx="5486400" cy="861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sz="2000" b="1" dirty="0"/>
              <a:t>Path cost(A-E-F-I) = 253 + 178 + 0 = </a:t>
            </a:r>
            <a:r>
              <a:rPr lang="en-US" altLang="x-none" sz="2000" b="1" dirty="0">
                <a:solidFill>
                  <a:schemeClr val="hlink"/>
                </a:solidFill>
              </a:rPr>
              <a:t>431</a:t>
            </a:r>
          </a:p>
          <a:p>
            <a:pPr>
              <a:spcBef>
                <a:spcPct val="50000"/>
              </a:spcBef>
            </a:pPr>
            <a:r>
              <a:rPr lang="en-US" altLang="x-none" sz="2000" b="1" dirty="0" err="1"/>
              <a:t>dist</a:t>
            </a:r>
            <a:r>
              <a:rPr lang="en-US" altLang="x-none" sz="2000" b="1" dirty="0"/>
              <a:t>(A-E-F-I) = 140 + 99 + 211 = </a:t>
            </a:r>
            <a:r>
              <a:rPr lang="en-US" altLang="x-none" sz="2000" b="1" dirty="0">
                <a:solidFill>
                  <a:schemeClr val="folHlink"/>
                </a:solidFill>
              </a:rPr>
              <a:t>450</a:t>
            </a:r>
            <a:endParaRPr lang="en-GB" altLang="x-none" sz="2000" b="1" dirty="0">
              <a:solidFill>
                <a:schemeClr val="folHlin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304554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 dirty="0"/>
              <a:t>Greedy Search: Optimal? </a:t>
            </a:r>
            <a:endParaRPr lang="en-GB" altLang="x-none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190514" name="Group 50"/>
          <p:cNvGraphicFramePr>
            <a:graphicFrameLocks noGrp="1"/>
          </p:cNvGraphicFramePr>
          <p:nvPr>
            <p:ph sz="half" idx="2"/>
          </p:nvPr>
        </p:nvGraphicFramePr>
        <p:xfrm>
          <a:off x="6172200" y="1600200"/>
          <a:ext cx="3810000" cy="4064000"/>
        </p:xfrm>
        <a:graphic>
          <a:graphicData uri="http://schemas.openxmlformats.org/drawingml/2006/table">
            <a:tbl>
              <a:tblPr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x-none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State</a:t>
                      </a:r>
                      <a:endParaRPr kumimoji="0" lang="en-GB" altLang="x-none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x-none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Heuristic: h(n)</a:t>
                      </a:r>
                      <a:endParaRPr kumimoji="0" lang="en-GB" altLang="x-none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A</a:t>
                      </a:r>
                      <a:endParaRPr kumimoji="0" lang="en-GB" altLang="x-none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366</a:t>
                      </a:r>
                      <a:endParaRPr kumimoji="0" lang="en-GB" altLang="x-none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B</a:t>
                      </a:r>
                      <a:endParaRPr kumimoji="0" lang="en-GB" altLang="x-none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374</a:t>
                      </a:r>
                      <a:endParaRPr kumimoji="0" lang="en-GB" altLang="x-none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C</a:t>
                      </a:r>
                      <a:endParaRPr kumimoji="0" lang="en-GB" altLang="x-none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329</a:t>
                      </a:r>
                      <a:endParaRPr kumimoji="0" lang="en-GB" altLang="x-none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D</a:t>
                      </a:r>
                      <a:endParaRPr kumimoji="0" lang="en-GB" altLang="x-none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244</a:t>
                      </a:r>
                      <a:endParaRPr kumimoji="0" lang="en-GB" altLang="x-none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x-none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466E0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E</a:t>
                      </a:r>
                      <a:endParaRPr kumimoji="0" lang="en-GB" altLang="x-none" sz="1800" b="1" i="0" u="none" strike="noStrike" cap="none" normalizeH="0" baseline="0">
                        <a:ln>
                          <a:noFill/>
                        </a:ln>
                        <a:solidFill>
                          <a:srgbClr val="F466E0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x-none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466E0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253</a:t>
                      </a:r>
                      <a:endParaRPr kumimoji="0" lang="en-GB" altLang="x-none" sz="1800" b="1" i="0" u="none" strike="noStrike" cap="none" normalizeH="0" baseline="0">
                        <a:ln>
                          <a:noFill/>
                        </a:ln>
                        <a:solidFill>
                          <a:srgbClr val="F466E0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F</a:t>
                      </a:r>
                      <a:endParaRPr kumimoji="0" lang="en-GB" altLang="x-none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178</a:t>
                      </a:r>
                      <a:endParaRPr kumimoji="0" lang="en-GB" altLang="x-none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x-none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466E0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G</a:t>
                      </a:r>
                      <a:endParaRPr kumimoji="0" lang="en-GB" altLang="x-none" sz="1800" b="1" i="0" u="none" strike="noStrike" cap="none" normalizeH="0" baseline="0">
                        <a:ln>
                          <a:noFill/>
                        </a:ln>
                        <a:solidFill>
                          <a:srgbClr val="F466E0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x-none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466E0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193</a:t>
                      </a:r>
                      <a:endParaRPr kumimoji="0" lang="en-GB" altLang="x-none" sz="1800" b="1" i="0" u="none" strike="noStrike" cap="none" normalizeH="0" baseline="0">
                        <a:ln>
                          <a:noFill/>
                        </a:ln>
                        <a:solidFill>
                          <a:srgbClr val="F466E0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x-none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466E0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H</a:t>
                      </a:r>
                      <a:endParaRPr kumimoji="0" lang="en-GB" altLang="x-none" sz="1800" b="1" i="0" u="none" strike="noStrike" cap="none" normalizeH="0" baseline="0">
                        <a:ln>
                          <a:noFill/>
                        </a:ln>
                        <a:solidFill>
                          <a:srgbClr val="F466E0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x-none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466E0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98</a:t>
                      </a:r>
                      <a:endParaRPr kumimoji="0" lang="en-GB" altLang="x-none" sz="1800" b="1" i="0" u="none" strike="noStrike" cap="none" normalizeH="0" baseline="0">
                        <a:ln>
                          <a:noFill/>
                        </a:ln>
                        <a:solidFill>
                          <a:srgbClr val="F466E0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I</a:t>
                      </a:r>
                      <a:endParaRPr kumimoji="0" lang="en-GB" altLang="x-none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0</a:t>
                      </a:r>
                      <a:endParaRPr kumimoji="0" lang="en-GB" altLang="x-none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190467" name="Group 3"/>
          <p:cNvGrpSpPr>
            <a:grpSpLocks/>
          </p:cNvGrpSpPr>
          <p:nvPr/>
        </p:nvGrpSpPr>
        <p:grpSpPr bwMode="auto">
          <a:xfrm>
            <a:off x="3657600" y="1981200"/>
            <a:ext cx="457200" cy="457200"/>
            <a:chOff x="1344" y="1248"/>
            <a:chExt cx="288" cy="288"/>
          </a:xfrm>
        </p:grpSpPr>
        <p:sp>
          <p:nvSpPr>
            <p:cNvPr id="190468" name="Oval 4"/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solidFill>
              <a:srgbClr val="F466E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0469" name="Text Box 5"/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solidFill>
              <a:srgbClr val="F466E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x-none"/>
                <a:t>A</a:t>
              </a:r>
              <a:endParaRPr lang="en-GB" altLang="x-none"/>
            </a:p>
          </p:txBody>
        </p:sp>
      </p:grpSp>
      <p:grpSp>
        <p:nvGrpSpPr>
          <p:cNvPr id="190470" name="Group 6"/>
          <p:cNvGrpSpPr>
            <a:grpSpLocks/>
          </p:cNvGrpSpPr>
          <p:nvPr/>
        </p:nvGrpSpPr>
        <p:grpSpPr bwMode="auto">
          <a:xfrm>
            <a:off x="4724400" y="2514600"/>
            <a:ext cx="457200" cy="457200"/>
            <a:chOff x="1344" y="1248"/>
            <a:chExt cx="288" cy="288"/>
          </a:xfrm>
        </p:grpSpPr>
        <p:sp>
          <p:nvSpPr>
            <p:cNvPr id="190471" name="Oval 7"/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0472" name="Text Box 8"/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x-none"/>
                <a:t>B</a:t>
              </a:r>
              <a:endParaRPr lang="en-GB" altLang="x-none"/>
            </a:p>
          </p:txBody>
        </p:sp>
      </p:grpSp>
      <p:grpSp>
        <p:nvGrpSpPr>
          <p:cNvPr id="190473" name="Group 9"/>
          <p:cNvGrpSpPr>
            <a:grpSpLocks/>
          </p:cNvGrpSpPr>
          <p:nvPr/>
        </p:nvGrpSpPr>
        <p:grpSpPr bwMode="auto">
          <a:xfrm>
            <a:off x="2057400" y="3429000"/>
            <a:ext cx="457200" cy="457200"/>
            <a:chOff x="1344" y="1248"/>
            <a:chExt cx="288" cy="288"/>
          </a:xfrm>
        </p:grpSpPr>
        <p:sp>
          <p:nvSpPr>
            <p:cNvPr id="190474" name="Oval 10"/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0475" name="Text Box 11"/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x-none"/>
                <a:t>D</a:t>
              </a:r>
              <a:endParaRPr lang="en-GB" altLang="x-none"/>
            </a:p>
          </p:txBody>
        </p:sp>
      </p:grpSp>
      <p:grpSp>
        <p:nvGrpSpPr>
          <p:cNvPr id="190476" name="Group 12"/>
          <p:cNvGrpSpPr>
            <a:grpSpLocks/>
          </p:cNvGrpSpPr>
          <p:nvPr/>
        </p:nvGrpSpPr>
        <p:grpSpPr bwMode="auto">
          <a:xfrm>
            <a:off x="2590800" y="2667000"/>
            <a:ext cx="457200" cy="457200"/>
            <a:chOff x="1344" y="1248"/>
            <a:chExt cx="288" cy="288"/>
          </a:xfrm>
        </p:grpSpPr>
        <p:sp>
          <p:nvSpPr>
            <p:cNvPr id="190477" name="Oval 13"/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0478" name="Text Box 14"/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x-none"/>
                <a:t>C</a:t>
              </a:r>
              <a:endParaRPr lang="en-GB" altLang="x-none"/>
            </a:p>
          </p:txBody>
        </p:sp>
      </p:grpSp>
      <p:grpSp>
        <p:nvGrpSpPr>
          <p:cNvPr id="190479" name="Group 15"/>
          <p:cNvGrpSpPr>
            <a:grpSpLocks/>
          </p:cNvGrpSpPr>
          <p:nvPr/>
        </p:nvGrpSpPr>
        <p:grpSpPr bwMode="auto">
          <a:xfrm>
            <a:off x="3733800" y="3124200"/>
            <a:ext cx="457200" cy="457200"/>
            <a:chOff x="1344" y="1248"/>
            <a:chExt cx="288" cy="288"/>
          </a:xfrm>
        </p:grpSpPr>
        <p:sp>
          <p:nvSpPr>
            <p:cNvPr id="190480" name="Oval 16"/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solidFill>
              <a:srgbClr val="F466E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0481" name="Text Box 17"/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solidFill>
              <a:srgbClr val="F466E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x-none"/>
                <a:t>E</a:t>
              </a:r>
              <a:endParaRPr lang="en-GB" altLang="x-none"/>
            </a:p>
          </p:txBody>
        </p:sp>
      </p:grpSp>
      <p:grpSp>
        <p:nvGrpSpPr>
          <p:cNvPr id="190482" name="Group 18"/>
          <p:cNvGrpSpPr>
            <a:grpSpLocks/>
          </p:cNvGrpSpPr>
          <p:nvPr/>
        </p:nvGrpSpPr>
        <p:grpSpPr bwMode="auto">
          <a:xfrm>
            <a:off x="4419600" y="4038600"/>
            <a:ext cx="457200" cy="457200"/>
            <a:chOff x="1344" y="1248"/>
            <a:chExt cx="288" cy="288"/>
          </a:xfrm>
        </p:grpSpPr>
        <p:sp>
          <p:nvSpPr>
            <p:cNvPr id="190483" name="Oval 19"/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0484" name="Text Box 20"/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x-none"/>
                <a:t>F</a:t>
              </a:r>
              <a:endParaRPr lang="en-GB" altLang="x-none"/>
            </a:p>
          </p:txBody>
        </p:sp>
      </p:grpSp>
      <p:grpSp>
        <p:nvGrpSpPr>
          <p:cNvPr id="190485" name="Group 21"/>
          <p:cNvGrpSpPr>
            <a:grpSpLocks/>
          </p:cNvGrpSpPr>
          <p:nvPr/>
        </p:nvGrpSpPr>
        <p:grpSpPr bwMode="auto">
          <a:xfrm>
            <a:off x="3429000" y="5715000"/>
            <a:ext cx="457200" cy="457200"/>
            <a:chOff x="1344" y="1248"/>
            <a:chExt cx="288" cy="288"/>
          </a:xfrm>
        </p:grpSpPr>
        <p:sp>
          <p:nvSpPr>
            <p:cNvPr id="190486" name="Oval 22"/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solidFill>
              <a:srgbClr val="F466E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0487" name="Text Box 23"/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solidFill>
              <a:srgbClr val="F466E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x-none"/>
                <a:t>I</a:t>
              </a:r>
              <a:endParaRPr lang="en-GB" altLang="x-none"/>
            </a:p>
          </p:txBody>
        </p:sp>
      </p:grpSp>
      <p:sp>
        <p:nvSpPr>
          <p:cNvPr id="190488" name="Line 24"/>
          <p:cNvSpPr>
            <a:spLocks noChangeShapeType="1"/>
          </p:cNvSpPr>
          <p:nvPr/>
        </p:nvSpPr>
        <p:spPr bwMode="auto">
          <a:xfrm>
            <a:off x="3962400" y="3581400"/>
            <a:ext cx="609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0489" name="Line 25"/>
          <p:cNvSpPr>
            <a:spLocks noChangeShapeType="1"/>
          </p:cNvSpPr>
          <p:nvPr/>
        </p:nvSpPr>
        <p:spPr bwMode="auto">
          <a:xfrm flipH="1">
            <a:off x="3657600" y="4495800"/>
            <a:ext cx="99060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0490" name="Text Box 26"/>
          <p:cNvSpPr txBox="1">
            <a:spLocks noChangeArrowheads="1"/>
          </p:cNvSpPr>
          <p:nvPr/>
        </p:nvSpPr>
        <p:spPr bwMode="auto">
          <a:xfrm>
            <a:off x="4191000" y="3505201"/>
            <a:ext cx="609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b="1">
                <a:solidFill>
                  <a:schemeClr val="hlink"/>
                </a:solidFill>
              </a:rPr>
              <a:t>99</a:t>
            </a:r>
            <a:endParaRPr lang="en-GB" altLang="x-none" b="1">
              <a:solidFill>
                <a:schemeClr val="hlink"/>
              </a:solidFill>
            </a:endParaRPr>
          </a:p>
        </p:txBody>
      </p:sp>
      <p:sp>
        <p:nvSpPr>
          <p:cNvPr id="190491" name="Text Box 27"/>
          <p:cNvSpPr txBox="1">
            <a:spLocks noChangeArrowheads="1"/>
          </p:cNvSpPr>
          <p:nvPr/>
        </p:nvSpPr>
        <p:spPr bwMode="auto">
          <a:xfrm>
            <a:off x="4191000" y="5105401"/>
            <a:ext cx="762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b="1">
                <a:solidFill>
                  <a:schemeClr val="hlink"/>
                </a:solidFill>
              </a:rPr>
              <a:t>211</a:t>
            </a:r>
            <a:endParaRPr lang="en-GB" altLang="x-none" b="1">
              <a:solidFill>
                <a:schemeClr val="hlink"/>
              </a:solidFill>
            </a:endParaRPr>
          </a:p>
        </p:txBody>
      </p:sp>
      <p:grpSp>
        <p:nvGrpSpPr>
          <p:cNvPr id="190492" name="Group 28"/>
          <p:cNvGrpSpPr>
            <a:grpSpLocks/>
          </p:cNvGrpSpPr>
          <p:nvPr/>
        </p:nvGrpSpPr>
        <p:grpSpPr bwMode="auto">
          <a:xfrm>
            <a:off x="2895600" y="4038600"/>
            <a:ext cx="457200" cy="457200"/>
            <a:chOff x="1344" y="1248"/>
            <a:chExt cx="288" cy="288"/>
          </a:xfrm>
        </p:grpSpPr>
        <p:sp>
          <p:nvSpPr>
            <p:cNvPr id="190493" name="Oval 29"/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solidFill>
              <a:srgbClr val="F466E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0494" name="Text Box 30"/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solidFill>
              <a:srgbClr val="F466E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x-none"/>
                <a:t>G</a:t>
              </a:r>
              <a:endParaRPr lang="en-GB" altLang="x-none"/>
            </a:p>
          </p:txBody>
        </p:sp>
      </p:grpSp>
      <p:grpSp>
        <p:nvGrpSpPr>
          <p:cNvPr id="190495" name="Group 31"/>
          <p:cNvGrpSpPr>
            <a:grpSpLocks/>
          </p:cNvGrpSpPr>
          <p:nvPr/>
        </p:nvGrpSpPr>
        <p:grpSpPr bwMode="auto">
          <a:xfrm>
            <a:off x="2667000" y="4953000"/>
            <a:ext cx="457200" cy="457200"/>
            <a:chOff x="1344" y="1248"/>
            <a:chExt cx="288" cy="288"/>
          </a:xfrm>
        </p:grpSpPr>
        <p:sp>
          <p:nvSpPr>
            <p:cNvPr id="190496" name="Oval 32"/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solidFill>
              <a:srgbClr val="F466E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0497" name="Text Box 33"/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solidFill>
              <a:srgbClr val="F466E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x-none"/>
                <a:t>H</a:t>
              </a:r>
              <a:endParaRPr lang="en-GB" altLang="x-none"/>
            </a:p>
          </p:txBody>
        </p:sp>
      </p:grpSp>
      <p:sp>
        <p:nvSpPr>
          <p:cNvPr id="190498" name="Line 34"/>
          <p:cNvSpPr>
            <a:spLocks noChangeShapeType="1"/>
          </p:cNvSpPr>
          <p:nvPr/>
        </p:nvSpPr>
        <p:spPr bwMode="auto">
          <a:xfrm flipH="1">
            <a:off x="3048000" y="3581400"/>
            <a:ext cx="914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0499" name="Line 35"/>
          <p:cNvSpPr>
            <a:spLocks noChangeShapeType="1"/>
          </p:cNvSpPr>
          <p:nvPr/>
        </p:nvSpPr>
        <p:spPr bwMode="auto">
          <a:xfrm flipH="1">
            <a:off x="2895600" y="4495800"/>
            <a:ext cx="228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0500" name="Line 36"/>
          <p:cNvSpPr>
            <a:spLocks noChangeShapeType="1"/>
          </p:cNvSpPr>
          <p:nvPr/>
        </p:nvSpPr>
        <p:spPr bwMode="auto">
          <a:xfrm>
            <a:off x="2895600" y="5410200"/>
            <a:ext cx="762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0501" name="Text Box 37"/>
          <p:cNvSpPr txBox="1">
            <a:spLocks noChangeArrowheads="1"/>
          </p:cNvSpPr>
          <p:nvPr/>
        </p:nvSpPr>
        <p:spPr bwMode="auto">
          <a:xfrm>
            <a:off x="3124200" y="3505201"/>
            <a:ext cx="609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b="1">
                <a:solidFill>
                  <a:schemeClr val="hlink"/>
                </a:solidFill>
              </a:rPr>
              <a:t>80</a:t>
            </a:r>
            <a:endParaRPr lang="en-GB" altLang="x-none" b="1">
              <a:solidFill>
                <a:schemeClr val="hlink"/>
              </a:solidFill>
            </a:endParaRPr>
          </a:p>
        </p:txBody>
      </p:sp>
      <p:sp>
        <p:nvSpPr>
          <p:cNvPr id="190502" name="Line 38"/>
          <p:cNvSpPr>
            <a:spLocks noChangeShapeType="1"/>
          </p:cNvSpPr>
          <p:nvPr/>
        </p:nvSpPr>
        <p:spPr bwMode="auto">
          <a:xfrm>
            <a:off x="3886200" y="2438400"/>
            <a:ext cx="10668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0503" name="Line 39"/>
          <p:cNvSpPr>
            <a:spLocks noChangeShapeType="1"/>
          </p:cNvSpPr>
          <p:nvPr/>
        </p:nvSpPr>
        <p:spPr bwMode="auto">
          <a:xfrm>
            <a:off x="3886200" y="2438400"/>
            <a:ext cx="76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0504" name="Line 40"/>
          <p:cNvSpPr>
            <a:spLocks noChangeShapeType="1"/>
          </p:cNvSpPr>
          <p:nvPr/>
        </p:nvSpPr>
        <p:spPr bwMode="auto">
          <a:xfrm flipH="1">
            <a:off x="2819400" y="2438400"/>
            <a:ext cx="10668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0505" name="Line 41"/>
          <p:cNvSpPr>
            <a:spLocks noChangeShapeType="1"/>
          </p:cNvSpPr>
          <p:nvPr/>
        </p:nvSpPr>
        <p:spPr bwMode="auto">
          <a:xfrm flipH="1">
            <a:off x="2286000" y="3124200"/>
            <a:ext cx="5334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0506" name="Text Box 42"/>
          <p:cNvSpPr txBox="1">
            <a:spLocks noChangeArrowheads="1"/>
          </p:cNvSpPr>
          <p:nvPr/>
        </p:nvSpPr>
        <p:spPr bwMode="auto">
          <a:xfrm>
            <a:off x="4114800" y="1828801"/>
            <a:ext cx="1219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/>
              <a:t>Start</a:t>
            </a:r>
            <a:endParaRPr lang="en-GB" altLang="x-none"/>
          </a:p>
        </p:txBody>
      </p:sp>
      <p:sp>
        <p:nvSpPr>
          <p:cNvPr id="190507" name="Text Box 43"/>
          <p:cNvSpPr txBox="1">
            <a:spLocks noChangeArrowheads="1"/>
          </p:cNvSpPr>
          <p:nvPr/>
        </p:nvSpPr>
        <p:spPr bwMode="auto">
          <a:xfrm>
            <a:off x="3962400" y="6019801"/>
            <a:ext cx="1219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/>
              <a:t>Goal</a:t>
            </a:r>
            <a:endParaRPr lang="en-GB" altLang="x-none"/>
          </a:p>
        </p:txBody>
      </p:sp>
      <p:sp>
        <p:nvSpPr>
          <p:cNvPr id="190508" name="Text Box 44"/>
          <p:cNvSpPr txBox="1">
            <a:spLocks noChangeArrowheads="1"/>
          </p:cNvSpPr>
          <p:nvPr/>
        </p:nvSpPr>
        <p:spPr bwMode="auto">
          <a:xfrm>
            <a:off x="2514600" y="4572001"/>
            <a:ext cx="609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b="1">
                <a:solidFill>
                  <a:schemeClr val="hlink"/>
                </a:solidFill>
              </a:rPr>
              <a:t>97</a:t>
            </a:r>
            <a:endParaRPr lang="en-GB" altLang="x-none" b="1">
              <a:solidFill>
                <a:schemeClr val="hlink"/>
              </a:solidFill>
            </a:endParaRPr>
          </a:p>
        </p:txBody>
      </p:sp>
      <p:sp>
        <p:nvSpPr>
          <p:cNvPr id="190509" name="Text Box 45"/>
          <p:cNvSpPr txBox="1">
            <a:spLocks noChangeArrowheads="1"/>
          </p:cNvSpPr>
          <p:nvPr/>
        </p:nvSpPr>
        <p:spPr bwMode="auto">
          <a:xfrm>
            <a:off x="2819400" y="5486401"/>
            <a:ext cx="838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b="1">
                <a:solidFill>
                  <a:schemeClr val="hlink"/>
                </a:solidFill>
              </a:rPr>
              <a:t>101</a:t>
            </a:r>
            <a:endParaRPr lang="en-GB" altLang="x-none" b="1">
              <a:solidFill>
                <a:schemeClr val="hlink"/>
              </a:solidFill>
            </a:endParaRPr>
          </a:p>
        </p:txBody>
      </p:sp>
      <p:sp>
        <p:nvSpPr>
          <p:cNvPr id="190510" name="Text Box 46"/>
          <p:cNvSpPr txBox="1">
            <a:spLocks noChangeArrowheads="1"/>
          </p:cNvSpPr>
          <p:nvPr/>
        </p:nvSpPr>
        <p:spPr bwMode="auto">
          <a:xfrm>
            <a:off x="4343400" y="2133601"/>
            <a:ext cx="609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b="1">
                <a:solidFill>
                  <a:schemeClr val="hlink"/>
                </a:solidFill>
              </a:rPr>
              <a:t>75</a:t>
            </a:r>
            <a:endParaRPr lang="en-GB" altLang="x-none" b="1">
              <a:solidFill>
                <a:schemeClr val="hlink"/>
              </a:solidFill>
            </a:endParaRPr>
          </a:p>
        </p:txBody>
      </p:sp>
      <p:sp>
        <p:nvSpPr>
          <p:cNvPr id="190511" name="Text Box 47"/>
          <p:cNvSpPr txBox="1">
            <a:spLocks noChangeArrowheads="1"/>
          </p:cNvSpPr>
          <p:nvPr/>
        </p:nvSpPr>
        <p:spPr bwMode="auto">
          <a:xfrm>
            <a:off x="2895600" y="2209801"/>
            <a:ext cx="762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b="1">
                <a:solidFill>
                  <a:schemeClr val="hlink"/>
                </a:solidFill>
              </a:rPr>
              <a:t>118</a:t>
            </a:r>
            <a:endParaRPr lang="en-GB" altLang="x-none" b="1">
              <a:solidFill>
                <a:schemeClr val="hlink"/>
              </a:solidFill>
            </a:endParaRPr>
          </a:p>
        </p:txBody>
      </p:sp>
      <p:sp>
        <p:nvSpPr>
          <p:cNvPr id="190512" name="Text Box 48"/>
          <p:cNvSpPr txBox="1">
            <a:spLocks noChangeArrowheads="1"/>
          </p:cNvSpPr>
          <p:nvPr/>
        </p:nvSpPr>
        <p:spPr bwMode="auto">
          <a:xfrm>
            <a:off x="1905000" y="3048001"/>
            <a:ext cx="762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b="1">
                <a:solidFill>
                  <a:schemeClr val="hlink"/>
                </a:solidFill>
              </a:rPr>
              <a:t>111</a:t>
            </a:r>
            <a:endParaRPr lang="en-GB" altLang="x-none" b="1">
              <a:solidFill>
                <a:schemeClr val="hlink"/>
              </a:solidFill>
            </a:endParaRPr>
          </a:p>
        </p:txBody>
      </p:sp>
      <p:sp>
        <p:nvSpPr>
          <p:cNvPr id="190513" name="Text Box 49"/>
          <p:cNvSpPr txBox="1">
            <a:spLocks noChangeArrowheads="1"/>
          </p:cNvSpPr>
          <p:nvPr/>
        </p:nvSpPr>
        <p:spPr bwMode="auto">
          <a:xfrm>
            <a:off x="5181600" y="5943600"/>
            <a:ext cx="5486400" cy="7848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b="1" i="1" dirty="0"/>
              <a:t>f(n) = h </a:t>
            </a:r>
            <a:r>
              <a:rPr lang="en-US" altLang="x-none" b="1" dirty="0"/>
              <a:t>(</a:t>
            </a:r>
            <a:r>
              <a:rPr lang="en-US" altLang="x-none" b="1" i="1" dirty="0"/>
              <a:t>n</a:t>
            </a:r>
            <a:r>
              <a:rPr lang="en-US" altLang="x-none" b="1" dirty="0"/>
              <a:t>) = straight-line distance heuristic</a:t>
            </a:r>
          </a:p>
          <a:p>
            <a:pPr>
              <a:spcBef>
                <a:spcPct val="50000"/>
              </a:spcBef>
            </a:pPr>
            <a:r>
              <a:rPr lang="en-US" altLang="x-none" b="1" dirty="0" err="1"/>
              <a:t>dist</a:t>
            </a:r>
            <a:r>
              <a:rPr lang="en-US" altLang="x-none" b="1" dirty="0"/>
              <a:t>(A-E-G-H-I) =140+80+97+101=</a:t>
            </a:r>
            <a:r>
              <a:rPr lang="en-US" altLang="x-none" b="1" dirty="0">
                <a:solidFill>
                  <a:srgbClr val="F466E0"/>
                </a:solidFill>
              </a:rPr>
              <a:t>418 </a:t>
            </a:r>
            <a:endParaRPr lang="en-GB" altLang="x-none" b="1" dirty="0">
              <a:solidFill>
                <a:srgbClr val="F466E0"/>
              </a:solidFill>
            </a:endParaRPr>
          </a:p>
        </p:txBody>
      </p:sp>
      <p:sp>
        <p:nvSpPr>
          <p:cNvPr id="190549" name="Text Box 85"/>
          <p:cNvSpPr txBox="1">
            <a:spLocks noChangeArrowheads="1"/>
          </p:cNvSpPr>
          <p:nvPr/>
        </p:nvSpPr>
        <p:spPr bwMode="auto">
          <a:xfrm>
            <a:off x="3886200" y="2681288"/>
            <a:ext cx="762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b="1">
                <a:solidFill>
                  <a:schemeClr val="hlink"/>
                </a:solidFill>
              </a:rPr>
              <a:t>140</a:t>
            </a:r>
            <a:endParaRPr lang="en-GB" altLang="x-none" b="1">
              <a:solidFill>
                <a:schemeClr val="hlink"/>
              </a:solidFill>
            </a:endParaRPr>
          </a:p>
        </p:txBody>
      </p:sp>
      <p:sp>
        <p:nvSpPr>
          <p:cNvPr id="190550" name="Oval 86"/>
          <p:cNvSpPr>
            <a:spLocks noChangeArrowheads="1"/>
          </p:cNvSpPr>
          <p:nvPr/>
        </p:nvSpPr>
        <p:spPr bwMode="auto">
          <a:xfrm>
            <a:off x="8277664" y="6304672"/>
            <a:ext cx="609600" cy="457200"/>
          </a:xfrm>
          <a:prstGeom prst="ellipse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1752601" y="6248400"/>
            <a:ext cx="217418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altLang="x-none" sz="2800" b="1" dirty="0">
                <a:solidFill>
                  <a:srgbClr val="0000FF"/>
                </a:solidFill>
              </a:rPr>
              <a:t>Not optimal! </a:t>
            </a:r>
            <a:endParaRPr lang="en-US" sz="28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1875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/>
              <a:t>Greedy Search: Complete ?</a:t>
            </a:r>
            <a:endParaRPr lang="en-GB" altLang="x-none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196658" name="Group 50"/>
          <p:cNvGraphicFramePr>
            <a:graphicFrameLocks noGrp="1"/>
          </p:cNvGraphicFramePr>
          <p:nvPr>
            <p:ph sz="half" idx="2"/>
          </p:nvPr>
        </p:nvGraphicFramePr>
        <p:xfrm>
          <a:off x="6172200" y="1600200"/>
          <a:ext cx="3810000" cy="4064000"/>
        </p:xfrm>
        <a:graphic>
          <a:graphicData uri="http://schemas.openxmlformats.org/drawingml/2006/table">
            <a:tbl>
              <a:tblPr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x-none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State</a:t>
                      </a:r>
                      <a:endParaRPr kumimoji="0" lang="en-GB" altLang="x-none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x-none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Heuristic: h(n)</a:t>
                      </a:r>
                      <a:endParaRPr kumimoji="0" lang="en-GB" altLang="x-none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A</a:t>
                      </a:r>
                      <a:endParaRPr kumimoji="0" lang="en-GB" altLang="x-none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366</a:t>
                      </a:r>
                      <a:endParaRPr kumimoji="0" lang="en-GB" altLang="x-none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B</a:t>
                      </a:r>
                      <a:endParaRPr kumimoji="0" lang="en-GB" altLang="x-none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374</a:t>
                      </a:r>
                      <a:endParaRPr kumimoji="0" lang="en-GB" altLang="x-none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**</a:t>
                      </a: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 C</a:t>
                      </a:r>
                      <a:endParaRPr kumimoji="0" lang="en-GB" altLang="x-none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x-none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250</a:t>
                      </a:r>
                      <a:endParaRPr kumimoji="0" lang="en-GB" altLang="x-none" sz="18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D</a:t>
                      </a:r>
                      <a:endParaRPr kumimoji="0" lang="en-GB" altLang="x-none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244</a:t>
                      </a:r>
                      <a:endParaRPr kumimoji="0" lang="en-GB" altLang="x-none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E</a:t>
                      </a:r>
                      <a:endParaRPr kumimoji="0" lang="en-GB" altLang="x-none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253</a:t>
                      </a:r>
                      <a:endParaRPr kumimoji="0" lang="en-GB" altLang="x-none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F</a:t>
                      </a:r>
                      <a:endParaRPr kumimoji="0" lang="en-GB" altLang="x-none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178</a:t>
                      </a:r>
                      <a:endParaRPr kumimoji="0" lang="en-GB" altLang="x-none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G</a:t>
                      </a:r>
                      <a:endParaRPr kumimoji="0" lang="en-GB" altLang="x-none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193</a:t>
                      </a:r>
                      <a:endParaRPr kumimoji="0" lang="en-GB" altLang="x-none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H</a:t>
                      </a:r>
                      <a:endParaRPr kumimoji="0" lang="en-GB" altLang="x-none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98</a:t>
                      </a:r>
                      <a:endParaRPr kumimoji="0" lang="en-GB" altLang="x-none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I</a:t>
                      </a:r>
                      <a:endParaRPr kumimoji="0" lang="en-GB" altLang="x-none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0</a:t>
                      </a:r>
                      <a:endParaRPr kumimoji="0" lang="en-GB" altLang="x-none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196611" name="Group 3"/>
          <p:cNvGrpSpPr>
            <a:grpSpLocks/>
          </p:cNvGrpSpPr>
          <p:nvPr/>
        </p:nvGrpSpPr>
        <p:grpSpPr bwMode="auto">
          <a:xfrm>
            <a:off x="3657600" y="1981200"/>
            <a:ext cx="457200" cy="457200"/>
            <a:chOff x="1344" y="1248"/>
            <a:chExt cx="288" cy="288"/>
          </a:xfrm>
        </p:grpSpPr>
        <p:sp>
          <p:nvSpPr>
            <p:cNvPr id="196612" name="Oval 4"/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6613" name="Text Box 5"/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x-none"/>
                <a:t>A</a:t>
              </a:r>
              <a:endParaRPr lang="en-GB" altLang="x-none"/>
            </a:p>
          </p:txBody>
        </p:sp>
      </p:grpSp>
      <p:grpSp>
        <p:nvGrpSpPr>
          <p:cNvPr id="196614" name="Group 6"/>
          <p:cNvGrpSpPr>
            <a:grpSpLocks/>
          </p:cNvGrpSpPr>
          <p:nvPr/>
        </p:nvGrpSpPr>
        <p:grpSpPr bwMode="auto">
          <a:xfrm>
            <a:off x="4724400" y="2514600"/>
            <a:ext cx="457200" cy="457200"/>
            <a:chOff x="1344" y="1248"/>
            <a:chExt cx="288" cy="288"/>
          </a:xfrm>
        </p:grpSpPr>
        <p:sp>
          <p:nvSpPr>
            <p:cNvPr id="196615" name="Oval 7"/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6616" name="Text Box 8"/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x-none"/>
                <a:t>B</a:t>
              </a:r>
              <a:endParaRPr lang="en-GB" altLang="x-none"/>
            </a:p>
          </p:txBody>
        </p:sp>
      </p:grpSp>
      <p:grpSp>
        <p:nvGrpSpPr>
          <p:cNvPr id="196617" name="Group 9"/>
          <p:cNvGrpSpPr>
            <a:grpSpLocks/>
          </p:cNvGrpSpPr>
          <p:nvPr/>
        </p:nvGrpSpPr>
        <p:grpSpPr bwMode="auto">
          <a:xfrm>
            <a:off x="2057400" y="3429000"/>
            <a:ext cx="457200" cy="457200"/>
            <a:chOff x="1344" y="1248"/>
            <a:chExt cx="288" cy="288"/>
          </a:xfrm>
        </p:grpSpPr>
        <p:sp>
          <p:nvSpPr>
            <p:cNvPr id="196618" name="Oval 10"/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6619" name="Text Box 11"/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x-none"/>
                <a:t>D</a:t>
              </a:r>
              <a:endParaRPr lang="en-GB" altLang="x-none"/>
            </a:p>
          </p:txBody>
        </p:sp>
      </p:grpSp>
      <p:grpSp>
        <p:nvGrpSpPr>
          <p:cNvPr id="196620" name="Group 12"/>
          <p:cNvGrpSpPr>
            <a:grpSpLocks/>
          </p:cNvGrpSpPr>
          <p:nvPr/>
        </p:nvGrpSpPr>
        <p:grpSpPr bwMode="auto">
          <a:xfrm>
            <a:off x="2590800" y="2667000"/>
            <a:ext cx="457200" cy="457200"/>
            <a:chOff x="1344" y="1248"/>
            <a:chExt cx="288" cy="288"/>
          </a:xfrm>
        </p:grpSpPr>
        <p:sp>
          <p:nvSpPr>
            <p:cNvPr id="196621" name="Oval 13"/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6622" name="Text Box 14"/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x-none"/>
                <a:t>C</a:t>
              </a:r>
              <a:endParaRPr lang="en-GB" altLang="x-none"/>
            </a:p>
          </p:txBody>
        </p:sp>
      </p:grpSp>
      <p:grpSp>
        <p:nvGrpSpPr>
          <p:cNvPr id="196623" name="Group 15"/>
          <p:cNvGrpSpPr>
            <a:grpSpLocks/>
          </p:cNvGrpSpPr>
          <p:nvPr/>
        </p:nvGrpSpPr>
        <p:grpSpPr bwMode="auto">
          <a:xfrm>
            <a:off x="3733800" y="3124200"/>
            <a:ext cx="457200" cy="457200"/>
            <a:chOff x="1344" y="1248"/>
            <a:chExt cx="288" cy="288"/>
          </a:xfrm>
        </p:grpSpPr>
        <p:sp>
          <p:nvSpPr>
            <p:cNvPr id="196624" name="Oval 16"/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6625" name="Text Box 17"/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x-none"/>
                <a:t>E</a:t>
              </a:r>
              <a:endParaRPr lang="en-GB" altLang="x-none"/>
            </a:p>
          </p:txBody>
        </p:sp>
      </p:grpSp>
      <p:grpSp>
        <p:nvGrpSpPr>
          <p:cNvPr id="196626" name="Group 18"/>
          <p:cNvGrpSpPr>
            <a:grpSpLocks/>
          </p:cNvGrpSpPr>
          <p:nvPr/>
        </p:nvGrpSpPr>
        <p:grpSpPr bwMode="auto">
          <a:xfrm>
            <a:off x="4419600" y="4038600"/>
            <a:ext cx="457200" cy="457200"/>
            <a:chOff x="1344" y="1248"/>
            <a:chExt cx="288" cy="288"/>
          </a:xfrm>
        </p:grpSpPr>
        <p:sp>
          <p:nvSpPr>
            <p:cNvPr id="196627" name="Oval 19"/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6628" name="Text Box 20"/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x-none"/>
                <a:t>F</a:t>
              </a:r>
              <a:endParaRPr lang="en-GB" altLang="x-none"/>
            </a:p>
          </p:txBody>
        </p:sp>
      </p:grpSp>
      <p:grpSp>
        <p:nvGrpSpPr>
          <p:cNvPr id="196629" name="Group 21"/>
          <p:cNvGrpSpPr>
            <a:grpSpLocks/>
          </p:cNvGrpSpPr>
          <p:nvPr/>
        </p:nvGrpSpPr>
        <p:grpSpPr bwMode="auto">
          <a:xfrm>
            <a:off x="3429000" y="5715000"/>
            <a:ext cx="457200" cy="457200"/>
            <a:chOff x="1344" y="1248"/>
            <a:chExt cx="288" cy="288"/>
          </a:xfrm>
        </p:grpSpPr>
        <p:sp>
          <p:nvSpPr>
            <p:cNvPr id="196630" name="Oval 22"/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6631" name="Text Box 23"/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x-none"/>
                <a:t>I</a:t>
              </a:r>
              <a:endParaRPr lang="en-GB" altLang="x-none"/>
            </a:p>
          </p:txBody>
        </p:sp>
      </p:grpSp>
      <p:sp>
        <p:nvSpPr>
          <p:cNvPr id="196632" name="Line 24"/>
          <p:cNvSpPr>
            <a:spLocks noChangeShapeType="1"/>
          </p:cNvSpPr>
          <p:nvPr/>
        </p:nvSpPr>
        <p:spPr bwMode="auto">
          <a:xfrm>
            <a:off x="3962400" y="3581400"/>
            <a:ext cx="609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6633" name="Line 25"/>
          <p:cNvSpPr>
            <a:spLocks noChangeShapeType="1"/>
          </p:cNvSpPr>
          <p:nvPr/>
        </p:nvSpPr>
        <p:spPr bwMode="auto">
          <a:xfrm flipH="1">
            <a:off x="3657600" y="4495800"/>
            <a:ext cx="99060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6634" name="Text Box 26"/>
          <p:cNvSpPr txBox="1">
            <a:spLocks noChangeArrowheads="1"/>
          </p:cNvSpPr>
          <p:nvPr/>
        </p:nvSpPr>
        <p:spPr bwMode="auto">
          <a:xfrm>
            <a:off x="4191000" y="3505201"/>
            <a:ext cx="609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b="1">
                <a:solidFill>
                  <a:schemeClr val="hlink"/>
                </a:solidFill>
              </a:rPr>
              <a:t>99</a:t>
            </a:r>
            <a:endParaRPr lang="en-GB" altLang="x-none" b="1">
              <a:solidFill>
                <a:schemeClr val="hlink"/>
              </a:solidFill>
            </a:endParaRPr>
          </a:p>
        </p:txBody>
      </p:sp>
      <p:sp>
        <p:nvSpPr>
          <p:cNvPr id="196635" name="Text Box 27"/>
          <p:cNvSpPr txBox="1">
            <a:spLocks noChangeArrowheads="1"/>
          </p:cNvSpPr>
          <p:nvPr/>
        </p:nvSpPr>
        <p:spPr bwMode="auto">
          <a:xfrm>
            <a:off x="4191000" y="5105401"/>
            <a:ext cx="762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b="1">
                <a:solidFill>
                  <a:schemeClr val="hlink"/>
                </a:solidFill>
              </a:rPr>
              <a:t>211</a:t>
            </a:r>
            <a:endParaRPr lang="en-GB" altLang="x-none" b="1">
              <a:solidFill>
                <a:schemeClr val="hlink"/>
              </a:solidFill>
            </a:endParaRPr>
          </a:p>
        </p:txBody>
      </p:sp>
      <p:grpSp>
        <p:nvGrpSpPr>
          <p:cNvPr id="196636" name="Group 28"/>
          <p:cNvGrpSpPr>
            <a:grpSpLocks/>
          </p:cNvGrpSpPr>
          <p:nvPr/>
        </p:nvGrpSpPr>
        <p:grpSpPr bwMode="auto">
          <a:xfrm>
            <a:off x="2895600" y="4038600"/>
            <a:ext cx="457200" cy="457200"/>
            <a:chOff x="1344" y="1248"/>
            <a:chExt cx="288" cy="288"/>
          </a:xfrm>
        </p:grpSpPr>
        <p:sp>
          <p:nvSpPr>
            <p:cNvPr id="196637" name="Oval 29"/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6638" name="Text Box 30"/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x-none"/>
                <a:t>G</a:t>
              </a:r>
              <a:endParaRPr lang="en-GB" altLang="x-none"/>
            </a:p>
          </p:txBody>
        </p:sp>
      </p:grpSp>
      <p:grpSp>
        <p:nvGrpSpPr>
          <p:cNvPr id="196639" name="Group 31"/>
          <p:cNvGrpSpPr>
            <a:grpSpLocks/>
          </p:cNvGrpSpPr>
          <p:nvPr/>
        </p:nvGrpSpPr>
        <p:grpSpPr bwMode="auto">
          <a:xfrm>
            <a:off x="2667000" y="4953000"/>
            <a:ext cx="457200" cy="457200"/>
            <a:chOff x="1344" y="1248"/>
            <a:chExt cx="288" cy="288"/>
          </a:xfrm>
        </p:grpSpPr>
        <p:sp>
          <p:nvSpPr>
            <p:cNvPr id="196640" name="Oval 32"/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6641" name="Text Box 33"/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x-none"/>
                <a:t>H</a:t>
              </a:r>
              <a:endParaRPr lang="en-GB" altLang="x-none"/>
            </a:p>
          </p:txBody>
        </p:sp>
      </p:grpSp>
      <p:sp>
        <p:nvSpPr>
          <p:cNvPr id="196642" name="Line 34"/>
          <p:cNvSpPr>
            <a:spLocks noChangeShapeType="1"/>
          </p:cNvSpPr>
          <p:nvPr/>
        </p:nvSpPr>
        <p:spPr bwMode="auto">
          <a:xfrm flipH="1">
            <a:off x="3048000" y="3581400"/>
            <a:ext cx="914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6643" name="Line 35"/>
          <p:cNvSpPr>
            <a:spLocks noChangeShapeType="1"/>
          </p:cNvSpPr>
          <p:nvPr/>
        </p:nvSpPr>
        <p:spPr bwMode="auto">
          <a:xfrm flipH="1">
            <a:off x="2895600" y="4495800"/>
            <a:ext cx="228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6644" name="Line 36"/>
          <p:cNvSpPr>
            <a:spLocks noChangeShapeType="1"/>
          </p:cNvSpPr>
          <p:nvPr/>
        </p:nvSpPr>
        <p:spPr bwMode="auto">
          <a:xfrm>
            <a:off x="2895600" y="5410200"/>
            <a:ext cx="762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6645" name="Text Box 37"/>
          <p:cNvSpPr txBox="1">
            <a:spLocks noChangeArrowheads="1"/>
          </p:cNvSpPr>
          <p:nvPr/>
        </p:nvSpPr>
        <p:spPr bwMode="auto">
          <a:xfrm>
            <a:off x="3124200" y="3505201"/>
            <a:ext cx="609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b="1">
                <a:solidFill>
                  <a:schemeClr val="hlink"/>
                </a:solidFill>
              </a:rPr>
              <a:t>80</a:t>
            </a:r>
            <a:endParaRPr lang="en-GB" altLang="x-none" b="1">
              <a:solidFill>
                <a:schemeClr val="hlink"/>
              </a:solidFill>
            </a:endParaRPr>
          </a:p>
        </p:txBody>
      </p:sp>
      <p:sp>
        <p:nvSpPr>
          <p:cNvPr id="196646" name="Line 38"/>
          <p:cNvSpPr>
            <a:spLocks noChangeShapeType="1"/>
          </p:cNvSpPr>
          <p:nvPr/>
        </p:nvSpPr>
        <p:spPr bwMode="auto">
          <a:xfrm>
            <a:off x="3886200" y="2438400"/>
            <a:ext cx="10668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6647" name="Line 39"/>
          <p:cNvSpPr>
            <a:spLocks noChangeShapeType="1"/>
          </p:cNvSpPr>
          <p:nvPr/>
        </p:nvSpPr>
        <p:spPr bwMode="auto">
          <a:xfrm>
            <a:off x="3886200" y="2438400"/>
            <a:ext cx="76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6648" name="Line 40"/>
          <p:cNvSpPr>
            <a:spLocks noChangeShapeType="1"/>
          </p:cNvSpPr>
          <p:nvPr/>
        </p:nvSpPr>
        <p:spPr bwMode="auto">
          <a:xfrm flipH="1">
            <a:off x="2819400" y="2438400"/>
            <a:ext cx="10668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6649" name="Line 41"/>
          <p:cNvSpPr>
            <a:spLocks noChangeShapeType="1"/>
          </p:cNvSpPr>
          <p:nvPr/>
        </p:nvSpPr>
        <p:spPr bwMode="auto">
          <a:xfrm flipH="1">
            <a:off x="2286000" y="3124200"/>
            <a:ext cx="5334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6650" name="Text Box 42"/>
          <p:cNvSpPr txBox="1">
            <a:spLocks noChangeArrowheads="1"/>
          </p:cNvSpPr>
          <p:nvPr/>
        </p:nvSpPr>
        <p:spPr bwMode="auto">
          <a:xfrm>
            <a:off x="4114800" y="1828801"/>
            <a:ext cx="1219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/>
              <a:t>Start</a:t>
            </a:r>
            <a:endParaRPr lang="en-GB" altLang="x-none"/>
          </a:p>
        </p:txBody>
      </p:sp>
      <p:sp>
        <p:nvSpPr>
          <p:cNvPr id="196651" name="Text Box 43"/>
          <p:cNvSpPr txBox="1">
            <a:spLocks noChangeArrowheads="1"/>
          </p:cNvSpPr>
          <p:nvPr/>
        </p:nvSpPr>
        <p:spPr bwMode="auto">
          <a:xfrm>
            <a:off x="3962400" y="6019801"/>
            <a:ext cx="1219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/>
              <a:t>Goal</a:t>
            </a:r>
            <a:endParaRPr lang="en-GB" altLang="x-none"/>
          </a:p>
        </p:txBody>
      </p:sp>
      <p:sp>
        <p:nvSpPr>
          <p:cNvPr id="196652" name="Text Box 44"/>
          <p:cNvSpPr txBox="1">
            <a:spLocks noChangeArrowheads="1"/>
          </p:cNvSpPr>
          <p:nvPr/>
        </p:nvSpPr>
        <p:spPr bwMode="auto">
          <a:xfrm>
            <a:off x="2514600" y="4572001"/>
            <a:ext cx="609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b="1">
                <a:solidFill>
                  <a:schemeClr val="hlink"/>
                </a:solidFill>
              </a:rPr>
              <a:t>97</a:t>
            </a:r>
            <a:endParaRPr lang="en-GB" altLang="x-none" b="1">
              <a:solidFill>
                <a:schemeClr val="hlink"/>
              </a:solidFill>
            </a:endParaRPr>
          </a:p>
        </p:txBody>
      </p:sp>
      <p:sp>
        <p:nvSpPr>
          <p:cNvPr id="196653" name="Text Box 45"/>
          <p:cNvSpPr txBox="1">
            <a:spLocks noChangeArrowheads="1"/>
          </p:cNvSpPr>
          <p:nvPr/>
        </p:nvSpPr>
        <p:spPr bwMode="auto">
          <a:xfrm>
            <a:off x="2819400" y="5486401"/>
            <a:ext cx="838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b="1">
                <a:solidFill>
                  <a:schemeClr val="hlink"/>
                </a:solidFill>
              </a:rPr>
              <a:t>101</a:t>
            </a:r>
            <a:endParaRPr lang="en-GB" altLang="x-none" b="1">
              <a:solidFill>
                <a:schemeClr val="hlink"/>
              </a:solidFill>
            </a:endParaRPr>
          </a:p>
        </p:txBody>
      </p:sp>
      <p:sp>
        <p:nvSpPr>
          <p:cNvPr id="196654" name="Text Box 46"/>
          <p:cNvSpPr txBox="1">
            <a:spLocks noChangeArrowheads="1"/>
          </p:cNvSpPr>
          <p:nvPr/>
        </p:nvSpPr>
        <p:spPr bwMode="auto">
          <a:xfrm>
            <a:off x="4343400" y="2133601"/>
            <a:ext cx="609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b="1">
                <a:solidFill>
                  <a:schemeClr val="hlink"/>
                </a:solidFill>
              </a:rPr>
              <a:t>75</a:t>
            </a:r>
            <a:endParaRPr lang="en-GB" altLang="x-none" b="1">
              <a:solidFill>
                <a:schemeClr val="hlink"/>
              </a:solidFill>
            </a:endParaRPr>
          </a:p>
        </p:txBody>
      </p:sp>
      <p:sp>
        <p:nvSpPr>
          <p:cNvPr id="196655" name="Text Box 47"/>
          <p:cNvSpPr txBox="1">
            <a:spLocks noChangeArrowheads="1"/>
          </p:cNvSpPr>
          <p:nvPr/>
        </p:nvSpPr>
        <p:spPr bwMode="auto">
          <a:xfrm>
            <a:off x="2895600" y="2209801"/>
            <a:ext cx="762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b="1">
                <a:solidFill>
                  <a:schemeClr val="hlink"/>
                </a:solidFill>
              </a:rPr>
              <a:t>118</a:t>
            </a:r>
            <a:endParaRPr lang="en-GB" altLang="x-none" b="1">
              <a:solidFill>
                <a:schemeClr val="hlink"/>
              </a:solidFill>
            </a:endParaRPr>
          </a:p>
        </p:txBody>
      </p:sp>
      <p:sp>
        <p:nvSpPr>
          <p:cNvPr id="196656" name="Text Box 48"/>
          <p:cNvSpPr txBox="1">
            <a:spLocks noChangeArrowheads="1"/>
          </p:cNvSpPr>
          <p:nvPr/>
        </p:nvSpPr>
        <p:spPr bwMode="auto">
          <a:xfrm>
            <a:off x="1905000" y="3048001"/>
            <a:ext cx="762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b="1">
                <a:solidFill>
                  <a:schemeClr val="hlink"/>
                </a:solidFill>
              </a:rPr>
              <a:t>111</a:t>
            </a:r>
            <a:endParaRPr lang="en-GB" altLang="x-none" b="1">
              <a:solidFill>
                <a:schemeClr val="hlink"/>
              </a:solidFill>
            </a:endParaRPr>
          </a:p>
        </p:txBody>
      </p:sp>
      <p:sp>
        <p:nvSpPr>
          <p:cNvPr id="196657" name="Text Box 49"/>
          <p:cNvSpPr txBox="1">
            <a:spLocks noChangeArrowheads="1"/>
          </p:cNvSpPr>
          <p:nvPr/>
        </p:nvSpPr>
        <p:spPr bwMode="auto">
          <a:xfrm>
            <a:off x="5181600" y="5943601"/>
            <a:ext cx="5486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b="1" i="1"/>
              <a:t>f(n) = h </a:t>
            </a:r>
            <a:r>
              <a:rPr lang="en-US" altLang="x-none" b="1"/>
              <a:t>(</a:t>
            </a:r>
            <a:r>
              <a:rPr lang="en-US" altLang="x-none" b="1" i="1"/>
              <a:t>n</a:t>
            </a:r>
            <a:r>
              <a:rPr lang="en-US" altLang="x-none" b="1"/>
              <a:t>) = straight-line distance heuristic</a:t>
            </a:r>
            <a:endParaRPr lang="en-GB" altLang="x-none" b="1"/>
          </a:p>
        </p:txBody>
      </p:sp>
      <p:sp>
        <p:nvSpPr>
          <p:cNvPr id="196693" name="Text Box 85"/>
          <p:cNvSpPr txBox="1">
            <a:spLocks noChangeArrowheads="1"/>
          </p:cNvSpPr>
          <p:nvPr/>
        </p:nvSpPr>
        <p:spPr bwMode="auto">
          <a:xfrm>
            <a:off x="3886200" y="2681288"/>
            <a:ext cx="762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b="1">
                <a:solidFill>
                  <a:schemeClr val="hlink"/>
                </a:solidFill>
              </a:rPr>
              <a:t>140</a:t>
            </a:r>
            <a:endParaRPr lang="en-GB" altLang="x-none" b="1">
              <a:solidFill>
                <a:schemeClr val="hlin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934878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/>
              <a:t>Greedy Search: Tree Search</a:t>
            </a:r>
            <a:endParaRPr lang="en-GB" altLang="x-none"/>
          </a:p>
        </p:txBody>
      </p:sp>
      <p:grpSp>
        <p:nvGrpSpPr>
          <p:cNvPr id="223235" name="Group 3"/>
          <p:cNvGrpSpPr>
            <a:grpSpLocks/>
          </p:cNvGrpSpPr>
          <p:nvPr/>
        </p:nvGrpSpPr>
        <p:grpSpPr bwMode="auto">
          <a:xfrm>
            <a:off x="5638800" y="1981200"/>
            <a:ext cx="457200" cy="457200"/>
            <a:chOff x="1344" y="1248"/>
            <a:chExt cx="288" cy="288"/>
          </a:xfrm>
        </p:grpSpPr>
        <p:sp>
          <p:nvSpPr>
            <p:cNvPr id="223236" name="Oval 4"/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3237" name="Text Box 5"/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x-none"/>
                <a:t>A</a:t>
              </a:r>
              <a:endParaRPr lang="en-GB" altLang="x-none"/>
            </a:p>
          </p:txBody>
        </p:sp>
      </p:grpSp>
      <p:sp>
        <p:nvSpPr>
          <p:cNvPr id="223269" name="Text Box 37"/>
          <p:cNvSpPr txBox="1">
            <a:spLocks noChangeArrowheads="1"/>
          </p:cNvSpPr>
          <p:nvPr/>
        </p:nvSpPr>
        <p:spPr bwMode="auto">
          <a:xfrm>
            <a:off x="6096000" y="1828801"/>
            <a:ext cx="1219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b="1">
                <a:solidFill>
                  <a:schemeClr val="accent1"/>
                </a:solidFill>
              </a:rPr>
              <a:t>Start</a:t>
            </a:r>
            <a:endParaRPr lang="en-GB" altLang="x-none" b="1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881819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/>
              <a:t>Greedy Search: Tree Search</a:t>
            </a:r>
            <a:endParaRPr lang="en-GB" altLang="x-none"/>
          </a:p>
        </p:txBody>
      </p:sp>
      <p:grpSp>
        <p:nvGrpSpPr>
          <p:cNvPr id="228355" name="Group 3"/>
          <p:cNvGrpSpPr>
            <a:grpSpLocks/>
          </p:cNvGrpSpPr>
          <p:nvPr/>
        </p:nvGrpSpPr>
        <p:grpSpPr bwMode="auto">
          <a:xfrm>
            <a:off x="5638800" y="1981200"/>
            <a:ext cx="457200" cy="457200"/>
            <a:chOff x="1344" y="1248"/>
            <a:chExt cx="288" cy="288"/>
          </a:xfrm>
        </p:grpSpPr>
        <p:sp>
          <p:nvSpPr>
            <p:cNvPr id="228356" name="Oval 4"/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8357" name="Text Box 5"/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x-none"/>
                <a:t>A</a:t>
              </a:r>
              <a:endParaRPr lang="en-GB" altLang="x-none"/>
            </a:p>
          </p:txBody>
        </p:sp>
      </p:grpSp>
      <p:grpSp>
        <p:nvGrpSpPr>
          <p:cNvPr id="228358" name="Group 6"/>
          <p:cNvGrpSpPr>
            <a:grpSpLocks/>
          </p:cNvGrpSpPr>
          <p:nvPr/>
        </p:nvGrpSpPr>
        <p:grpSpPr bwMode="auto">
          <a:xfrm>
            <a:off x="7391400" y="2514600"/>
            <a:ext cx="457200" cy="457200"/>
            <a:chOff x="1344" y="1248"/>
            <a:chExt cx="288" cy="288"/>
          </a:xfrm>
        </p:grpSpPr>
        <p:sp>
          <p:nvSpPr>
            <p:cNvPr id="228359" name="Oval 7"/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8360" name="Text Box 8"/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x-none"/>
                <a:t>B</a:t>
              </a:r>
              <a:endParaRPr lang="en-GB" altLang="x-none"/>
            </a:p>
          </p:txBody>
        </p:sp>
      </p:grpSp>
      <p:grpSp>
        <p:nvGrpSpPr>
          <p:cNvPr id="228361" name="Group 9"/>
          <p:cNvGrpSpPr>
            <a:grpSpLocks/>
          </p:cNvGrpSpPr>
          <p:nvPr/>
        </p:nvGrpSpPr>
        <p:grpSpPr bwMode="auto">
          <a:xfrm>
            <a:off x="3429000" y="2667000"/>
            <a:ext cx="457200" cy="457200"/>
            <a:chOff x="1344" y="1248"/>
            <a:chExt cx="288" cy="288"/>
          </a:xfrm>
        </p:grpSpPr>
        <p:sp>
          <p:nvSpPr>
            <p:cNvPr id="228362" name="Oval 10"/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8363" name="Text Box 11"/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x-none"/>
                <a:t>C</a:t>
              </a:r>
              <a:endParaRPr lang="en-GB" altLang="x-none"/>
            </a:p>
          </p:txBody>
        </p:sp>
      </p:grpSp>
      <p:grpSp>
        <p:nvGrpSpPr>
          <p:cNvPr id="228364" name="Group 12"/>
          <p:cNvGrpSpPr>
            <a:grpSpLocks/>
          </p:cNvGrpSpPr>
          <p:nvPr/>
        </p:nvGrpSpPr>
        <p:grpSpPr bwMode="auto">
          <a:xfrm>
            <a:off x="5715000" y="3124200"/>
            <a:ext cx="457200" cy="457200"/>
            <a:chOff x="1344" y="1248"/>
            <a:chExt cx="288" cy="288"/>
          </a:xfrm>
        </p:grpSpPr>
        <p:sp>
          <p:nvSpPr>
            <p:cNvPr id="228365" name="Oval 13"/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8366" name="Text Box 14"/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x-none"/>
                <a:t>E</a:t>
              </a:r>
              <a:endParaRPr lang="en-GB" altLang="x-none"/>
            </a:p>
          </p:txBody>
        </p:sp>
      </p:grpSp>
      <p:sp>
        <p:nvSpPr>
          <p:cNvPr id="228372" name="Line 20"/>
          <p:cNvSpPr>
            <a:spLocks noChangeShapeType="1"/>
          </p:cNvSpPr>
          <p:nvPr/>
        </p:nvSpPr>
        <p:spPr bwMode="auto">
          <a:xfrm>
            <a:off x="5867400" y="2438400"/>
            <a:ext cx="17526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8373" name="Line 21"/>
          <p:cNvSpPr>
            <a:spLocks noChangeShapeType="1"/>
          </p:cNvSpPr>
          <p:nvPr/>
        </p:nvSpPr>
        <p:spPr bwMode="auto">
          <a:xfrm>
            <a:off x="5867400" y="2438400"/>
            <a:ext cx="76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8374" name="Line 22"/>
          <p:cNvSpPr>
            <a:spLocks noChangeShapeType="1"/>
          </p:cNvSpPr>
          <p:nvPr/>
        </p:nvSpPr>
        <p:spPr bwMode="auto">
          <a:xfrm flipH="1">
            <a:off x="3657600" y="2438400"/>
            <a:ext cx="22098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8375" name="Text Box 23"/>
          <p:cNvSpPr txBox="1">
            <a:spLocks noChangeArrowheads="1"/>
          </p:cNvSpPr>
          <p:nvPr/>
        </p:nvSpPr>
        <p:spPr bwMode="auto">
          <a:xfrm>
            <a:off x="6096000" y="1828801"/>
            <a:ext cx="1219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b="1">
                <a:solidFill>
                  <a:schemeClr val="accent1"/>
                </a:solidFill>
              </a:rPr>
              <a:t>Start</a:t>
            </a:r>
            <a:endParaRPr lang="en-GB" altLang="x-none" b="1">
              <a:solidFill>
                <a:schemeClr val="accent1"/>
              </a:solidFill>
            </a:endParaRPr>
          </a:p>
        </p:txBody>
      </p:sp>
      <p:sp>
        <p:nvSpPr>
          <p:cNvPr id="228376" name="Text Box 24"/>
          <p:cNvSpPr txBox="1">
            <a:spLocks noChangeArrowheads="1"/>
          </p:cNvSpPr>
          <p:nvPr/>
        </p:nvSpPr>
        <p:spPr bwMode="auto">
          <a:xfrm>
            <a:off x="6324600" y="2133601"/>
            <a:ext cx="609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b="1">
                <a:solidFill>
                  <a:schemeClr val="accent2"/>
                </a:solidFill>
              </a:rPr>
              <a:t>75</a:t>
            </a:r>
            <a:endParaRPr lang="en-GB" altLang="x-none" b="1">
              <a:solidFill>
                <a:schemeClr val="accent2"/>
              </a:solidFill>
            </a:endParaRPr>
          </a:p>
        </p:txBody>
      </p:sp>
      <p:sp>
        <p:nvSpPr>
          <p:cNvPr id="228377" name="Text Box 25"/>
          <p:cNvSpPr txBox="1">
            <a:spLocks noChangeArrowheads="1"/>
          </p:cNvSpPr>
          <p:nvPr/>
        </p:nvSpPr>
        <p:spPr bwMode="auto">
          <a:xfrm>
            <a:off x="4419600" y="2209801"/>
            <a:ext cx="762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b="1">
                <a:solidFill>
                  <a:schemeClr val="accent2"/>
                </a:solidFill>
              </a:rPr>
              <a:t>118</a:t>
            </a:r>
            <a:endParaRPr lang="en-GB" altLang="x-none" b="1">
              <a:solidFill>
                <a:schemeClr val="accent2"/>
              </a:solidFill>
            </a:endParaRPr>
          </a:p>
        </p:txBody>
      </p:sp>
      <p:sp>
        <p:nvSpPr>
          <p:cNvPr id="228378" name="Text Box 26"/>
          <p:cNvSpPr txBox="1">
            <a:spLocks noChangeArrowheads="1"/>
          </p:cNvSpPr>
          <p:nvPr/>
        </p:nvSpPr>
        <p:spPr bwMode="auto">
          <a:xfrm>
            <a:off x="5867400" y="2681288"/>
            <a:ext cx="762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b="1">
                <a:solidFill>
                  <a:schemeClr val="accent2"/>
                </a:solidFill>
              </a:rPr>
              <a:t>140</a:t>
            </a:r>
            <a:endParaRPr lang="en-GB" altLang="x-none" b="1">
              <a:solidFill>
                <a:schemeClr val="accent2"/>
              </a:solidFill>
            </a:endParaRPr>
          </a:p>
        </p:txBody>
      </p:sp>
      <p:sp>
        <p:nvSpPr>
          <p:cNvPr id="228379" name="Text Box 27"/>
          <p:cNvSpPr txBox="1">
            <a:spLocks noChangeArrowheads="1"/>
          </p:cNvSpPr>
          <p:nvPr/>
        </p:nvSpPr>
        <p:spPr bwMode="auto">
          <a:xfrm>
            <a:off x="6705600" y="2605088"/>
            <a:ext cx="8382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/>
              <a:t>[374]</a:t>
            </a:r>
            <a:endParaRPr lang="en-GB" altLang="x-none"/>
          </a:p>
        </p:txBody>
      </p:sp>
      <p:sp>
        <p:nvSpPr>
          <p:cNvPr id="228380" name="Text Box 28"/>
          <p:cNvSpPr txBox="1">
            <a:spLocks noChangeArrowheads="1"/>
          </p:cNvSpPr>
          <p:nvPr/>
        </p:nvSpPr>
        <p:spPr bwMode="auto">
          <a:xfrm>
            <a:off x="2667000" y="2667001"/>
            <a:ext cx="838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/>
              <a:t>[250]</a:t>
            </a:r>
            <a:endParaRPr lang="en-GB" altLang="x-none"/>
          </a:p>
        </p:txBody>
      </p:sp>
      <p:sp>
        <p:nvSpPr>
          <p:cNvPr id="228381" name="Text Box 29"/>
          <p:cNvSpPr txBox="1">
            <a:spLocks noChangeArrowheads="1"/>
          </p:cNvSpPr>
          <p:nvPr/>
        </p:nvSpPr>
        <p:spPr bwMode="auto">
          <a:xfrm>
            <a:off x="5029200" y="3214688"/>
            <a:ext cx="8382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/>
              <a:t>[253]</a:t>
            </a:r>
            <a:endParaRPr lang="en-GB" altLang="x-none"/>
          </a:p>
        </p:txBody>
      </p:sp>
    </p:spTree>
    <p:extLst>
      <p:ext uri="{BB962C8B-B14F-4D97-AF65-F5344CB8AC3E}">
        <p14:creationId xmlns:p14="http://schemas.microsoft.com/office/powerpoint/2010/main" val="166259115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/>
              <a:t>Greedy Search: Tree Search</a:t>
            </a:r>
            <a:endParaRPr lang="en-GB" altLang="x-none"/>
          </a:p>
        </p:txBody>
      </p:sp>
      <p:grpSp>
        <p:nvGrpSpPr>
          <p:cNvPr id="229379" name="Group 3"/>
          <p:cNvGrpSpPr>
            <a:grpSpLocks/>
          </p:cNvGrpSpPr>
          <p:nvPr/>
        </p:nvGrpSpPr>
        <p:grpSpPr bwMode="auto">
          <a:xfrm>
            <a:off x="5638800" y="1981200"/>
            <a:ext cx="457200" cy="457200"/>
            <a:chOff x="1344" y="1248"/>
            <a:chExt cx="288" cy="288"/>
          </a:xfrm>
        </p:grpSpPr>
        <p:sp>
          <p:nvSpPr>
            <p:cNvPr id="229380" name="Oval 4"/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9381" name="Text Box 5"/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x-none"/>
                <a:t>A</a:t>
              </a:r>
              <a:endParaRPr lang="en-GB" altLang="x-none"/>
            </a:p>
          </p:txBody>
        </p:sp>
      </p:grpSp>
      <p:grpSp>
        <p:nvGrpSpPr>
          <p:cNvPr id="229382" name="Group 6"/>
          <p:cNvGrpSpPr>
            <a:grpSpLocks/>
          </p:cNvGrpSpPr>
          <p:nvPr/>
        </p:nvGrpSpPr>
        <p:grpSpPr bwMode="auto">
          <a:xfrm>
            <a:off x="7391400" y="2514600"/>
            <a:ext cx="457200" cy="457200"/>
            <a:chOff x="1344" y="1248"/>
            <a:chExt cx="288" cy="288"/>
          </a:xfrm>
        </p:grpSpPr>
        <p:sp>
          <p:nvSpPr>
            <p:cNvPr id="229383" name="Oval 7"/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9384" name="Text Box 8"/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x-none"/>
                <a:t>B</a:t>
              </a:r>
              <a:endParaRPr lang="en-GB" altLang="x-none"/>
            </a:p>
          </p:txBody>
        </p:sp>
      </p:grpSp>
      <p:grpSp>
        <p:nvGrpSpPr>
          <p:cNvPr id="229385" name="Group 9"/>
          <p:cNvGrpSpPr>
            <a:grpSpLocks/>
          </p:cNvGrpSpPr>
          <p:nvPr/>
        </p:nvGrpSpPr>
        <p:grpSpPr bwMode="auto">
          <a:xfrm>
            <a:off x="3429000" y="2667000"/>
            <a:ext cx="457200" cy="457200"/>
            <a:chOff x="1344" y="1248"/>
            <a:chExt cx="288" cy="288"/>
          </a:xfrm>
        </p:grpSpPr>
        <p:sp>
          <p:nvSpPr>
            <p:cNvPr id="229386" name="Oval 10"/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9387" name="Text Box 11"/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x-none"/>
                <a:t>C</a:t>
              </a:r>
              <a:endParaRPr lang="en-GB" altLang="x-none"/>
            </a:p>
          </p:txBody>
        </p:sp>
      </p:grpSp>
      <p:grpSp>
        <p:nvGrpSpPr>
          <p:cNvPr id="229388" name="Group 12"/>
          <p:cNvGrpSpPr>
            <a:grpSpLocks/>
          </p:cNvGrpSpPr>
          <p:nvPr/>
        </p:nvGrpSpPr>
        <p:grpSpPr bwMode="auto">
          <a:xfrm>
            <a:off x="5715000" y="3124200"/>
            <a:ext cx="457200" cy="457200"/>
            <a:chOff x="1344" y="1248"/>
            <a:chExt cx="288" cy="288"/>
          </a:xfrm>
        </p:grpSpPr>
        <p:sp>
          <p:nvSpPr>
            <p:cNvPr id="229389" name="Oval 13"/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9390" name="Text Box 14"/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x-none"/>
                <a:t>E</a:t>
              </a:r>
              <a:endParaRPr lang="en-GB" altLang="x-none"/>
            </a:p>
          </p:txBody>
        </p:sp>
      </p:grpSp>
      <p:grpSp>
        <p:nvGrpSpPr>
          <p:cNvPr id="229391" name="Group 15"/>
          <p:cNvGrpSpPr>
            <a:grpSpLocks/>
          </p:cNvGrpSpPr>
          <p:nvPr/>
        </p:nvGrpSpPr>
        <p:grpSpPr bwMode="auto">
          <a:xfrm>
            <a:off x="3124200" y="3719513"/>
            <a:ext cx="457200" cy="457200"/>
            <a:chOff x="1344" y="1248"/>
            <a:chExt cx="288" cy="288"/>
          </a:xfrm>
        </p:grpSpPr>
        <p:sp>
          <p:nvSpPr>
            <p:cNvPr id="229392" name="Oval 16"/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9393" name="Text Box 17"/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x-none"/>
                <a:t>D</a:t>
              </a:r>
              <a:endParaRPr lang="en-GB" altLang="x-none"/>
            </a:p>
          </p:txBody>
        </p:sp>
      </p:grpSp>
      <p:sp>
        <p:nvSpPr>
          <p:cNvPr id="229394" name="Line 18"/>
          <p:cNvSpPr>
            <a:spLocks noChangeShapeType="1"/>
          </p:cNvSpPr>
          <p:nvPr/>
        </p:nvSpPr>
        <p:spPr bwMode="auto">
          <a:xfrm flipH="1">
            <a:off x="3352800" y="3124200"/>
            <a:ext cx="2286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9395" name="Text Box 19"/>
          <p:cNvSpPr txBox="1">
            <a:spLocks noChangeArrowheads="1"/>
          </p:cNvSpPr>
          <p:nvPr/>
        </p:nvSpPr>
        <p:spPr bwMode="auto">
          <a:xfrm>
            <a:off x="2590800" y="3352801"/>
            <a:ext cx="762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b="1">
                <a:solidFill>
                  <a:schemeClr val="accent2"/>
                </a:solidFill>
              </a:rPr>
              <a:t>111</a:t>
            </a:r>
            <a:endParaRPr lang="en-GB" altLang="x-none" b="1">
              <a:solidFill>
                <a:schemeClr val="accent2"/>
              </a:solidFill>
            </a:endParaRPr>
          </a:p>
        </p:txBody>
      </p:sp>
      <p:sp>
        <p:nvSpPr>
          <p:cNvPr id="229396" name="Line 20"/>
          <p:cNvSpPr>
            <a:spLocks noChangeShapeType="1"/>
          </p:cNvSpPr>
          <p:nvPr/>
        </p:nvSpPr>
        <p:spPr bwMode="auto">
          <a:xfrm>
            <a:off x="5867400" y="2438400"/>
            <a:ext cx="17526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9397" name="Line 21"/>
          <p:cNvSpPr>
            <a:spLocks noChangeShapeType="1"/>
          </p:cNvSpPr>
          <p:nvPr/>
        </p:nvSpPr>
        <p:spPr bwMode="auto">
          <a:xfrm>
            <a:off x="5867400" y="2438400"/>
            <a:ext cx="76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9398" name="Line 22"/>
          <p:cNvSpPr>
            <a:spLocks noChangeShapeType="1"/>
          </p:cNvSpPr>
          <p:nvPr/>
        </p:nvSpPr>
        <p:spPr bwMode="auto">
          <a:xfrm flipH="1">
            <a:off x="3657600" y="2438400"/>
            <a:ext cx="22098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9399" name="Text Box 23"/>
          <p:cNvSpPr txBox="1">
            <a:spLocks noChangeArrowheads="1"/>
          </p:cNvSpPr>
          <p:nvPr/>
        </p:nvSpPr>
        <p:spPr bwMode="auto">
          <a:xfrm>
            <a:off x="6096000" y="1828801"/>
            <a:ext cx="1219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b="1">
                <a:solidFill>
                  <a:schemeClr val="accent1"/>
                </a:solidFill>
              </a:rPr>
              <a:t>Start</a:t>
            </a:r>
            <a:endParaRPr lang="en-GB" altLang="x-none" b="1">
              <a:solidFill>
                <a:schemeClr val="accent1"/>
              </a:solidFill>
            </a:endParaRPr>
          </a:p>
        </p:txBody>
      </p:sp>
      <p:sp>
        <p:nvSpPr>
          <p:cNvPr id="229400" name="Text Box 24"/>
          <p:cNvSpPr txBox="1">
            <a:spLocks noChangeArrowheads="1"/>
          </p:cNvSpPr>
          <p:nvPr/>
        </p:nvSpPr>
        <p:spPr bwMode="auto">
          <a:xfrm>
            <a:off x="6324600" y="2133601"/>
            <a:ext cx="609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b="1">
                <a:solidFill>
                  <a:schemeClr val="accent2"/>
                </a:solidFill>
              </a:rPr>
              <a:t>75</a:t>
            </a:r>
            <a:endParaRPr lang="en-GB" altLang="x-none" b="1">
              <a:solidFill>
                <a:schemeClr val="accent2"/>
              </a:solidFill>
            </a:endParaRPr>
          </a:p>
        </p:txBody>
      </p:sp>
      <p:sp>
        <p:nvSpPr>
          <p:cNvPr id="229401" name="Text Box 25"/>
          <p:cNvSpPr txBox="1">
            <a:spLocks noChangeArrowheads="1"/>
          </p:cNvSpPr>
          <p:nvPr/>
        </p:nvSpPr>
        <p:spPr bwMode="auto">
          <a:xfrm>
            <a:off x="4419600" y="2209801"/>
            <a:ext cx="762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b="1">
                <a:solidFill>
                  <a:schemeClr val="accent2"/>
                </a:solidFill>
              </a:rPr>
              <a:t>118</a:t>
            </a:r>
            <a:endParaRPr lang="en-GB" altLang="x-none" b="1">
              <a:solidFill>
                <a:schemeClr val="accent2"/>
              </a:solidFill>
            </a:endParaRPr>
          </a:p>
        </p:txBody>
      </p:sp>
      <p:sp>
        <p:nvSpPr>
          <p:cNvPr id="229402" name="Text Box 26"/>
          <p:cNvSpPr txBox="1">
            <a:spLocks noChangeArrowheads="1"/>
          </p:cNvSpPr>
          <p:nvPr/>
        </p:nvSpPr>
        <p:spPr bwMode="auto">
          <a:xfrm>
            <a:off x="5867400" y="2681288"/>
            <a:ext cx="762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b="1">
                <a:solidFill>
                  <a:schemeClr val="accent2"/>
                </a:solidFill>
              </a:rPr>
              <a:t>140</a:t>
            </a:r>
            <a:endParaRPr lang="en-GB" altLang="x-none" b="1">
              <a:solidFill>
                <a:schemeClr val="accent2"/>
              </a:solidFill>
            </a:endParaRPr>
          </a:p>
        </p:txBody>
      </p:sp>
      <p:sp>
        <p:nvSpPr>
          <p:cNvPr id="229403" name="Text Box 27"/>
          <p:cNvSpPr txBox="1">
            <a:spLocks noChangeArrowheads="1"/>
          </p:cNvSpPr>
          <p:nvPr/>
        </p:nvSpPr>
        <p:spPr bwMode="auto">
          <a:xfrm>
            <a:off x="6705600" y="2605088"/>
            <a:ext cx="8382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/>
              <a:t>[374]</a:t>
            </a:r>
            <a:endParaRPr lang="en-GB" altLang="x-none"/>
          </a:p>
        </p:txBody>
      </p:sp>
      <p:sp>
        <p:nvSpPr>
          <p:cNvPr id="229404" name="Text Box 28"/>
          <p:cNvSpPr txBox="1">
            <a:spLocks noChangeArrowheads="1"/>
          </p:cNvSpPr>
          <p:nvPr/>
        </p:nvSpPr>
        <p:spPr bwMode="auto">
          <a:xfrm>
            <a:off x="2667000" y="2667001"/>
            <a:ext cx="838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/>
              <a:t>[250]</a:t>
            </a:r>
            <a:endParaRPr lang="en-GB" altLang="x-none"/>
          </a:p>
        </p:txBody>
      </p:sp>
      <p:sp>
        <p:nvSpPr>
          <p:cNvPr id="229405" name="Text Box 29"/>
          <p:cNvSpPr txBox="1">
            <a:spLocks noChangeArrowheads="1"/>
          </p:cNvSpPr>
          <p:nvPr/>
        </p:nvSpPr>
        <p:spPr bwMode="auto">
          <a:xfrm>
            <a:off x="5029200" y="3214688"/>
            <a:ext cx="8382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/>
              <a:t>[253]</a:t>
            </a:r>
            <a:endParaRPr lang="en-GB" altLang="x-none"/>
          </a:p>
        </p:txBody>
      </p:sp>
      <p:sp>
        <p:nvSpPr>
          <p:cNvPr id="229406" name="Text Box 30"/>
          <p:cNvSpPr txBox="1">
            <a:spLocks noChangeArrowheads="1"/>
          </p:cNvSpPr>
          <p:nvPr/>
        </p:nvSpPr>
        <p:spPr bwMode="auto">
          <a:xfrm>
            <a:off x="2362200" y="3748088"/>
            <a:ext cx="8382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/>
              <a:t>[244]</a:t>
            </a:r>
            <a:endParaRPr lang="en-GB" altLang="x-none"/>
          </a:p>
        </p:txBody>
      </p:sp>
    </p:spTree>
    <p:extLst>
      <p:ext uri="{BB962C8B-B14F-4D97-AF65-F5344CB8AC3E}">
        <p14:creationId xmlns:p14="http://schemas.microsoft.com/office/powerpoint/2010/main" val="140955905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/>
              <a:t>Greedy Search: Tree Search</a:t>
            </a:r>
            <a:endParaRPr lang="en-GB" altLang="x-none"/>
          </a:p>
        </p:txBody>
      </p:sp>
      <p:grpSp>
        <p:nvGrpSpPr>
          <p:cNvPr id="230403" name="Group 3"/>
          <p:cNvGrpSpPr>
            <a:grpSpLocks/>
          </p:cNvGrpSpPr>
          <p:nvPr/>
        </p:nvGrpSpPr>
        <p:grpSpPr bwMode="auto">
          <a:xfrm>
            <a:off x="5638800" y="1981200"/>
            <a:ext cx="457200" cy="457200"/>
            <a:chOff x="1344" y="1248"/>
            <a:chExt cx="288" cy="288"/>
          </a:xfrm>
        </p:grpSpPr>
        <p:sp>
          <p:nvSpPr>
            <p:cNvPr id="230404" name="Oval 4"/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0405" name="Text Box 5"/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x-none"/>
                <a:t>A</a:t>
              </a:r>
              <a:endParaRPr lang="en-GB" altLang="x-none"/>
            </a:p>
          </p:txBody>
        </p:sp>
      </p:grpSp>
      <p:grpSp>
        <p:nvGrpSpPr>
          <p:cNvPr id="230406" name="Group 6"/>
          <p:cNvGrpSpPr>
            <a:grpSpLocks/>
          </p:cNvGrpSpPr>
          <p:nvPr/>
        </p:nvGrpSpPr>
        <p:grpSpPr bwMode="auto">
          <a:xfrm>
            <a:off x="7391400" y="2514600"/>
            <a:ext cx="457200" cy="457200"/>
            <a:chOff x="1344" y="1248"/>
            <a:chExt cx="288" cy="288"/>
          </a:xfrm>
        </p:grpSpPr>
        <p:sp>
          <p:nvSpPr>
            <p:cNvPr id="230407" name="Oval 7"/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0408" name="Text Box 8"/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x-none"/>
                <a:t>B</a:t>
              </a:r>
              <a:endParaRPr lang="en-GB" altLang="x-none"/>
            </a:p>
          </p:txBody>
        </p:sp>
      </p:grpSp>
      <p:grpSp>
        <p:nvGrpSpPr>
          <p:cNvPr id="230409" name="Group 9"/>
          <p:cNvGrpSpPr>
            <a:grpSpLocks/>
          </p:cNvGrpSpPr>
          <p:nvPr/>
        </p:nvGrpSpPr>
        <p:grpSpPr bwMode="auto">
          <a:xfrm>
            <a:off x="3429000" y="2667000"/>
            <a:ext cx="457200" cy="457200"/>
            <a:chOff x="1344" y="1248"/>
            <a:chExt cx="288" cy="288"/>
          </a:xfrm>
        </p:grpSpPr>
        <p:sp>
          <p:nvSpPr>
            <p:cNvPr id="230410" name="Oval 10"/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0411" name="Text Box 11"/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x-none"/>
                <a:t>C</a:t>
              </a:r>
              <a:endParaRPr lang="en-GB" altLang="x-none"/>
            </a:p>
          </p:txBody>
        </p:sp>
      </p:grpSp>
      <p:grpSp>
        <p:nvGrpSpPr>
          <p:cNvPr id="230412" name="Group 12"/>
          <p:cNvGrpSpPr>
            <a:grpSpLocks/>
          </p:cNvGrpSpPr>
          <p:nvPr/>
        </p:nvGrpSpPr>
        <p:grpSpPr bwMode="auto">
          <a:xfrm>
            <a:off x="5715000" y="3124200"/>
            <a:ext cx="457200" cy="457200"/>
            <a:chOff x="1344" y="1248"/>
            <a:chExt cx="288" cy="288"/>
          </a:xfrm>
        </p:grpSpPr>
        <p:sp>
          <p:nvSpPr>
            <p:cNvPr id="230413" name="Oval 13"/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0414" name="Text Box 14"/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x-none"/>
                <a:t>E</a:t>
              </a:r>
              <a:endParaRPr lang="en-GB" altLang="x-none"/>
            </a:p>
          </p:txBody>
        </p:sp>
      </p:grpSp>
      <p:grpSp>
        <p:nvGrpSpPr>
          <p:cNvPr id="230415" name="Group 15"/>
          <p:cNvGrpSpPr>
            <a:grpSpLocks/>
          </p:cNvGrpSpPr>
          <p:nvPr/>
        </p:nvGrpSpPr>
        <p:grpSpPr bwMode="auto">
          <a:xfrm>
            <a:off x="3124200" y="3719513"/>
            <a:ext cx="457200" cy="457200"/>
            <a:chOff x="1344" y="1248"/>
            <a:chExt cx="288" cy="288"/>
          </a:xfrm>
        </p:grpSpPr>
        <p:sp>
          <p:nvSpPr>
            <p:cNvPr id="230416" name="Oval 16"/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0417" name="Text Box 17"/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x-none"/>
                <a:t>D</a:t>
              </a:r>
              <a:endParaRPr lang="en-GB" altLang="x-none"/>
            </a:p>
          </p:txBody>
        </p:sp>
      </p:grpSp>
      <p:sp>
        <p:nvSpPr>
          <p:cNvPr id="230418" name="Line 18"/>
          <p:cNvSpPr>
            <a:spLocks noChangeShapeType="1"/>
          </p:cNvSpPr>
          <p:nvPr/>
        </p:nvSpPr>
        <p:spPr bwMode="auto">
          <a:xfrm flipH="1">
            <a:off x="3352800" y="3124200"/>
            <a:ext cx="2286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0419" name="Text Box 19"/>
          <p:cNvSpPr txBox="1">
            <a:spLocks noChangeArrowheads="1"/>
          </p:cNvSpPr>
          <p:nvPr/>
        </p:nvSpPr>
        <p:spPr bwMode="auto">
          <a:xfrm>
            <a:off x="2590800" y="3352801"/>
            <a:ext cx="762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b="1">
                <a:solidFill>
                  <a:schemeClr val="accent2"/>
                </a:solidFill>
              </a:rPr>
              <a:t>111</a:t>
            </a:r>
            <a:endParaRPr lang="en-GB" altLang="x-none" b="1">
              <a:solidFill>
                <a:schemeClr val="accent2"/>
              </a:solidFill>
            </a:endParaRPr>
          </a:p>
        </p:txBody>
      </p:sp>
      <p:sp>
        <p:nvSpPr>
          <p:cNvPr id="230420" name="Line 20"/>
          <p:cNvSpPr>
            <a:spLocks noChangeShapeType="1"/>
          </p:cNvSpPr>
          <p:nvPr/>
        </p:nvSpPr>
        <p:spPr bwMode="auto">
          <a:xfrm>
            <a:off x="5867400" y="2438400"/>
            <a:ext cx="17526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0421" name="Line 21"/>
          <p:cNvSpPr>
            <a:spLocks noChangeShapeType="1"/>
          </p:cNvSpPr>
          <p:nvPr/>
        </p:nvSpPr>
        <p:spPr bwMode="auto">
          <a:xfrm>
            <a:off x="5867400" y="2438400"/>
            <a:ext cx="76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0422" name="Line 22"/>
          <p:cNvSpPr>
            <a:spLocks noChangeShapeType="1"/>
          </p:cNvSpPr>
          <p:nvPr/>
        </p:nvSpPr>
        <p:spPr bwMode="auto">
          <a:xfrm flipH="1">
            <a:off x="3657600" y="2438400"/>
            <a:ext cx="22098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0423" name="Text Box 23"/>
          <p:cNvSpPr txBox="1">
            <a:spLocks noChangeArrowheads="1"/>
          </p:cNvSpPr>
          <p:nvPr/>
        </p:nvSpPr>
        <p:spPr bwMode="auto">
          <a:xfrm>
            <a:off x="6096000" y="1828801"/>
            <a:ext cx="1219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b="1">
                <a:solidFill>
                  <a:schemeClr val="accent1"/>
                </a:solidFill>
              </a:rPr>
              <a:t>Start</a:t>
            </a:r>
            <a:endParaRPr lang="en-GB" altLang="x-none" b="1">
              <a:solidFill>
                <a:schemeClr val="accent1"/>
              </a:solidFill>
            </a:endParaRPr>
          </a:p>
        </p:txBody>
      </p:sp>
      <p:sp>
        <p:nvSpPr>
          <p:cNvPr id="230424" name="Text Box 24"/>
          <p:cNvSpPr txBox="1">
            <a:spLocks noChangeArrowheads="1"/>
          </p:cNvSpPr>
          <p:nvPr/>
        </p:nvSpPr>
        <p:spPr bwMode="auto">
          <a:xfrm>
            <a:off x="6324600" y="2133601"/>
            <a:ext cx="609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b="1">
                <a:solidFill>
                  <a:schemeClr val="accent2"/>
                </a:solidFill>
              </a:rPr>
              <a:t>75</a:t>
            </a:r>
            <a:endParaRPr lang="en-GB" altLang="x-none" b="1">
              <a:solidFill>
                <a:schemeClr val="accent2"/>
              </a:solidFill>
            </a:endParaRPr>
          </a:p>
        </p:txBody>
      </p:sp>
      <p:sp>
        <p:nvSpPr>
          <p:cNvPr id="230425" name="Text Box 25"/>
          <p:cNvSpPr txBox="1">
            <a:spLocks noChangeArrowheads="1"/>
          </p:cNvSpPr>
          <p:nvPr/>
        </p:nvSpPr>
        <p:spPr bwMode="auto">
          <a:xfrm>
            <a:off x="4419600" y="2209801"/>
            <a:ext cx="762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b="1">
                <a:solidFill>
                  <a:schemeClr val="accent2"/>
                </a:solidFill>
              </a:rPr>
              <a:t>118</a:t>
            </a:r>
            <a:endParaRPr lang="en-GB" altLang="x-none" b="1">
              <a:solidFill>
                <a:schemeClr val="accent2"/>
              </a:solidFill>
            </a:endParaRPr>
          </a:p>
        </p:txBody>
      </p:sp>
      <p:sp>
        <p:nvSpPr>
          <p:cNvPr id="230426" name="Text Box 26"/>
          <p:cNvSpPr txBox="1">
            <a:spLocks noChangeArrowheads="1"/>
          </p:cNvSpPr>
          <p:nvPr/>
        </p:nvSpPr>
        <p:spPr bwMode="auto">
          <a:xfrm>
            <a:off x="5867400" y="2681288"/>
            <a:ext cx="762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b="1">
                <a:solidFill>
                  <a:schemeClr val="accent2"/>
                </a:solidFill>
              </a:rPr>
              <a:t>140</a:t>
            </a:r>
            <a:endParaRPr lang="en-GB" altLang="x-none" b="1">
              <a:solidFill>
                <a:schemeClr val="accent2"/>
              </a:solidFill>
            </a:endParaRPr>
          </a:p>
        </p:txBody>
      </p:sp>
      <p:sp>
        <p:nvSpPr>
          <p:cNvPr id="230427" name="Text Box 27"/>
          <p:cNvSpPr txBox="1">
            <a:spLocks noChangeArrowheads="1"/>
          </p:cNvSpPr>
          <p:nvPr/>
        </p:nvSpPr>
        <p:spPr bwMode="auto">
          <a:xfrm>
            <a:off x="6705600" y="2605088"/>
            <a:ext cx="8382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/>
              <a:t>[374]</a:t>
            </a:r>
            <a:endParaRPr lang="en-GB" altLang="x-none"/>
          </a:p>
        </p:txBody>
      </p:sp>
      <p:sp>
        <p:nvSpPr>
          <p:cNvPr id="230428" name="Text Box 28"/>
          <p:cNvSpPr txBox="1">
            <a:spLocks noChangeArrowheads="1"/>
          </p:cNvSpPr>
          <p:nvPr/>
        </p:nvSpPr>
        <p:spPr bwMode="auto">
          <a:xfrm>
            <a:off x="2667000" y="2667001"/>
            <a:ext cx="838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/>
              <a:t>[250]</a:t>
            </a:r>
            <a:endParaRPr lang="en-GB" altLang="x-none"/>
          </a:p>
        </p:txBody>
      </p:sp>
      <p:sp>
        <p:nvSpPr>
          <p:cNvPr id="230429" name="Text Box 29"/>
          <p:cNvSpPr txBox="1">
            <a:spLocks noChangeArrowheads="1"/>
          </p:cNvSpPr>
          <p:nvPr/>
        </p:nvSpPr>
        <p:spPr bwMode="auto">
          <a:xfrm>
            <a:off x="5029200" y="3214688"/>
            <a:ext cx="8382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/>
              <a:t>[253]</a:t>
            </a:r>
            <a:endParaRPr lang="en-GB" altLang="x-none"/>
          </a:p>
        </p:txBody>
      </p:sp>
      <p:sp>
        <p:nvSpPr>
          <p:cNvPr id="230430" name="Text Box 30"/>
          <p:cNvSpPr txBox="1">
            <a:spLocks noChangeArrowheads="1"/>
          </p:cNvSpPr>
          <p:nvPr/>
        </p:nvSpPr>
        <p:spPr bwMode="auto">
          <a:xfrm>
            <a:off x="2362200" y="3748088"/>
            <a:ext cx="8382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/>
              <a:t>[244]</a:t>
            </a:r>
            <a:endParaRPr lang="en-GB" altLang="x-none"/>
          </a:p>
        </p:txBody>
      </p:sp>
      <p:grpSp>
        <p:nvGrpSpPr>
          <p:cNvPr id="230431" name="Group 31"/>
          <p:cNvGrpSpPr>
            <a:grpSpLocks/>
          </p:cNvGrpSpPr>
          <p:nvPr/>
        </p:nvGrpSpPr>
        <p:grpSpPr bwMode="auto">
          <a:xfrm>
            <a:off x="2895600" y="4648200"/>
            <a:ext cx="457200" cy="457200"/>
            <a:chOff x="1344" y="1248"/>
            <a:chExt cx="288" cy="288"/>
          </a:xfrm>
        </p:grpSpPr>
        <p:sp>
          <p:nvSpPr>
            <p:cNvPr id="230432" name="Oval 32"/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0433" name="Text Box 33"/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x-none"/>
                <a:t>C</a:t>
              </a:r>
              <a:endParaRPr lang="en-GB" altLang="x-none"/>
            </a:p>
          </p:txBody>
        </p:sp>
      </p:grpSp>
      <p:sp>
        <p:nvSpPr>
          <p:cNvPr id="230437" name="Line 37"/>
          <p:cNvSpPr>
            <a:spLocks noChangeShapeType="1"/>
          </p:cNvSpPr>
          <p:nvPr/>
        </p:nvSpPr>
        <p:spPr bwMode="auto">
          <a:xfrm flipH="1">
            <a:off x="3124200" y="4191000"/>
            <a:ext cx="152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0438" name="Text Box 38"/>
          <p:cNvSpPr txBox="1">
            <a:spLocks noChangeArrowheads="1"/>
          </p:cNvSpPr>
          <p:nvPr/>
        </p:nvSpPr>
        <p:spPr bwMode="auto">
          <a:xfrm>
            <a:off x="2133600" y="4648201"/>
            <a:ext cx="838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/>
              <a:t>[250]</a:t>
            </a:r>
            <a:endParaRPr lang="en-GB" altLang="x-none"/>
          </a:p>
        </p:txBody>
      </p:sp>
      <p:sp>
        <p:nvSpPr>
          <p:cNvPr id="230442" name="Text Box 42"/>
          <p:cNvSpPr txBox="1">
            <a:spLocks noChangeArrowheads="1"/>
          </p:cNvSpPr>
          <p:nvPr/>
        </p:nvSpPr>
        <p:spPr bwMode="auto">
          <a:xfrm>
            <a:off x="3505200" y="4343401"/>
            <a:ext cx="2286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b="1">
                <a:solidFill>
                  <a:schemeClr val="hlink"/>
                </a:solidFill>
              </a:rPr>
              <a:t>Infinite Branch !</a:t>
            </a:r>
            <a:endParaRPr lang="en-GB" altLang="x-none" b="1">
              <a:solidFill>
                <a:schemeClr val="hlin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728816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/>
              <a:t>Greedy Search: Tree Search</a:t>
            </a:r>
            <a:endParaRPr lang="en-GB" altLang="x-none"/>
          </a:p>
        </p:txBody>
      </p:sp>
      <p:grpSp>
        <p:nvGrpSpPr>
          <p:cNvPr id="231427" name="Group 3"/>
          <p:cNvGrpSpPr>
            <a:grpSpLocks/>
          </p:cNvGrpSpPr>
          <p:nvPr/>
        </p:nvGrpSpPr>
        <p:grpSpPr bwMode="auto">
          <a:xfrm>
            <a:off x="5638800" y="1981200"/>
            <a:ext cx="457200" cy="457200"/>
            <a:chOff x="1344" y="1248"/>
            <a:chExt cx="288" cy="288"/>
          </a:xfrm>
        </p:grpSpPr>
        <p:sp>
          <p:nvSpPr>
            <p:cNvPr id="231428" name="Oval 4"/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1429" name="Text Box 5"/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x-none"/>
                <a:t>A</a:t>
              </a:r>
              <a:endParaRPr lang="en-GB" altLang="x-none"/>
            </a:p>
          </p:txBody>
        </p:sp>
      </p:grpSp>
      <p:grpSp>
        <p:nvGrpSpPr>
          <p:cNvPr id="231430" name="Group 6"/>
          <p:cNvGrpSpPr>
            <a:grpSpLocks/>
          </p:cNvGrpSpPr>
          <p:nvPr/>
        </p:nvGrpSpPr>
        <p:grpSpPr bwMode="auto">
          <a:xfrm>
            <a:off x="7391400" y="2514600"/>
            <a:ext cx="457200" cy="457200"/>
            <a:chOff x="1344" y="1248"/>
            <a:chExt cx="288" cy="288"/>
          </a:xfrm>
        </p:grpSpPr>
        <p:sp>
          <p:nvSpPr>
            <p:cNvPr id="231431" name="Oval 7"/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1432" name="Text Box 8"/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x-none"/>
                <a:t>B</a:t>
              </a:r>
              <a:endParaRPr lang="en-GB" altLang="x-none"/>
            </a:p>
          </p:txBody>
        </p:sp>
      </p:grpSp>
      <p:grpSp>
        <p:nvGrpSpPr>
          <p:cNvPr id="231433" name="Group 9"/>
          <p:cNvGrpSpPr>
            <a:grpSpLocks/>
          </p:cNvGrpSpPr>
          <p:nvPr/>
        </p:nvGrpSpPr>
        <p:grpSpPr bwMode="auto">
          <a:xfrm>
            <a:off x="3429000" y="2667000"/>
            <a:ext cx="457200" cy="457200"/>
            <a:chOff x="1344" y="1248"/>
            <a:chExt cx="288" cy="288"/>
          </a:xfrm>
        </p:grpSpPr>
        <p:sp>
          <p:nvSpPr>
            <p:cNvPr id="231434" name="Oval 10"/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1435" name="Text Box 11"/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x-none"/>
                <a:t>C</a:t>
              </a:r>
              <a:endParaRPr lang="en-GB" altLang="x-none"/>
            </a:p>
          </p:txBody>
        </p:sp>
      </p:grpSp>
      <p:grpSp>
        <p:nvGrpSpPr>
          <p:cNvPr id="231436" name="Group 12"/>
          <p:cNvGrpSpPr>
            <a:grpSpLocks/>
          </p:cNvGrpSpPr>
          <p:nvPr/>
        </p:nvGrpSpPr>
        <p:grpSpPr bwMode="auto">
          <a:xfrm>
            <a:off x="5715000" y="3124200"/>
            <a:ext cx="457200" cy="457200"/>
            <a:chOff x="1344" y="1248"/>
            <a:chExt cx="288" cy="288"/>
          </a:xfrm>
        </p:grpSpPr>
        <p:sp>
          <p:nvSpPr>
            <p:cNvPr id="231437" name="Oval 13"/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1438" name="Text Box 14"/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x-none"/>
                <a:t>E</a:t>
              </a:r>
              <a:endParaRPr lang="en-GB" altLang="x-none"/>
            </a:p>
          </p:txBody>
        </p:sp>
      </p:grpSp>
      <p:grpSp>
        <p:nvGrpSpPr>
          <p:cNvPr id="231439" name="Group 15"/>
          <p:cNvGrpSpPr>
            <a:grpSpLocks/>
          </p:cNvGrpSpPr>
          <p:nvPr/>
        </p:nvGrpSpPr>
        <p:grpSpPr bwMode="auto">
          <a:xfrm>
            <a:off x="3124200" y="3719513"/>
            <a:ext cx="457200" cy="457200"/>
            <a:chOff x="1344" y="1248"/>
            <a:chExt cx="288" cy="288"/>
          </a:xfrm>
        </p:grpSpPr>
        <p:sp>
          <p:nvSpPr>
            <p:cNvPr id="231440" name="Oval 16"/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1441" name="Text Box 17"/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x-none"/>
                <a:t>D</a:t>
              </a:r>
              <a:endParaRPr lang="en-GB" altLang="x-none"/>
            </a:p>
          </p:txBody>
        </p:sp>
      </p:grpSp>
      <p:sp>
        <p:nvSpPr>
          <p:cNvPr id="231442" name="Line 18"/>
          <p:cNvSpPr>
            <a:spLocks noChangeShapeType="1"/>
          </p:cNvSpPr>
          <p:nvPr/>
        </p:nvSpPr>
        <p:spPr bwMode="auto">
          <a:xfrm flipH="1">
            <a:off x="3352800" y="3124200"/>
            <a:ext cx="2286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1443" name="Text Box 19"/>
          <p:cNvSpPr txBox="1">
            <a:spLocks noChangeArrowheads="1"/>
          </p:cNvSpPr>
          <p:nvPr/>
        </p:nvSpPr>
        <p:spPr bwMode="auto">
          <a:xfrm>
            <a:off x="2590800" y="3352801"/>
            <a:ext cx="762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b="1">
                <a:solidFill>
                  <a:schemeClr val="accent2"/>
                </a:solidFill>
              </a:rPr>
              <a:t>111</a:t>
            </a:r>
            <a:endParaRPr lang="en-GB" altLang="x-none" b="1">
              <a:solidFill>
                <a:schemeClr val="accent2"/>
              </a:solidFill>
            </a:endParaRPr>
          </a:p>
        </p:txBody>
      </p:sp>
      <p:sp>
        <p:nvSpPr>
          <p:cNvPr id="231444" name="Line 20"/>
          <p:cNvSpPr>
            <a:spLocks noChangeShapeType="1"/>
          </p:cNvSpPr>
          <p:nvPr/>
        </p:nvSpPr>
        <p:spPr bwMode="auto">
          <a:xfrm>
            <a:off x="5867400" y="2438400"/>
            <a:ext cx="17526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1445" name="Line 21"/>
          <p:cNvSpPr>
            <a:spLocks noChangeShapeType="1"/>
          </p:cNvSpPr>
          <p:nvPr/>
        </p:nvSpPr>
        <p:spPr bwMode="auto">
          <a:xfrm>
            <a:off x="5867400" y="2438400"/>
            <a:ext cx="76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1446" name="Line 22"/>
          <p:cNvSpPr>
            <a:spLocks noChangeShapeType="1"/>
          </p:cNvSpPr>
          <p:nvPr/>
        </p:nvSpPr>
        <p:spPr bwMode="auto">
          <a:xfrm flipH="1">
            <a:off x="3657600" y="2438400"/>
            <a:ext cx="22098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1447" name="Text Box 23"/>
          <p:cNvSpPr txBox="1">
            <a:spLocks noChangeArrowheads="1"/>
          </p:cNvSpPr>
          <p:nvPr/>
        </p:nvSpPr>
        <p:spPr bwMode="auto">
          <a:xfrm>
            <a:off x="6096000" y="1828801"/>
            <a:ext cx="1219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b="1">
                <a:solidFill>
                  <a:schemeClr val="accent1"/>
                </a:solidFill>
              </a:rPr>
              <a:t>Start</a:t>
            </a:r>
            <a:endParaRPr lang="en-GB" altLang="x-none" b="1">
              <a:solidFill>
                <a:schemeClr val="accent1"/>
              </a:solidFill>
            </a:endParaRPr>
          </a:p>
        </p:txBody>
      </p:sp>
      <p:sp>
        <p:nvSpPr>
          <p:cNvPr id="231448" name="Text Box 24"/>
          <p:cNvSpPr txBox="1">
            <a:spLocks noChangeArrowheads="1"/>
          </p:cNvSpPr>
          <p:nvPr/>
        </p:nvSpPr>
        <p:spPr bwMode="auto">
          <a:xfrm>
            <a:off x="6324600" y="2133601"/>
            <a:ext cx="609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b="1">
                <a:solidFill>
                  <a:schemeClr val="accent2"/>
                </a:solidFill>
              </a:rPr>
              <a:t>75</a:t>
            </a:r>
            <a:endParaRPr lang="en-GB" altLang="x-none" b="1">
              <a:solidFill>
                <a:schemeClr val="accent2"/>
              </a:solidFill>
            </a:endParaRPr>
          </a:p>
        </p:txBody>
      </p:sp>
      <p:sp>
        <p:nvSpPr>
          <p:cNvPr id="231449" name="Text Box 25"/>
          <p:cNvSpPr txBox="1">
            <a:spLocks noChangeArrowheads="1"/>
          </p:cNvSpPr>
          <p:nvPr/>
        </p:nvSpPr>
        <p:spPr bwMode="auto">
          <a:xfrm>
            <a:off x="4419600" y="2209801"/>
            <a:ext cx="762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b="1">
                <a:solidFill>
                  <a:schemeClr val="accent2"/>
                </a:solidFill>
              </a:rPr>
              <a:t>118</a:t>
            </a:r>
            <a:endParaRPr lang="en-GB" altLang="x-none" b="1">
              <a:solidFill>
                <a:schemeClr val="accent2"/>
              </a:solidFill>
            </a:endParaRPr>
          </a:p>
        </p:txBody>
      </p:sp>
      <p:sp>
        <p:nvSpPr>
          <p:cNvPr id="231450" name="Text Box 26"/>
          <p:cNvSpPr txBox="1">
            <a:spLocks noChangeArrowheads="1"/>
          </p:cNvSpPr>
          <p:nvPr/>
        </p:nvSpPr>
        <p:spPr bwMode="auto">
          <a:xfrm>
            <a:off x="5867400" y="2681288"/>
            <a:ext cx="762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b="1">
                <a:solidFill>
                  <a:schemeClr val="accent2"/>
                </a:solidFill>
              </a:rPr>
              <a:t>140</a:t>
            </a:r>
            <a:endParaRPr lang="en-GB" altLang="x-none" b="1">
              <a:solidFill>
                <a:schemeClr val="accent2"/>
              </a:solidFill>
            </a:endParaRPr>
          </a:p>
        </p:txBody>
      </p:sp>
      <p:sp>
        <p:nvSpPr>
          <p:cNvPr id="231451" name="Text Box 27"/>
          <p:cNvSpPr txBox="1">
            <a:spLocks noChangeArrowheads="1"/>
          </p:cNvSpPr>
          <p:nvPr/>
        </p:nvSpPr>
        <p:spPr bwMode="auto">
          <a:xfrm>
            <a:off x="6705600" y="2605088"/>
            <a:ext cx="8382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/>
              <a:t>[374]</a:t>
            </a:r>
            <a:endParaRPr lang="en-GB" altLang="x-none"/>
          </a:p>
        </p:txBody>
      </p:sp>
      <p:sp>
        <p:nvSpPr>
          <p:cNvPr id="231452" name="Text Box 28"/>
          <p:cNvSpPr txBox="1">
            <a:spLocks noChangeArrowheads="1"/>
          </p:cNvSpPr>
          <p:nvPr/>
        </p:nvSpPr>
        <p:spPr bwMode="auto">
          <a:xfrm>
            <a:off x="2667000" y="2667001"/>
            <a:ext cx="838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/>
              <a:t>[250]</a:t>
            </a:r>
            <a:endParaRPr lang="en-GB" altLang="x-none"/>
          </a:p>
        </p:txBody>
      </p:sp>
      <p:sp>
        <p:nvSpPr>
          <p:cNvPr id="231453" name="Text Box 29"/>
          <p:cNvSpPr txBox="1">
            <a:spLocks noChangeArrowheads="1"/>
          </p:cNvSpPr>
          <p:nvPr/>
        </p:nvSpPr>
        <p:spPr bwMode="auto">
          <a:xfrm>
            <a:off x="5029200" y="3214688"/>
            <a:ext cx="8382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/>
              <a:t>[253]</a:t>
            </a:r>
            <a:endParaRPr lang="en-GB" altLang="x-none"/>
          </a:p>
        </p:txBody>
      </p:sp>
      <p:sp>
        <p:nvSpPr>
          <p:cNvPr id="231454" name="Text Box 30"/>
          <p:cNvSpPr txBox="1">
            <a:spLocks noChangeArrowheads="1"/>
          </p:cNvSpPr>
          <p:nvPr/>
        </p:nvSpPr>
        <p:spPr bwMode="auto">
          <a:xfrm>
            <a:off x="2362200" y="3748088"/>
            <a:ext cx="8382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/>
              <a:t>[244]</a:t>
            </a:r>
            <a:endParaRPr lang="en-GB" altLang="x-none"/>
          </a:p>
        </p:txBody>
      </p:sp>
      <p:grpSp>
        <p:nvGrpSpPr>
          <p:cNvPr id="231455" name="Group 31"/>
          <p:cNvGrpSpPr>
            <a:grpSpLocks/>
          </p:cNvGrpSpPr>
          <p:nvPr/>
        </p:nvGrpSpPr>
        <p:grpSpPr bwMode="auto">
          <a:xfrm>
            <a:off x="2895600" y="4648200"/>
            <a:ext cx="457200" cy="457200"/>
            <a:chOff x="1344" y="1248"/>
            <a:chExt cx="288" cy="288"/>
          </a:xfrm>
        </p:grpSpPr>
        <p:sp>
          <p:nvSpPr>
            <p:cNvPr id="231456" name="Oval 32"/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1457" name="Text Box 33"/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x-none"/>
                <a:t>C</a:t>
              </a:r>
              <a:endParaRPr lang="en-GB" altLang="x-none"/>
            </a:p>
          </p:txBody>
        </p:sp>
      </p:grpSp>
      <p:grpSp>
        <p:nvGrpSpPr>
          <p:cNvPr id="231458" name="Group 34"/>
          <p:cNvGrpSpPr>
            <a:grpSpLocks/>
          </p:cNvGrpSpPr>
          <p:nvPr/>
        </p:nvGrpSpPr>
        <p:grpSpPr bwMode="auto">
          <a:xfrm>
            <a:off x="2590800" y="5715000"/>
            <a:ext cx="457200" cy="457200"/>
            <a:chOff x="1344" y="1248"/>
            <a:chExt cx="288" cy="288"/>
          </a:xfrm>
        </p:grpSpPr>
        <p:sp>
          <p:nvSpPr>
            <p:cNvPr id="231459" name="Oval 35"/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1460" name="Text Box 36"/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x-none"/>
                <a:t>D</a:t>
              </a:r>
              <a:endParaRPr lang="en-GB" altLang="x-none"/>
            </a:p>
          </p:txBody>
        </p:sp>
      </p:grpSp>
      <p:sp>
        <p:nvSpPr>
          <p:cNvPr id="231461" name="Line 37"/>
          <p:cNvSpPr>
            <a:spLocks noChangeShapeType="1"/>
          </p:cNvSpPr>
          <p:nvPr/>
        </p:nvSpPr>
        <p:spPr bwMode="auto">
          <a:xfrm flipH="1">
            <a:off x="3124200" y="4191000"/>
            <a:ext cx="152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1462" name="Text Box 38"/>
          <p:cNvSpPr txBox="1">
            <a:spLocks noChangeArrowheads="1"/>
          </p:cNvSpPr>
          <p:nvPr/>
        </p:nvSpPr>
        <p:spPr bwMode="auto">
          <a:xfrm>
            <a:off x="2133600" y="4648201"/>
            <a:ext cx="838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/>
              <a:t>[250]</a:t>
            </a:r>
            <a:endParaRPr lang="en-GB" altLang="x-none"/>
          </a:p>
        </p:txBody>
      </p:sp>
      <p:sp>
        <p:nvSpPr>
          <p:cNvPr id="231463" name="Text Box 39"/>
          <p:cNvSpPr txBox="1">
            <a:spLocks noChangeArrowheads="1"/>
          </p:cNvSpPr>
          <p:nvPr/>
        </p:nvSpPr>
        <p:spPr bwMode="auto">
          <a:xfrm>
            <a:off x="1905000" y="5729288"/>
            <a:ext cx="8382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/>
              <a:t>[244]</a:t>
            </a:r>
            <a:endParaRPr lang="en-GB" altLang="x-none"/>
          </a:p>
        </p:txBody>
      </p:sp>
      <p:sp>
        <p:nvSpPr>
          <p:cNvPr id="231464" name="Line 40"/>
          <p:cNvSpPr>
            <a:spLocks noChangeShapeType="1"/>
          </p:cNvSpPr>
          <p:nvPr/>
        </p:nvSpPr>
        <p:spPr bwMode="auto">
          <a:xfrm flipH="1">
            <a:off x="2819400" y="5105400"/>
            <a:ext cx="2286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1465" name="Line 41"/>
          <p:cNvSpPr>
            <a:spLocks noChangeShapeType="1"/>
          </p:cNvSpPr>
          <p:nvPr/>
        </p:nvSpPr>
        <p:spPr bwMode="auto">
          <a:xfrm flipH="1">
            <a:off x="2438400" y="6172200"/>
            <a:ext cx="304800" cy="68580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1466" name="Text Box 42"/>
          <p:cNvSpPr txBox="1">
            <a:spLocks noChangeArrowheads="1"/>
          </p:cNvSpPr>
          <p:nvPr/>
        </p:nvSpPr>
        <p:spPr bwMode="auto">
          <a:xfrm>
            <a:off x="3505200" y="4343401"/>
            <a:ext cx="2286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b="1">
                <a:solidFill>
                  <a:schemeClr val="hlink"/>
                </a:solidFill>
              </a:rPr>
              <a:t>Infinite Branch !</a:t>
            </a:r>
            <a:endParaRPr lang="en-GB" altLang="x-none" b="1">
              <a:solidFill>
                <a:schemeClr val="hlin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220574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/>
              <a:t>Greedy Search: Tree Search</a:t>
            </a:r>
            <a:endParaRPr lang="en-GB" altLang="x-none"/>
          </a:p>
        </p:txBody>
      </p:sp>
      <p:grpSp>
        <p:nvGrpSpPr>
          <p:cNvPr id="232451" name="Group 3"/>
          <p:cNvGrpSpPr>
            <a:grpSpLocks/>
          </p:cNvGrpSpPr>
          <p:nvPr/>
        </p:nvGrpSpPr>
        <p:grpSpPr bwMode="auto">
          <a:xfrm>
            <a:off x="5638800" y="1981200"/>
            <a:ext cx="457200" cy="457200"/>
            <a:chOff x="1344" y="1248"/>
            <a:chExt cx="288" cy="288"/>
          </a:xfrm>
        </p:grpSpPr>
        <p:sp>
          <p:nvSpPr>
            <p:cNvPr id="232452" name="Oval 4"/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2453" name="Text Box 5"/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x-none"/>
                <a:t>A</a:t>
              </a:r>
              <a:endParaRPr lang="en-GB" altLang="x-none"/>
            </a:p>
          </p:txBody>
        </p:sp>
      </p:grpSp>
      <p:grpSp>
        <p:nvGrpSpPr>
          <p:cNvPr id="232454" name="Group 6"/>
          <p:cNvGrpSpPr>
            <a:grpSpLocks/>
          </p:cNvGrpSpPr>
          <p:nvPr/>
        </p:nvGrpSpPr>
        <p:grpSpPr bwMode="auto">
          <a:xfrm>
            <a:off x="7391400" y="2514600"/>
            <a:ext cx="457200" cy="457200"/>
            <a:chOff x="1344" y="1248"/>
            <a:chExt cx="288" cy="288"/>
          </a:xfrm>
        </p:grpSpPr>
        <p:sp>
          <p:nvSpPr>
            <p:cNvPr id="232455" name="Oval 7"/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2456" name="Text Box 8"/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x-none"/>
                <a:t>B</a:t>
              </a:r>
              <a:endParaRPr lang="en-GB" altLang="x-none"/>
            </a:p>
          </p:txBody>
        </p:sp>
      </p:grpSp>
      <p:grpSp>
        <p:nvGrpSpPr>
          <p:cNvPr id="232457" name="Group 9"/>
          <p:cNvGrpSpPr>
            <a:grpSpLocks/>
          </p:cNvGrpSpPr>
          <p:nvPr/>
        </p:nvGrpSpPr>
        <p:grpSpPr bwMode="auto">
          <a:xfrm>
            <a:off x="3429000" y="2667000"/>
            <a:ext cx="457200" cy="457200"/>
            <a:chOff x="1344" y="1248"/>
            <a:chExt cx="288" cy="288"/>
          </a:xfrm>
        </p:grpSpPr>
        <p:sp>
          <p:nvSpPr>
            <p:cNvPr id="232458" name="Oval 10"/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2459" name="Text Box 11"/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x-none"/>
                <a:t>C</a:t>
              </a:r>
              <a:endParaRPr lang="en-GB" altLang="x-none"/>
            </a:p>
          </p:txBody>
        </p:sp>
      </p:grpSp>
      <p:grpSp>
        <p:nvGrpSpPr>
          <p:cNvPr id="232460" name="Group 12"/>
          <p:cNvGrpSpPr>
            <a:grpSpLocks/>
          </p:cNvGrpSpPr>
          <p:nvPr/>
        </p:nvGrpSpPr>
        <p:grpSpPr bwMode="auto">
          <a:xfrm>
            <a:off x="5715000" y="3124200"/>
            <a:ext cx="457200" cy="457200"/>
            <a:chOff x="1344" y="1248"/>
            <a:chExt cx="288" cy="288"/>
          </a:xfrm>
        </p:grpSpPr>
        <p:sp>
          <p:nvSpPr>
            <p:cNvPr id="232461" name="Oval 13"/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2462" name="Text Box 14"/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x-none"/>
                <a:t>E</a:t>
              </a:r>
              <a:endParaRPr lang="en-GB" altLang="x-none"/>
            </a:p>
          </p:txBody>
        </p:sp>
      </p:grpSp>
      <p:grpSp>
        <p:nvGrpSpPr>
          <p:cNvPr id="232463" name="Group 15"/>
          <p:cNvGrpSpPr>
            <a:grpSpLocks/>
          </p:cNvGrpSpPr>
          <p:nvPr/>
        </p:nvGrpSpPr>
        <p:grpSpPr bwMode="auto">
          <a:xfrm>
            <a:off x="3124200" y="3719513"/>
            <a:ext cx="457200" cy="457200"/>
            <a:chOff x="1344" y="1248"/>
            <a:chExt cx="288" cy="288"/>
          </a:xfrm>
        </p:grpSpPr>
        <p:sp>
          <p:nvSpPr>
            <p:cNvPr id="232464" name="Oval 16"/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2465" name="Text Box 17"/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x-none"/>
                <a:t>D</a:t>
              </a:r>
              <a:endParaRPr lang="en-GB" altLang="x-none"/>
            </a:p>
          </p:txBody>
        </p:sp>
      </p:grpSp>
      <p:sp>
        <p:nvSpPr>
          <p:cNvPr id="232466" name="Line 18"/>
          <p:cNvSpPr>
            <a:spLocks noChangeShapeType="1"/>
          </p:cNvSpPr>
          <p:nvPr/>
        </p:nvSpPr>
        <p:spPr bwMode="auto">
          <a:xfrm flipH="1">
            <a:off x="3352800" y="3124200"/>
            <a:ext cx="2286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2467" name="Text Box 19"/>
          <p:cNvSpPr txBox="1">
            <a:spLocks noChangeArrowheads="1"/>
          </p:cNvSpPr>
          <p:nvPr/>
        </p:nvSpPr>
        <p:spPr bwMode="auto">
          <a:xfrm>
            <a:off x="2590800" y="3352801"/>
            <a:ext cx="762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b="1">
                <a:solidFill>
                  <a:schemeClr val="accent2"/>
                </a:solidFill>
              </a:rPr>
              <a:t>111</a:t>
            </a:r>
            <a:endParaRPr lang="en-GB" altLang="x-none" b="1">
              <a:solidFill>
                <a:schemeClr val="accent2"/>
              </a:solidFill>
            </a:endParaRPr>
          </a:p>
        </p:txBody>
      </p:sp>
      <p:sp>
        <p:nvSpPr>
          <p:cNvPr id="232468" name="Line 20"/>
          <p:cNvSpPr>
            <a:spLocks noChangeShapeType="1"/>
          </p:cNvSpPr>
          <p:nvPr/>
        </p:nvSpPr>
        <p:spPr bwMode="auto">
          <a:xfrm>
            <a:off x="5867400" y="2438400"/>
            <a:ext cx="17526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2469" name="Line 21"/>
          <p:cNvSpPr>
            <a:spLocks noChangeShapeType="1"/>
          </p:cNvSpPr>
          <p:nvPr/>
        </p:nvSpPr>
        <p:spPr bwMode="auto">
          <a:xfrm>
            <a:off x="5867400" y="2438400"/>
            <a:ext cx="76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2470" name="Line 22"/>
          <p:cNvSpPr>
            <a:spLocks noChangeShapeType="1"/>
          </p:cNvSpPr>
          <p:nvPr/>
        </p:nvSpPr>
        <p:spPr bwMode="auto">
          <a:xfrm flipH="1">
            <a:off x="3657600" y="2438400"/>
            <a:ext cx="22098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2471" name="Text Box 23"/>
          <p:cNvSpPr txBox="1">
            <a:spLocks noChangeArrowheads="1"/>
          </p:cNvSpPr>
          <p:nvPr/>
        </p:nvSpPr>
        <p:spPr bwMode="auto">
          <a:xfrm>
            <a:off x="6096000" y="1828801"/>
            <a:ext cx="1219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b="1">
                <a:solidFill>
                  <a:schemeClr val="accent1"/>
                </a:solidFill>
              </a:rPr>
              <a:t>Start</a:t>
            </a:r>
            <a:endParaRPr lang="en-GB" altLang="x-none" b="1">
              <a:solidFill>
                <a:schemeClr val="accent1"/>
              </a:solidFill>
            </a:endParaRPr>
          </a:p>
        </p:txBody>
      </p:sp>
      <p:sp>
        <p:nvSpPr>
          <p:cNvPr id="232472" name="Text Box 24"/>
          <p:cNvSpPr txBox="1">
            <a:spLocks noChangeArrowheads="1"/>
          </p:cNvSpPr>
          <p:nvPr/>
        </p:nvSpPr>
        <p:spPr bwMode="auto">
          <a:xfrm>
            <a:off x="6324600" y="2133601"/>
            <a:ext cx="609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b="1">
                <a:solidFill>
                  <a:schemeClr val="accent2"/>
                </a:solidFill>
              </a:rPr>
              <a:t>75</a:t>
            </a:r>
            <a:endParaRPr lang="en-GB" altLang="x-none" b="1">
              <a:solidFill>
                <a:schemeClr val="accent2"/>
              </a:solidFill>
            </a:endParaRPr>
          </a:p>
        </p:txBody>
      </p:sp>
      <p:sp>
        <p:nvSpPr>
          <p:cNvPr id="232473" name="Text Box 25"/>
          <p:cNvSpPr txBox="1">
            <a:spLocks noChangeArrowheads="1"/>
          </p:cNvSpPr>
          <p:nvPr/>
        </p:nvSpPr>
        <p:spPr bwMode="auto">
          <a:xfrm>
            <a:off x="4419600" y="2209801"/>
            <a:ext cx="762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b="1">
                <a:solidFill>
                  <a:schemeClr val="accent2"/>
                </a:solidFill>
              </a:rPr>
              <a:t>118</a:t>
            </a:r>
            <a:endParaRPr lang="en-GB" altLang="x-none" b="1">
              <a:solidFill>
                <a:schemeClr val="accent2"/>
              </a:solidFill>
            </a:endParaRPr>
          </a:p>
        </p:txBody>
      </p:sp>
      <p:sp>
        <p:nvSpPr>
          <p:cNvPr id="232474" name="Text Box 26"/>
          <p:cNvSpPr txBox="1">
            <a:spLocks noChangeArrowheads="1"/>
          </p:cNvSpPr>
          <p:nvPr/>
        </p:nvSpPr>
        <p:spPr bwMode="auto">
          <a:xfrm>
            <a:off x="5867400" y="2681288"/>
            <a:ext cx="762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b="1">
                <a:solidFill>
                  <a:schemeClr val="accent2"/>
                </a:solidFill>
              </a:rPr>
              <a:t>140</a:t>
            </a:r>
            <a:endParaRPr lang="en-GB" altLang="x-none" b="1">
              <a:solidFill>
                <a:schemeClr val="accent2"/>
              </a:solidFill>
            </a:endParaRPr>
          </a:p>
        </p:txBody>
      </p:sp>
      <p:sp>
        <p:nvSpPr>
          <p:cNvPr id="232475" name="Text Box 27"/>
          <p:cNvSpPr txBox="1">
            <a:spLocks noChangeArrowheads="1"/>
          </p:cNvSpPr>
          <p:nvPr/>
        </p:nvSpPr>
        <p:spPr bwMode="auto">
          <a:xfrm>
            <a:off x="6705600" y="2605088"/>
            <a:ext cx="8382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/>
              <a:t>[374]</a:t>
            </a:r>
            <a:endParaRPr lang="en-GB" altLang="x-none"/>
          </a:p>
        </p:txBody>
      </p:sp>
      <p:sp>
        <p:nvSpPr>
          <p:cNvPr id="232476" name="Text Box 28"/>
          <p:cNvSpPr txBox="1">
            <a:spLocks noChangeArrowheads="1"/>
          </p:cNvSpPr>
          <p:nvPr/>
        </p:nvSpPr>
        <p:spPr bwMode="auto">
          <a:xfrm>
            <a:off x="2667000" y="2667001"/>
            <a:ext cx="838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/>
              <a:t>[250]</a:t>
            </a:r>
            <a:endParaRPr lang="en-GB" altLang="x-none"/>
          </a:p>
        </p:txBody>
      </p:sp>
      <p:sp>
        <p:nvSpPr>
          <p:cNvPr id="232477" name="Text Box 29"/>
          <p:cNvSpPr txBox="1">
            <a:spLocks noChangeArrowheads="1"/>
          </p:cNvSpPr>
          <p:nvPr/>
        </p:nvSpPr>
        <p:spPr bwMode="auto">
          <a:xfrm>
            <a:off x="5029200" y="3214688"/>
            <a:ext cx="8382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/>
              <a:t>[253]</a:t>
            </a:r>
            <a:endParaRPr lang="en-GB" altLang="x-none"/>
          </a:p>
        </p:txBody>
      </p:sp>
      <p:sp>
        <p:nvSpPr>
          <p:cNvPr id="232478" name="Text Box 30"/>
          <p:cNvSpPr txBox="1">
            <a:spLocks noChangeArrowheads="1"/>
          </p:cNvSpPr>
          <p:nvPr/>
        </p:nvSpPr>
        <p:spPr bwMode="auto">
          <a:xfrm>
            <a:off x="2362200" y="3748088"/>
            <a:ext cx="8382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/>
              <a:t>[244]</a:t>
            </a:r>
            <a:endParaRPr lang="en-GB" altLang="x-none"/>
          </a:p>
        </p:txBody>
      </p:sp>
      <p:grpSp>
        <p:nvGrpSpPr>
          <p:cNvPr id="232479" name="Group 31"/>
          <p:cNvGrpSpPr>
            <a:grpSpLocks/>
          </p:cNvGrpSpPr>
          <p:nvPr/>
        </p:nvGrpSpPr>
        <p:grpSpPr bwMode="auto">
          <a:xfrm>
            <a:off x="2895600" y="4648200"/>
            <a:ext cx="457200" cy="457200"/>
            <a:chOff x="1344" y="1248"/>
            <a:chExt cx="288" cy="288"/>
          </a:xfrm>
        </p:grpSpPr>
        <p:sp>
          <p:nvSpPr>
            <p:cNvPr id="232480" name="Oval 32"/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2481" name="Text Box 33"/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x-none"/>
                <a:t>C</a:t>
              </a:r>
              <a:endParaRPr lang="en-GB" altLang="x-none"/>
            </a:p>
          </p:txBody>
        </p:sp>
      </p:grpSp>
      <p:grpSp>
        <p:nvGrpSpPr>
          <p:cNvPr id="232482" name="Group 34"/>
          <p:cNvGrpSpPr>
            <a:grpSpLocks/>
          </p:cNvGrpSpPr>
          <p:nvPr/>
        </p:nvGrpSpPr>
        <p:grpSpPr bwMode="auto">
          <a:xfrm>
            <a:off x="2590800" y="5715000"/>
            <a:ext cx="457200" cy="457200"/>
            <a:chOff x="1344" y="1248"/>
            <a:chExt cx="288" cy="288"/>
          </a:xfrm>
        </p:grpSpPr>
        <p:sp>
          <p:nvSpPr>
            <p:cNvPr id="232483" name="Oval 35"/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2484" name="Text Box 36"/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x-none"/>
                <a:t>D</a:t>
              </a:r>
              <a:endParaRPr lang="en-GB" altLang="x-none"/>
            </a:p>
          </p:txBody>
        </p:sp>
      </p:grpSp>
      <p:sp>
        <p:nvSpPr>
          <p:cNvPr id="232485" name="Line 37"/>
          <p:cNvSpPr>
            <a:spLocks noChangeShapeType="1"/>
          </p:cNvSpPr>
          <p:nvPr/>
        </p:nvSpPr>
        <p:spPr bwMode="auto">
          <a:xfrm flipH="1">
            <a:off x="3124200" y="4191000"/>
            <a:ext cx="152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2486" name="Text Box 38"/>
          <p:cNvSpPr txBox="1">
            <a:spLocks noChangeArrowheads="1"/>
          </p:cNvSpPr>
          <p:nvPr/>
        </p:nvSpPr>
        <p:spPr bwMode="auto">
          <a:xfrm>
            <a:off x="2133600" y="4648201"/>
            <a:ext cx="838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/>
              <a:t>[250]</a:t>
            </a:r>
            <a:endParaRPr lang="en-GB" altLang="x-none"/>
          </a:p>
        </p:txBody>
      </p:sp>
      <p:sp>
        <p:nvSpPr>
          <p:cNvPr id="232487" name="Text Box 39"/>
          <p:cNvSpPr txBox="1">
            <a:spLocks noChangeArrowheads="1"/>
          </p:cNvSpPr>
          <p:nvPr/>
        </p:nvSpPr>
        <p:spPr bwMode="auto">
          <a:xfrm>
            <a:off x="1905000" y="5729288"/>
            <a:ext cx="8382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/>
              <a:t>[244]</a:t>
            </a:r>
            <a:endParaRPr lang="en-GB" altLang="x-none"/>
          </a:p>
        </p:txBody>
      </p:sp>
      <p:sp>
        <p:nvSpPr>
          <p:cNvPr id="232488" name="Line 40"/>
          <p:cNvSpPr>
            <a:spLocks noChangeShapeType="1"/>
          </p:cNvSpPr>
          <p:nvPr/>
        </p:nvSpPr>
        <p:spPr bwMode="auto">
          <a:xfrm flipH="1">
            <a:off x="2819400" y="5105400"/>
            <a:ext cx="2286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2489" name="Line 41"/>
          <p:cNvSpPr>
            <a:spLocks noChangeShapeType="1"/>
          </p:cNvSpPr>
          <p:nvPr/>
        </p:nvSpPr>
        <p:spPr bwMode="auto">
          <a:xfrm flipH="1">
            <a:off x="2438400" y="6172200"/>
            <a:ext cx="304800" cy="68580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2490" name="Text Box 42"/>
          <p:cNvSpPr txBox="1">
            <a:spLocks noChangeArrowheads="1"/>
          </p:cNvSpPr>
          <p:nvPr/>
        </p:nvSpPr>
        <p:spPr bwMode="auto">
          <a:xfrm>
            <a:off x="3505200" y="4343401"/>
            <a:ext cx="2286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b="1">
                <a:solidFill>
                  <a:schemeClr val="hlink"/>
                </a:solidFill>
              </a:rPr>
              <a:t>Infinite Branch !</a:t>
            </a:r>
            <a:endParaRPr lang="en-GB" altLang="x-none" b="1">
              <a:solidFill>
                <a:schemeClr val="hlink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5486400" y="4813518"/>
            <a:ext cx="51816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Even Incomplete in finite state space much like depth first search</a:t>
            </a:r>
          </a:p>
          <a:p>
            <a:r>
              <a:rPr lang="en-US" sz="2800" dirty="0">
                <a:solidFill>
                  <a:srgbClr val="002060"/>
                </a:solidFill>
              </a:rPr>
              <a:t>(Complete in finite space with repeated-state checking)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60025567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x-none"/>
              <a:t>Greedy Search: Time and Space Complexity ?</a:t>
            </a:r>
            <a:endParaRPr lang="en-GB" altLang="x-none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spcBef>
                <a:spcPct val="50000"/>
              </a:spcBef>
              <a:buFontTx/>
              <a:buChar char="•"/>
            </a:pPr>
            <a:endParaRPr lang="en-US" altLang="x-none" dirty="0"/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x-none" dirty="0"/>
              <a:t>Greedy search is </a:t>
            </a:r>
            <a:r>
              <a:rPr lang="en-US" altLang="x-none" u="sng" dirty="0">
                <a:solidFill>
                  <a:srgbClr val="FF0000"/>
                </a:solidFill>
              </a:rPr>
              <a:t>not optimal.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x-none" dirty="0"/>
              <a:t> Greedy search is </a:t>
            </a:r>
            <a:r>
              <a:rPr lang="en-US" altLang="x-none" u="sng" dirty="0">
                <a:solidFill>
                  <a:srgbClr val="FF0000"/>
                </a:solidFill>
              </a:rPr>
              <a:t>incomplete</a:t>
            </a:r>
            <a:endParaRPr lang="en-US" altLang="x-none" dirty="0">
              <a:solidFill>
                <a:srgbClr val="FF0000"/>
              </a:solidFill>
            </a:endParaRP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x-none" dirty="0"/>
              <a:t> In the worst case, the Time and Space Complexity of Greedy Search are both </a:t>
            </a:r>
            <a:r>
              <a:rPr lang="en-US" altLang="x-none" dirty="0">
                <a:solidFill>
                  <a:srgbClr val="FF0000"/>
                </a:solidFill>
              </a:rPr>
              <a:t>O(</a:t>
            </a:r>
            <a:r>
              <a:rPr lang="en-US" altLang="x-none" dirty="0" err="1">
                <a:solidFill>
                  <a:srgbClr val="FF0000"/>
                </a:solidFill>
              </a:rPr>
              <a:t>b</a:t>
            </a:r>
            <a:r>
              <a:rPr lang="en-US" altLang="x-none" baseline="30000" dirty="0" err="1">
                <a:solidFill>
                  <a:srgbClr val="FF0000"/>
                </a:solidFill>
              </a:rPr>
              <a:t>m</a:t>
            </a:r>
            <a:r>
              <a:rPr lang="en-US" altLang="x-none" dirty="0">
                <a:solidFill>
                  <a:srgbClr val="FF0000"/>
                </a:solidFill>
              </a:rPr>
              <a:t>)</a:t>
            </a:r>
          </a:p>
          <a:p>
            <a:pPr>
              <a:spcBef>
                <a:spcPct val="50000"/>
              </a:spcBef>
            </a:pPr>
            <a:r>
              <a:rPr lang="en-US" altLang="x-none" sz="2400" dirty="0">
                <a:solidFill>
                  <a:srgbClr val="0000FF"/>
                </a:solidFill>
              </a:rPr>
              <a:t>Where b is the branching factor and m the maximum path length</a:t>
            </a:r>
            <a:endParaRPr lang="en-GB" altLang="x-none" dirty="0">
              <a:solidFill>
                <a:srgbClr val="0000FF"/>
              </a:solidFill>
            </a:endParaRPr>
          </a:p>
          <a:p>
            <a:endParaRPr lang="en-US" dirty="0"/>
          </a:p>
        </p:txBody>
      </p:sp>
      <p:grpSp>
        <p:nvGrpSpPr>
          <p:cNvPr id="178179" name="Group 3"/>
          <p:cNvGrpSpPr>
            <a:grpSpLocks/>
          </p:cNvGrpSpPr>
          <p:nvPr/>
        </p:nvGrpSpPr>
        <p:grpSpPr bwMode="auto">
          <a:xfrm>
            <a:off x="3657600" y="1981200"/>
            <a:ext cx="457200" cy="457200"/>
            <a:chOff x="1344" y="1248"/>
            <a:chExt cx="288" cy="288"/>
          </a:xfrm>
        </p:grpSpPr>
        <p:sp>
          <p:nvSpPr>
            <p:cNvPr id="178180" name="Oval 4"/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8181" name="Text Box 5"/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x-none"/>
                <a:t>A</a:t>
              </a:r>
              <a:endParaRPr lang="en-GB" altLang="x-none"/>
            </a:p>
          </p:txBody>
        </p:sp>
      </p:grpSp>
      <p:grpSp>
        <p:nvGrpSpPr>
          <p:cNvPr id="178182" name="Group 6"/>
          <p:cNvGrpSpPr>
            <a:grpSpLocks/>
          </p:cNvGrpSpPr>
          <p:nvPr/>
        </p:nvGrpSpPr>
        <p:grpSpPr bwMode="auto">
          <a:xfrm>
            <a:off x="4724400" y="2514600"/>
            <a:ext cx="457200" cy="457200"/>
            <a:chOff x="1344" y="1248"/>
            <a:chExt cx="288" cy="288"/>
          </a:xfrm>
        </p:grpSpPr>
        <p:sp>
          <p:nvSpPr>
            <p:cNvPr id="178183" name="Oval 7"/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8184" name="Text Box 8"/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x-none"/>
                <a:t>B</a:t>
              </a:r>
              <a:endParaRPr lang="en-GB" altLang="x-none"/>
            </a:p>
          </p:txBody>
        </p:sp>
      </p:grpSp>
      <p:grpSp>
        <p:nvGrpSpPr>
          <p:cNvPr id="178185" name="Group 9"/>
          <p:cNvGrpSpPr>
            <a:grpSpLocks/>
          </p:cNvGrpSpPr>
          <p:nvPr/>
        </p:nvGrpSpPr>
        <p:grpSpPr bwMode="auto">
          <a:xfrm>
            <a:off x="2057400" y="3429000"/>
            <a:ext cx="457200" cy="457200"/>
            <a:chOff x="1344" y="1248"/>
            <a:chExt cx="288" cy="288"/>
          </a:xfrm>
        </p:grpSpPr>
        <p:sp>
          <p:nvSpPr>
            <p:cNvPr id="178186" name="Oval 10"/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8187" name="Text Box 11"/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x-none"/>
                <a:t>D</a:t>
              </a:r>
              <a:endParaRPr lang="en-GB" altLang="x-none"/>
            </a:p>
          </p:txBody>
        </p:sp>
      </p:grpSp>
      <p:grpSp>
        <p:nvGrpSpPr>
          <p:cNvPr id="178188" name="Group 12"/>
          <p:cNvGrpSpPr>
            <a:grpSpLocks/>
          </p:cNvGrpSpPr>
          <p:nvPr/>
        </p:nvGrpSpPr>
        <p:grpSpPr bwMode="auto">
          <a:xfrm>
            <a:off x="2590800" y="2667000"/>
            <a:ext cx="457200" cy="457200"/>
            <a:chOff x="1344" y="1248"/>
            <a:chExt cx="288" cy="288"/>
          </a:xfrm>
        </p:grpSpPr>
        <p:sp>
          <p:nvSpPr>
            <p:cNvPr id="178189" name="Oval 13"/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8190" name="Text Box 14"/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x-none"/>
                <a:t>C</a:t>
              </a:r>
              <a:endParaRPr lang="en-GB" altLang="x-none"/>
            </a:p>
          </p:txBody>
        </p:sp>
      </p:grpSp>
      <p:grpSp>
        <p:nvGrpSpPr>
          <p:cNvPr id="178191" name="Group 15"/>
          <p:cNvGrpSpPr>
            <a:grpSpLocks/>
          </p:cNvGrpSpPr>
          <p:nvPr/>
        </p:nvGrpSpPr>
        <p:grpSpPr bwMode="auto">
          <a:xfrm>
            <a:off x="3733800" y="3124200"/>
            <a:ext cx="457200" cy="457200"/>
            <a:chOff x="1344" y="1248"/>
            <a:chExt cx="288" cy="288"/>
          </a:xfrm>
        </p:grpSpPr>
        <p:sp>
          <p:nvSpPr>
            <p:cNvPr id="178192" name="Oval 16"/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8193" name="Text Box 17"/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x-none"/>
                <a:t>E</a:t>
              </a:r>
              <a:endParaRPr lang="en-GB" altLang="x-none"/>
            </a:p>
          </p:txBody>
        </p:sp>
      </p:grpSp>
      <p:grpSp>
        <p:nvGrpSpPr>
          <p:cNvPr id="178194" name="Group 18"/>
          <p:cNvGrpSpPr>
            <a:grpSpLocks/>
          </p:cNvGrpSpPr>
          <p:nvPr/>
        </p:nvGrpSpPr>
        <p:grpSpPr bwMode="auto">
          <a:xfrm>
            <a:off x="4419600" y="4038600"/>
            <a:ext cx="457200" cy="457200"/>
            <a:chOff x="1344" y="1248"/>
            <a:chExt cx="288" cy="288"/>
          </a:xfrm>
        </p:grpSpPr>
        <p:sp>
          <p:nvSpPr>
            <p:cNvPr id="178195" name="Oval 19"/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8196" name="Text Box 20"/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x-none"/>
                <a:t>F</a:t>
              </a:r>
              <a:endParaRPr lang="en-GB" altLang="x-none"/>
            </a:p>
          </p:txBody>
        </p:sp>
      </p:grpSp>
      <p:grpSp>
        <p:nvGrpSpPr>
          <p:cNvPr id="178197" name="Group 21"/>
          <p:cNvGrpSpPr>
            <a:grpSpLocks/>
          </p:cNvGrpSpPr>
          <p:nvPr/>
        </p:nvGrpSpPr>
        <p:grpSpPr bwMode="auto">
          <a:xfrm>
            <a:off x="3429000" y="5715000"/>
            <a:ext cx="457200" cy="457200"/>
            <a:chOff x="1344" y="1248"/>
            <a:chExt cx="288" cy="288"/>
          </a:xfrm>
        </p:grpSpPr>
        <p:sp>
          <p:nvSpPr>
            <p:cNvPr id="178198" name="Oval 22"/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8199" name="Text Box 23"/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x-none"/>
                <a:t>I</a:t>
              </a:r>
              <a:endParaRPr lang="en-GB" altLang="x-none"/>
            </a:p>
          </p:txBody>
        </p:sp>
      </p:grpSp>
      <p:sp>
        <p:nvSpPr>
          <p:cNvPr id="178200" name="Line 24"/>
          <p:cNvSpPr>
            <a:spLocks noChangeShapeType="1"/>
          </p:cNvSpPr>
          <p:nvPr/>
        </p:nvSpPr>
        <p:spPr bwMode="auto">
          <a:xfrm>
            <a:off x="3962400" y="3581400"/>
            <a:ext cx="609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8201" name="Line 25"/>
          <p:cNvSpPr>
            <a:spLocks noChangeShapeType="1"/>
          </p:cNvSpPr>
          <p:nvPr/>
        </p:nvSpPr>
        <p:spPr bwMode="auto">
          <a:xfrm flipH="1">
            <a:off x="3657600" y="4495800"/>
            <a:ext cx="99060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8202" name="Text Box 26"/>
          <p:cNvSpPr txBox="1">
            <a:spLocks noChangeArrowheads="1"/>
          </p:cNvSpPr>
          <p:nvPr/>
        </p:nvSpPr>
        <p:spPr bwMode="auto">
          <a:xfrm>
            <a:off x="4191000" y="3505201"/>
            <a:ext cx="609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b="1">
                <a:solidFill>
                  <a:schemeClr val="hlink"/>
                </a:solidFill>
              </a:rPr>
              <a:t>99</a:t>
            </a:r>
            <a:endParaRPr lang="en-GB" altLang="x-none" b="1">
              <a:solidFill>
                <a:schemeClr val="hlink"/>
              </a:solidFill>
            </a:endParaRPr>
          </a:p>
        </p:txBody>
      </p:sp>
      <p:sp>
        <p:nvSpPr>
          <p:cNvPr id="178203" name="Text Box 27"/>
          <p:cNvSpPr txBox="1">
            <a:spLocks noChangeArrowheads="1"/>
          </p:cNvSpPr>
          <p:nvPr/>
        </p:nvSpPr>
        <p:spPr bwMode="auto">
          <a:xfrm>
            <a:off x="4191000" y="5105401"/>
            <a:ext cx="762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b="1">
                <a:solidFill>
                  <a:schemeClr val="hlink"/>
                </a:solidFill>
              </a:rPr>
              <a:t>211</a:t>
            </a:r>
            <a:endParaRPr lang="en-GB" altLang="x-none" b="1">
              <a:solidFill>
                <a:schemeClr val="hlink"/>
              </a:solidFill>
            </a:endParaRPr>
          </a:p>
        </p:txBody>
      </p:sp>
      <p:grpSp>
        <p:nvGrpSpPr>
          <p:cNvPr id="178204" name="Group 28"/>
          <p:cNvGrpSpPr>
            <a:grpSpLocks/>
          </p:cNvGrpSpPr>
          <p:nvPr/>
        </p:nvGrpSpPr>
        <p:grpSpPr bwMode="auto">
          <a:xfrm>
            <a:off x="2895600" y="4038600"/>
            <a:ext cx="457200" cy="457200"/>
            <a:chOff x="1344" y="1248"/>
            <a:chExt cx="288" cy="288"/>
          </a:xfrm>
        </p:grpSpPr>
        <p:sp>
          <p:nvSpPr>
            <p:cNvPr id="178205" name="Oval 29"/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8206" name="Text Box 30"/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x-none"/>
                <a:t>G</a:t>
              </a:r>
              <a:endParaRPr lang="en-GB" altLang="x-none"/>
            </a:p>
          </p:txBody>
        </p:sp>
      </p:grpSp>
      <p:grpSp>
        <p:nvGrpSpPr>
          <p:cNvPr id="178207" name="Group 31"/>
          <p:cNvGrpSpPr>
            <a:grpSpLocks/>
          </p:cNvGrpSpPr>
          <p:nvPr/>
        </p:nvGrpSpPr>
        <p:grpSpPr bwMode="auto">
          <a:xfrm>
            <a:off x="2667000" y="4953000"/>
            <a:ext cx="457200" cy="457200"/>
            <a:chOff x="1344" y="1248"/>
            <a:chExt cx="288" cy="288"/>
          </a:xfrm>
        </p:grpSpPr>
        <p:sp>
          <p:nvSpPr>
            <p:cNvPr id="178208" name="Oval 32"/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8209" name="Text Box 33"/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x-none"/>
                <a:t>H</a:t>
              </a:r>
              <a:endParaRPr lang="en-GB" altLang="x-none"/>
            </a:p>
          </p:txBody>
        </p:sp>
      </p:grpSp>
      <p:sp>
        <p:nvSpPr>
          <p:cNvPr id="178210" name="Line 34"/>
          <p:cNvSpPr>
            <a:spLocks noChangeShapeType="1"/>
          </p:cNvSpPr>
          <p:nvPr/>
        </p:nvSpPr>
        <p:spPr bwMode="auto">
          <a:xfrm flipH="1">
            <a:off x="3048000" y="3581400"/>
            <a:ext cx="914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8211" name="Line 35"/>
          <p:cNvSpPr>
            <a:spLocks noChangeShapeType="1"/>
          </p:cNvSpPr>
          <p:nvPr/>
        </p:nvSpPr>
        <p:spPr bwMode="auto">
          <a:xfrm flipH="1">
            <a:off x="2895600" y="4495800"/>
            <a:ext cx="228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8212" name="Line 36"/>
          <p:cNvSpPr>
            <a:spLocks noChangeShapeType="1"/>
          </p:cNvSpPr>
          <p:nvPr/>
        </p:nvSpPr>
        <p:spPr bwMode="auto">
          <a:xfrm>
            <a:off x="2895600" y="5410200"/>
            <a:ext cx="762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8213" name="Text Box 37"/>
          <p:cNvSpPr txBox="1">
            <a:spLocks noChangeArrowheads="1"/>
          </p:cNvSpPr>
          <p:nvPr/>
        </p:nvSpPr>
        <p:spPr bwMode="auto">
          <a:xfrm>
            <a:off x="3124200" y="3505201"/>
            <a:ext cx="609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b="1">
                <a:solidFill>
                  <a:schemeClr val="hlink"/>
                </a:solidFill>
              </a:rPr>
              <a:t>80</a:t>
            </a:r>
            <a:endParaRPr lang="en-GB" altLang="x-none" b="1">
              <a:solidFill>
                <a:schemeClr val="hlink"/>
              </a:solidFill>
            </a:endParaRPr>
          </a:p>
        </p:txBody>
      </p:sp>
      <p:sp>
        <p:nvSpPr>
          <p:cNvPr id="178214" name="Line 38"/>
          <p:cNvSpPr>
            <a:spLocks noChangeShapeType="1"/>
          </p:cNvSpPr>
          <p:nvPr/>
        </p:nvSpPr>
        <p:spPr bwMode="auto">
          <a:xfrm>
            <a:off x="3886200" y="2438400"/>
            <a:ext cx="10668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8215" name="Line 39"/>
          <p:cNvSpPr>
            <a:spLocks noChangeShapeType="1"/>
          </p:cNvSpPr>
          <p:nvPr/>
        </p:nvSpPr>
        <p:spPr bwMode="auto">
          <a:xfrm>
            <a:off x="3886200" y="2438400"/>
            <a:ext cx="76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8216" name="Line 40"/>
          <p:cNvSpPr>
            <a:spLocks noChangeShapeType="1"/>
          </p:cNvSpPr>
          <p:nvPr/>
        </p:nvSpPr>
        <p:spPr bwMode="auto">
          <a:xfrm flipH="1">
            <a:off x="2819400" y="2438400"/>
            <a:ext cx="10668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8217" name="Line 41"/>
          <p:cNvSpPr>
            <a:spLocks noChangeShapeType="1"/>
          </p:cNvSpPr>
          <p:nvPr/>
        </p:nvSpPr>
        <p:spPr bwMode="auto">
          <a:xfrm flipH="1">
            <a:off x="2286000" y="3124200"/>
            <a:ext cx="5334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8218" name="Text Box 42"/>
          <p:cNvSpPr txBox="1">
            <a:spLocks noChangeArrowheads="1"/>
          </p:cNvSpPr>
          <p:nvPr/>
        </p:nvSpPr>
        <p:spPr bwMode="auto">
          <a:xfrm>
            <a:off x="4114800" y="1828801"/>
            <a:ext cx="1219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/>
              <a:t>Start</a:t>
            </a:r>
            <a:endParaRPr lang="en-GB" altLang="x-none"/>
          </a:p>
        </p:txBody>
      </p:sp>
      <p:sp>
        <p:nvSpPr>
          <p:cNvPr id="178219" name="Text Box 43"/>
          <p:cNvSpPr txBox="1">
            <a:spLocks noChangeArrowheads="1"/>
          </p:cNvSpPr>
          <p:nvPr/>
        </p:nvSpPr>
        <p:spPr bwMode="auto">
          <a:xfrm>
            <a:off x="3962400" y="6019801"/>
            <a:ext cx="1219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/>
              <a:t>Goal</a:t>
            </a:r>
            <a:endParaRPr lang="en-GB" altLang="x-none"/>
          </a:p>
        </p:txBody>
      </p:sp>
      <p:sp>
        <p:nvSpPr>
          <p:cNvPr id="178220" name="Text Box 44"/>
          <p:cNvSpPr txBox="1">
            <a:spLocks noChangeArrowheads="1"/>
          </p:cNvSpPr>
          <p:nvPr/>
        </p:nvSpPr>
        <p:spPr bwMode="auto">
          <a:xfrm>
            <a:off x="2514600" y="4572001"/>
            <a:ext cx="609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b="1">
                <a:solidFill>
                  <a:schemeClr val="hlink"/>
                </a:solidFill>
              </a:rPr>
              <a:t>97</a:t>
            </a:r>
            <a:endParaRPr lang="en-GB" altLang="x-none" b="1">
              <a:solidFill>
                <a:schemeClr val="hlink"/>
              </a:solidFill>
            </a:endParaRPr>
          </a:p>
        </p:txBody>
      </p:sp>
      <p:sp>
        <p:nvSpPr>
          <p:cNvPr id="178221" name="Text Box 45"/>
          <p:cNvSpPr txBox="1">
            <a:spLocks noChangeArrowheads="1"/>
          </p:cNvSpPr>
          <p:nvPr/>
        </p:nvSpPr>
        <p:spPr bwMode="auto">
          <a:xfrm>
            <a:off x="2819400" y="5486401"/>
            <a:ext cx="838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b="1">
                <a:solidFill>
                  <a:schemeClr val="hlink"/>
                </a:solidFill>
              </a:rPr>
              <a:t>101</a:t>
            </a:r>
            <a:endParaRPr lang="en-GB" altLang="x-none" b="1">
              <a:solidFill>
                <a:schemeClr val="hlink"/>
              </a:solidFill>
            </a:endParaRPr>
          </a:p>
        </p:txBody>
      </p:sp>
      <p:sp>
        <p:nvSpPr>
          <p:cNvPr id="178222" name="Text Box 46"/>
          <p:cNvSpPr txBox="1">
            <a:spLocks noChangeArrowheads="1"/>
          </p:cNvSpPr>
          <p:nvPr/>
        </p:nvSpPr>
        <p:spPr bwMode="auto">
          <a:xfrm>
            <a:off x="4343400" y="2133601"/>
            <a:ext cx="609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b="1">
                <a:solidFill>
                  <a:schemeClr val="hlink"/>
                </a:solidFill>
              </a:rPr>
              <a:t>75</a:t>
            </a:r>
            <a:endParaRPr lang="en-GB" altLang="x-none" b="1">
              <a:solidFill>
                <a:schemeClr val="hlink"/>
              </a:solidFill>
            </a:endParaRPr>
          </a:p>
        </p:txBody>
      </p:sp>
      <p:sp>
        <p:nvSpPr>
          <p:cNvPr id="178223" name="Text Box 47"/>
          <p:cNvSpPr txBox="1">
            <a:spLocks noChangeArrowheads="1"/>
          </p:cNvSpPr>
          <p:nvPr/>
        </p:nvSpPr>
        <p:spPr bwMode="auto">
          <a:xfrm>
            <a:off x="2895600" y="2209801"/>
            <a:ext cx="762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b="1">
                <a:solidFill>
                  <a:schemeClr val="hlink"/>
                </a:solidFill>
              </a:rPr>
              <a:t>118</a:t>
            </a:r>
            <a:endParaRPr lang="en-GB" altLang="x-none" b="1">
              <a:solidFill>
                <a:schemeClr val="hlink"/>
              </a:solidFill>
            </a:endParaRPr>
          </a:p>
        </p:txBody>
      </p:sp>
      <p:sp>
        <p:nvSpPr>
          <p:cNvPr id="178224" name="Text Box 48"/>
          <p:cNvSpPr txBox="1">
            <a:spLocks noChangeArrowheads="1"/>
          </p:cNvSpPr>
          <p:nvPr/>
        </p:nvSpPr>
        <p:spPr bwMode="auto">
          <a:xfrm>
            <a:off x="1905000" y="3048001"/>
            <a:ext cx="762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b="1">
                <a:solidFill>
                  <a:schemeClr val="hlink"/>
                </a:solidFill>
              </a:rPr>
              <a:t>111</a:t>
            </a:r>
            <a:endParaRPr lang="en-GB" altLang="x-none" b="1">
              <a:solidFill>
                <a:schemeClr val="hlink"/>
              </a:solidFill>
            </a:endParaRPr>
          </a:p>
        </p:txBody>
      </p:sp>
      <p:sp>
        <p:nvSpPr>
          <p:cNvPr id="178226" name="Text Box 50"/>
          <p:cNvSpPr txBox="1">
            <a:spLocks noChangeArrowheads="1"/>
          </p:cNvSpPr>
          <p:nvPr/>
        </p:nvSpPr>
        <p:spPr bwMode="auto">
          <a:xfrm>
            <a:off x="3886200" y="2681288"/>
            <a:ext cx="762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b="1">
                <a:solidFill>
                  <a:schemeClr val="hlink"/>
                </a:solidFill>
              </a:rPr>
              <a:t>140</a:t>
            </a:r>
            <a:endParaRPr lang="en-GB" altLang="x-none" b="1">
              <a:solidFill>
                <a:schemeClr val="hlin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871887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812" y="436538"/>
            <a:ext cx="4304714" cy="5875164"/>
          </a:xfrm>
          <a:prstGeom prst="rect">
            <a:avLst/>
          </a:prstGeom>
        </p:spPr>
      </p:pic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6096427"/>
              </p:ext>
            </p:extLst>
          </p:nvPr>
        </p:nvGraphicFramePr>
        <p:xfrm>
          <a:off x="4690793" y="1149080"/>
          <a:ext cx="7501207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5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326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39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90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Frontier (Greedy)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Explored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(A,40)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Empty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(A-B,32)(A-C,25)(A-D,35)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(A-B,32)(A-D,35) (A-C-E,19)(A-C-F,17)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A,C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(A-B,32)(A-D,35) (A-C-E,19)(A-C-F-G,0)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A,C,F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(A-C-F-G,0) Goal</a:t>
                      </a:r>
                      <a:r>
                        <a:rPr lang="en-US" baseline="0" dirty="0"/>
                        <a:t> Found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897328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812" y="436538"/>
            <a:ext cx="4304714" cy="5875164"/>
          </a:xfrm>
          <a:prstGeom prst="rect">
            <a:avLst/>
          </a:prstGeom>
        </p:spPr>
      </p:pic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8478121"/>
              </p:ext>
            </p:extLst>
          </p:nvPr>
        </p:nvGraphicFramePr>
        <p:xfrm>
          <a:off x="4690793" y="42643"/>
          <a:ext cx="7501207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5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326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39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90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Frontier (Greedy)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Explored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(A,40)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Empty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(A-C,25) (A-B,32)(A-D,35)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(A-B,32)(A-D,35)(A-C-F,17)(A-C-E,19)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A,C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(A-B,32)(A-D,35)(A-C-F-G,0)(A-C-E,19)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A,C,F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(A-C-F-G)  Goal Found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A,C,F,G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1402992"/>
              </p:ext>
            </p:extLst>
          </p:nvPr>
        </p:nvGraphicFramePr>
        <p:xfrm>
          <a:off x="4690792" y="2390384"/>
          <a:ext cx="7501207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5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326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39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90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Frontier (UCS)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Explored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(A,0)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(A-B,11)(A-C,14)(A-D,7)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(A-B,11)(A-C,14)(A-D-F,32)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A,D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(A-B-E,26)(A-C,14)(A-D-F,32)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A,D,B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(A-B-E,26)(A-C-F,24)(A-C-E,22)(A-D-F,32)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A,D,B,C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(A-B-E,26)(A-C-F,24)(A-C-E-H,31)(A-D-F,32)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A,D,B,C,E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(A-B-E,26)(A-C-F-G,44)(A-C-E-H,31)(A-D-F,32)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A,D,B,C,E,F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trike="sngStrike" dirty="0"/>
                        <a:t>(A-B-E,26)</a:t>
                      </a:r>
                      <a:r>
                        <a:rPr lang="en-US" dirty="0"/>
                        <a:t>(A-C-F-G,44)(A-C-E-H,31)(A-D-F,32)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trike="sngStrike" dirty="0"/>
                        <a:t>(A-B-E,26)</a:t>
                      </a:r>
                      <a:r>
                        <a:rPr lang="en-US" dirty="0"/>
                        <a:t>(A-C-F-G,44)(A-C-E-H,31)</a:t>
                      </a:r>
                      <a:r>
                        <a:rPr lang="en-US" strike="sngStrike" dirty="0"/>
                        <a:t>(A-D-F,32)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A-C-E-H-G,41 </a:t>
                      </a:r>
                      <a:r>
                        <a:rPr lang="en-US"/>
                        <a:t>Goal</a:t>
                      </a:r>
                      <a:r>
                        <a:rPr lang="en-US" baseline="0"/>
                        <a:t> Found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289688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Heuristics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Problem:</a:t>
            </a:r>
          </a:p>
          <a:p>
            <a:pPr lvl="1"/>
            <a:r>
              <a:rPr lang="en-US" dirty="0"/>
              <a:t>A heuristic is only an informed guess of the next step to be taken in solving a problem. </a:t>
            </a:r>
          </a:p>
          <a:p>
            <a:pPr lvl="1"/>
            <a:r>
              <a:rPr lang="en-US" dirty="0"/>
              <a:t>It is often based on experience or intuition. </a:t>
            </a:r>
          </a:p>
          <a:p>
            <a:pPr lvl="1"/>
            <a:r>
              <a:rPr lang="en-US" dirty="0"/>
              <a:t>Heuristics use limited information, such as knowledge of the present situation or descriptions of states currently on the open list.</a:t>
            </a:r>
          </a:p>
          <a:p>
            <a:pPr lvl="1"/>
            <a:r>
              <a:rPr lang="en-US" dirty="0"/>
              <a:t>They are not always able to predict the exact behavior of the state space farther along in the search.</a:t>
            </a:r>
          </a:p>
          <a:p>
            <a:pPr lvl="1"/>
            <a:r>
              <a:rPr lang="en-US" dirty="0"/>
              <a:t>A heuristic can lead a search algorithm to a suboptimal solution or fail to find any solution at all. This is an </a:t>
            </a:r>
            <a:r>
              <a:rPr lang="en-US" b="1" dirty="0"/>
              <a:t>inherent limitation </a:t>
            </a:r>
            <a:r>
              <a:rPr lang="en-US" dirty="0"/>
              <a:t>of heuristic search.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8846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3355</TotalTime>
  <Words>2342</Words>
  <Application>Microsoft Office PowerPoint</Application>
  <PresentationFormat>Widescreen</PresentationFormat>
  <Paragraphs>612</Paragraphs>
  <Slides>49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8" baseType="lpstr">
      <vt:lpstr>Arial</vt:lpstr>
      <vt:lpstr>Calibri</vt:lpstr>
      <vt:lpstr>Calibri Light</vt:lpstr>
      <vt:lpstr>Cambria Math</vt:lpstr>
      <vt:lpstr>Google Sans Text</vt:lpstr>
      <vt:lpstr>Tahoma</vt:lpstr>
      <vt:lpstr>Times New Roman</vt:lpstr>
      <vt:lpstr>Wingdings</vt:lpstr>
      <vt:lpstr>Office Theme</vt:lpstr>
      <vt:lpstr>Informed Search</vt:lpstr>
      <vt:lpstr>Recap: Search</vt:lpstr>
      <vt:lpstr>Uninformed vs. Informed Search</vt:lpstr>
      <vt:lpstr>Today</vt:lpstr>
      <vt:lpstr>PowerPoint Presentation</vt:lpstr>
      <vt:lpstr>PowerPoint Presentation</vt:lpstr>
      <vt:lpstr>Using problem specific knowledge to aid searching</vt:lpstr>
      <vt:lpstr>What are Heuristics?</vt:lpstr>
      <vt:lpstr>When Heuristics are used?</vt:lpstr>
      <vt:lpstr>Why heuristic functions work?</vt:lpstr>
      <vt:lpstr>Evaluation Function</vt:lpstr>
      <vt:lpstr>Evaluation / Heuristic Function </vt:lpstr>
      <vt:lpstr>How it works?</vt:lpstr>
      <vt:lpstr>Heuristic Search</vt:lpstr>
      <vt:lpstr>Example: Heuristic Function</vt:lpstr>
      <vt:lpstr>PowerPoint Presentation</vt:lpstr>
      <vt:lpstr>PowerPoint Presentation</vt:lpstr>
      <vt:lpstr>PowerPoint Presentation</vt:lpstr>
      <vt:lpstr>8–Puzzle: Heuristics?</vt:lpstr>
      <vt:lpstr>PowerPoint Presentation</vt:lpstr>
      <vt:lpstr>PowerPoint Presentation</vt:lpstr>
      <vt:lpstr>PowerPoint Presentation</vt:lpstr>
      <vt:lpstr>PowerPoint Presentation</vt:lpstr>
      <vt:lpstr>Greedy Best First Search</vt:lpstr>
      <vt:lpstr>Greedy (Best-First) Search</vt:lpstr>
      <vt:lpstr>PowerPoint Presentation</vt:lpstr>
      <vt:lpstr>Greedy Search</vt:lpstr>
      <vt:lpstr>Greedy Search</vt:lpstr>
      <vt:lpstr>Greedy Search</vt:lpstr>
      <vt:lpstr>PowerPoint Presentation</vt:lpstr>
      <vt:lpstr>Best First Search</vt:lpstr>
      <vt:lpstr>Greedy Search</vt:lpstr>
      <vt:lpstr>Greedy Search: Tree Search</vt:lpstr>
      <vt:lpstr>Greedy Search: Tree Search</vt:lpstr>
      <vt:lpstr>Greedy Search: Tree Search</vt:lpstr>
      <vt:lpstr>Greedy Search: Tree Search</vt:lpstr>
      <vt:lpstr>Greedy Search: Tree Search</vt:lpstr>
      <vt:lpstr>Greedy Search: Optimal? </vt:lpstr>
      <vt:lpstr>Greedy Search: Complete ?</vt:lpstr>
      <vt:lpstr>Greedy Search: Tree Search</vt:lpstr>
      <vt:lpstr>Greedy Search: Tree Search</vt:lpstr>
      <vt:lpstr>Greedy Search: Tree Search</vt:lpstr>
      <vt:lpstr>Greedy Search: Tree Search</vt:lpstr>
      <vt:lpstr>Greedy Search: Tree Search</vt:lpstr>
      <vt:lpstr>Greedy Search: Tree Search</vt:lpstr>
      <vt:lpstr>Greedy Search: Time and Space Complexity ?</vt:lpstr>
      <vt:lpstr>PowerPoint Presentation</vt:lpstr>
      <vt:lpstr>PowerPoint Presentation</vt:lpstr>
      <vt:lpstr>Heuristics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Informed Search</dc:title>
  <dc:creator>FARHAN DAWOOD</dc:creator>
  <cp:lastModifiedBy>Sibghat Ullah</cp:lastModifiedBy>
  <cp:revision>99</cp:revision>
  <cp:lastPrinted>2025-04-14T05:11:01Z</cp:lastPrinted>
  <dcterms:created xsi:type="dcterms:W3CDTF">2019-03-21T10:09:13Z</dcterms:created>
  <dcterms:modified xsi:type="dcterms:W3CDTF">2026-03-23T17:58:05Z</dcterms:modified>
</cp:coreProperties>
</file>