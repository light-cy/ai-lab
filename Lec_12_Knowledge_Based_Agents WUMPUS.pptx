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97" r:id="rId3"/>
    <p:sldId id="301" r:id="rId4"/>
    <p:sldId id="257" r:id="rId5"/>
    <p:sldId id="299" r:id="rId6"/>
    <p:sldId id="259" r:id="rId7"/>
    <p:sldId id="260" r:id="rId8"/>
    <p:sldId id="353" r:id="rId9"/>
    <p:sldId id="343" r:id="rId10"/>
    <p:sldId id="262" r:id="rId11"/>
    <p:sldId id="345" r:id="rId12"/>
    <p:sldId id="354" r:id="rId13"/>
    <p:sldId id="264" r:id="rId14"/>
    <p:sldId id="300" r:id="rId15"/>
    <p:sldId id="269" r:id="rId16"/>
    <p:sldId id="265" r:id="rId17"/>
    <p:sldId id="266" r:id="rId18"/>
    <p:sldId id="267" r:id="rId19"/>
    <p:sldId id="268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351" r:id="rId29"/>
    <p:sldId id="279" r:id="rId30"/>
    <p:sldId id="35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E8F2A-12C8-4AAB-964E-87746FC251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82028-0AC9-419E-8895-3B51BC2E0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8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C236264-8280-49F8-9C33-0C510931F18B}" type="slidenum">
              <a:rPr lang="en-US" altLang="fi-FI" sz="1200"/>
              <a:pPr/>
              <a:t>17</a:t>
            </a:fld>
            <a:endParaRPr lang="en-US" altLang="fi-FI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62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01D875F-85DD-4F84-913D-FCC212DB2F82}" type="slidenum">
              <a:rPr lang="en-US" altLang="fi-FI" sz="1200"/>
              <a:pPr/>
              <a:t>18</a:t>
            </a:fld>
            <a:endParaRPr lang="en-US" altLang="fi-FI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657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A074735-F632-43ED-9515-8F3EE339CF6E}" type="slidenum">
              <a:rPr lang="en-US" altLang="fi-FI" sz="1200"/>
              <a:pPr/>
              <a:t>19</a:t>
            </a:fld>
            <a:endParaRPr lang="en-US" altLang="fi-FI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686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6B253B3-E321-4954-B586-C6443A91D373}" type="slidenum">
              <a:rPr lang="en-US" altLang="fi-FI" sz="1200"/>
              <a:pPr/>
              <a:t>20</a:t>
            </a:fld>
            <a:endParaRPr lang="en-US" altLang="fi-FI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65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BDA7829-489A-4C58-B8CC-BF94A981F3BD}" type="slidenum">
              <a:rPr lang="en-US" altLang="fi-FI" sz="1200"/>
              <a:pPr/>
              <a:t>21</a:t>
            </a:fld>
            <a:endParaRPr lang="en-US" altLang="fi-FI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67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1969D5A-ADCE-4D93-839D-D1D0A6792EEA}" type="slidenum">
              <a:rPr lang="en-US" altLang="fi-FI" sz="1200"/>
              <a:pPr/>
              <a:t>22</a:t>
            </a:fld>
            <a:endParaRPr lang="en-US" altLang="fi-FI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015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D74C3D0-58EB-4CA7-8E26-4F19DCAE29D9}" type="slidenum">
              <a:rPr lang="en-US" altLang="fi-FI" sz="1200"/>
              <a:pPr/>
              <a:t>23</a:t>
            </a:fld>
            <a:endParaRPr lang="en-US" altLang="fi-FI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11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D1F54CD-2511-4F8C-95A9-DBAA16ABF6DE}" type="slidenum">
              <a:rPr lang="en-US" altLang="fi-FI" sz="1200"/>
              <a:pPr/>
              <a:t>24</a:t>
            </a:fld>
            <a:endParaRPr lang="en-US" altLang="fi-FI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849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936714D-6B60-415D-9259-14FA4F08A5FD}" type="slidenum">
              <a:rPr lang="en-US" altLang="fi-FI" sz="1200"/>
              <a:pPr/>
              <a:t>25</a:t>
            </a:fld>
            <a:endParaRPr lang="en-US" altLang="fi-FI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913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62037DC-E84F-462C-99C4-B8C10AD8A0F8}" type="slidenum">
              <a:rPr lang="en-US" altLang="fi-FI" sz="1200"/>
              <a:pPr/>
              <a:t>26</a:t>
            </a:fld>
            <a:endParaRPr lang="en-US" altLang="fi-FI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789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00CC03F-48A4-46C6-96A8-BEFF5B2D8348}" type="slidenum">
              <a:rPr lang="en-US" altLang="fi-FI" sz="1200"/>
              <a:pPr/>
              <a:t>27</a:t>
            </a:fld>
            <a:endParaRPr lang="en-US" altLang="fi-FI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708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03F456E-A76B-4754-B9F7-4133B608188E}" type="slidenum">
              <a:rPr lang="en-US" altLang="fi-FI" sz="1200"/>
              <a:pPr/>
              <a:t>29</a:t>
            </a:fld>
            <a:endParaRPr lang="en-US" altLang="fi-FI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i-FI" altLang="fi-FI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562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9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4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6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8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8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9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4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7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7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E37F2-A513-4A93-97AC-091C25CE26A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F40AF-A804-4E50-B00A-B4E4EC483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6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Knowledge Based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48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Knowledge-based agents</a:t>
            </a:r>
          </a:p>
          <a:p>
            <a:r>
              <a:rPr lang="en-US" dirty="0" err="1"/>
              <a:t>Wumpus</a:t>
            </a:r>
            <a:r>
              <a:rPr lang="en-US" dirty="0"/>
              <a:t> world</a:t>
            </a:r>
          </a:p>
          <a:p>
            <a:r>
              <a:rPr lang="en-US" dirty="0"/>
              <a:t>Logic in general - models and entailment</a:t>
            </a:r>
          </a:p>
          <a:p>
            <a:r>
              <a:rPr lang="en-US" dirty="0"/>
              <a:t>Propositional (Boolean) logic</a:t>
            </a:r>
          </a:p>
          <a:p>
            <a:r>
              <a:rPr lang="en-US" dirty="0"/>
              <a:t>Equivalence, validity, satisfiability</a:t>
            </a:r>
          </a:p>
        </p:txBody>
      </p:sp>
    </p:spTree>
    <p:extLst>
      <p:ext uri="{BB962C8B-B14F-4D97-AF65-F5344CB8AC3E}">
        <p14:creationId xmlns:p14="http://schemas.microsoft.com/office/powerpoint/2010/main" val="268398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Logical agents and environments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715168" y="2459789"/>
            <a:ext cx="8966201" cy="4398211"/>
            <a:chOff x="2209800" y="3194447"/>
            <a:chExt cx="4692252" cy="1434703"/>
          </a:xfrm>
        </p:grpSpPr>
        <p:sp>
          <p:nvSpPr>
            <p:cNvPr id="19" name="AutoShape 7"/>
            <p:cNvSpPr>
              <a:spLocks/>
            </p:cNvSpPr>
            <p:nvPr/>
          </p:nvSpPr>
          <p:spPr bwMode="auto">
            <a:xfrm>
              <a:off x="2209800" y="3200398"/>
              <a:ext cx="2155031" cy="1309688"/>
            </a:xfrm>
            <a:prstGeom prst="roundRect">
              <a:avLst>
                <a:gd name="adj" fmla="val 10912"/>
              </a:avLst>
            </a:prstGeom>
            <a:solidFill>
              <a:srgbClr val="9FB0D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 sz="3200">
                <a:latin typeface="Calibri" pitchFamily="34" charset="0"/>
              </a:endParaRPr>
            </a:p>
          </p:txBody>
        </p:sp>
        <p:sp>
          <p:nvSpPr>
            <p:cNvPr id="20" name="Line 8"/>
            <p:cNvSpPr>
              <a:spLocks noChangeShapeType="1"/>
            </p:cNvSpPr>
            <p:nvPr/>
          </p:nvSpPr>
          <p:spPr bwMode="auto">
            <a:xfrm rot="10800000">
              <a:off x="3327068" y="3556393"/>
              <a:ext cx="1" cy="719532"/>
            </a:xfrm>
            <a:prstGeom prst="line">
              <a:avLst/>
            </a:prstGeom>
            <a:noFill/>
            <a:ln w="76200" cmpd="sng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 lIns="68579" tIns="34289" rIns="68579" bIns="34289"/>
            <a:lstStyle/>
            <a:p>
              <a:endParaRPr lang="en-US" sz="3200">
                <a:latin typeface="Calibri" pitchFamily="34" charset="0"/>
              </a:endParaRPr>
            </a:p>
          </p:txBody>
        </p:sp>
        <p:sp>
          <p:nvSpPr>
            <p:cNvPr id="21" name="Rectangle 9"/>
            <p:cNvSpPr>
              <a:spLocks/>
            </p:cNvSpPr>
            <p:nvPr/>
          </p:nvSpPr>
          <p:spPr bwMode="auto">
            <a:xfrm>
              <a:off x="2286000" y="3226592"/>
              <a:ext cx="790575" cy="352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0479" bIns="0"/>
            <a:lstStyle/>
            <a:p>
              <a:pPr marL="29765"/>
              <a:r>
                <a:rPr lang="en-US" sz="3200" b="1" dirty="0">
                  <a:latin typeface="Calibri" pitchFamily="34" charset="0"/>
                  <a:cs typeface="Arial" charset="0"/>
                </a:rPr>
                <a:t>Agent</a:t>
              </a:r>
            </a:p>
          </p:txBody>
        </p:sp>
        <p:grpSp>
          <p:nvGrpSpPr>
            <p:cNvPr id="25" name="Group 13"/>
            <p:cNvGrpSpPr>
              <a:grpSpLocks/>
            </p:cNvGrpSpPr>
            <p:nvPr/>
          </p:nvGrpSpPr>
          <p:grpSpPr bwMode="auto">
            <a:xfrm>
              <a:off x="2749152" y="3400425"/>
              <a:ext cx="1104900" cy="1059657"/>
              <a:chOff x="0" y="-6"/>
              <a:chExt cx="928" cy="890"/>
            </a:xfrm>
          </p:grpSpPr>
          <p:sp>
            <p:nvSpPr>
              <p:cNvPr id="26" name="Rectangle 14"/>
              <p:cNvSpPr>
                <a:spLocks/>
              </p:cNvSpPr>
              <p:nvPr/>
            </p:nvSpPr>
            <p:spPr bwMode="auto">
              <a:xfrm>
                <a:off x="52" y="-6"/>
                <a:ext cx="824" cy="30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40639" bIns="0"/>
              <a:lstStyle/>
              <a:p>
                <a:pPr marL="29765" algn="ctr"/>
                <a:r>
                  <a:rPr lang="en-US" sz="3200" dirty="0">
                    <a:latin typeface="Calibri" pitchFamily="34" charset="0"/>
                    <a:cs typeface="Arial" charset="0"/>
                  </a:rPr>
                  <a:t>Sensors</a:t>
                </a:r>
              </a:p>
            </p:txBody>
          </p:sp>
          <p:sp>
            <p:nvSpPr>
              <p:cNvPr id="27" name="Rectangle 15"/>
              <p:cNvSpPr>
                <a:spLocks/>
              </p:cNvSpPr>
              <p:nvPr/>
            </p:nvSpPr>
            <p:spPr bwMode="auto">
              <a:xfrm>
                <a:off x="0" y="707"/>
                <a:ext cx="928" cy="17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40639" bIns="0"/>
              <a:lstStyle/>
              <a:p>
                <a:pPr marL="29765" algn="ctr"/>
                <a:r>
                  <a:rPr lang="en-US" sz="3200" dirty="0">
                    <a:latin typeface="Calibri" pitchFamily="34" charset="0"/>
                    <a:cs typeface="Arial" charset="0"/>
                  </a:rPr>
                  <a:t>Actuators</a:t>
                </a:r>
              </a:p>
            </p:txBody>
          </p:sp>
        </p:grpSp>
        <p:sp>
          <p:nvSpPr>
            <p:cNvPr id="28" name="AutoShape 16"/>
            <p:cNvSpPr>
              <a:spLocks/>
            </p:cNvSpPr>
            <p:nvPr/>
          </p:nvSpPr>
          <p:spPr bwMode="auto">
            <a:xfrm>
              <a:off x="5380433" y="3194447"/>
              <a:ext cx="1428750" cy="1304925"/>
            </a:xfrm>
            <a:prstGeom prst="roundRect">
              <a:avLst>
                <a:gd name="adj" fmla="val 10944"/>
              </a:avLst>
            </a:prstGeom>
            <a:solidFill>
              <a:srgbClr val="9FB0D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 sz="3200">
                <a:latin typeface="Calibri" pitchFamily="34" charset="0"/>
              </a:endParaRPr>
            </a:p>
          </p:txBody>
        </p:sp>
        <p:sp>
          <p:nvSpPr>
            <p:cNvPr id="29" name="Rectangle 17"/>
            <p:cNvSpPr>
              <a:spLocks/>
            </p:cNvSpPr>
            <p:nvPr/>
          </p:nvSpPr>
          <p:spPr bwMode="auto">
            <a:xfrm>
              <a:off x="5282802" y="3257550"/>
              <a:ext cx="1619250" cy="352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0479" bIns="0"/>
            <a:lstStyle/>
            <a:p>
              <a:pPr marL="29765" algn="ctr"/>
              <a:r>
                <a:rPr lang="en-US" sz="3200" b="1" dirty="0">
                  <a:latin typeface="Calibri" pitchFamily="34" charset="0"/>
                  <a:cs typeface="Arial" charset="0"/>
                </a:rPr>
                <a:t>Environment</a:t>
              </a: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 rot="10800000" flipH="1">
              <a:off x="3896915" y="3539368"/>
              <a:ext cx="1859756" cy="0"/>
            </a:xfrm>
            <a:prstGeom prst="line">
              <a:avLst/>
            </a:prstGeom>
            <a:noFill/>
            <a:ln w="76200" cmpd="sng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 lIns="68579" tIns="34289" rIns="68579" bIns="34289"/>
            <a:lstStyle/>
            <a:p>
              <a:endParaRPr lang="en-US" sz="3200">
                <a:latin typeface="Calibri" pitchFamily="34" charset="0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H="1">
              <a:off x="3989783" y="4324350"/>
              <a:ext cx="1760934" cy="0"/>
            </a:xfrm>
            <a:prstGeom prst="line">
              <a:avLst/>
            </a:prstGeom>
            <a:noFill/>
            <a:ln w="76200" cmpd="sng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 lIns="68579" tIns="34289" rIns="68579" bIns="34289"/>
            <a:lstStyle/>
            <a:p>
              <a:endParaRPr lang="en-US" sz="3200">
                <a:latin typeface="Calibri" pitchFamily="34" charset="0"/>
              </a:endParaRPr>
            </a:p>
          </p:txBody>
        </p:sp>
        <p:sp>
          <p:nvSpPr>
            <p:cNvPr id="32" name="Rectangle 20"/>
            <p:cNvSpPr>
              <a:spLocks/>
            </p:cNvSpPr>
            <p:nvPr/>
          </p:nvSpPr>
          <p:spPr bwMode="auto">
            <a:xfrm>
              <a:off x="4396977" y="3550084"/>
              <a:ext cx="942975" cy="266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0479" bIns="0"/>
            <a:lstStyle/>
            <a:p>
              <a:pPr marL="29765" algn="ctr"/>
              <a:r>
                <a:rPr lang="en-US" sz="2400" dirty="0">
                  <a:latin typeface="Calibri" pitchFamily="34" charset="0"/>
                  <a:cs typeface="Arial" charset="0"/>
                </a:rPr>
                <a:t>Percepts</a:t>
              </a:r>
            </a:p>
          </p:txBody>
        </p:sp>
        <p:sp>
          <p:nvSpPr>
            <p:cNvPr id="33" name="Rectangle 21"/>
            <p:cNvSpPr>
              <a:spLocks/>
            </p:cNvSpPr>
            <p:nvPr/>
          </p:nvSpPr>
          <p:spPr bwMode="auto">
            <a:xfrm>
              <a:off x="4463652" y="4324350"/>
              <a:ext cx="809625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0479" bIns="0"/>
            <a:lstStyle/>
            <a:p>
              <a:pPr marL="29765" algn="ctr"/>
              <a:r>
                <a:rPr lang="en-US" sz="2400" dirty="0">
                  <a:latin typeface="Calibri" pitchFamily="34" charset="0"/>
                  <a:cs typeface="Arial" charset="0"/>
                </a:rPr>
                <a:t>Actions</a:t>
              </a:r>
            </a:p>
          </p:txBody>
        </p:sp>
      </p:grpSp>
      <p:sp>
        <p:nvSpPr>
          <p:cNvPr id="37" name="AutoShape 11"/>
          <p:cNvSpPr>
            <a:spLocks/>
          </p:cNvSpPr>
          <p:nvPr/>
        </p:nvSpPr>
        <p:spPr bwMode="auto">
          <a:xfrm>
            <a:off x="2064335" y="3785224"/>
            <a:ext cx="3449066" cy="1580437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 sz="3200">
              <a:latin typeface="Calibri" pitchFamily="34" charset="0"/>
            </a:endParaRPr>
          </a:p>
        </p:txBody>
      </p:sp>
      <p:sp>
        <p:nvSpPr>
          <p:cNvPr id="38" name="AutoShape 11"/>
          <p:cNvSpPr>
            <a:spLocks/>
          </p:cNvSpPr>
          <p:nvPr/>
        </p:nvSpPr>
        <p:spPr bwMode="auto">
          <a:xfrm>
            <a:off x="2056313" y="3777203"/>
            <a:ext cx="3449066" cy="808165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 sz="3200">
              <a:latin typeface="Calibri" pitchFamily="34" charset="0"/>
            </a:endParaRPr>
          </a:p>
        </p:txBody>
      </p:sp>
      <p:sp>
        <p:nvSpPr>
          <p:cNvPr id="39" name="AutoShape 11"/>
          <p:cNvSpPr>
            <a:spLocks/>
          </p:cNvSpPr>
          <p:nvPr/>
        </p:nvSpPr>
        <p:spPr bwMode="auto">
          <a:xfrm>
            <a:off x="2061660" y="4572000"/>
            <a:ext cx="3449066" cy="777618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 sz="3200">
              <a:latin typeface="Calibri" pitchFamily="34" charset="0"/>
            </a:endParaRPr>
          </a:p>
        </p:txBody>
      </p:sp>
      <p:sp>
        <p:nvSpPr>
          <p:cNvPr id="35" name="Rectangle 12"/>
          <p:cNvSpPr>
            <a:spLocks/>
          </p:cNvSpPr>
          <p:nvPr/>
        </p:nvSpPr>
        <p:spPr bwMode="auto">
          <a:xfrm>
            <a:off x="3640752" y="4314969"/>
            <a:ext cx="476721" cy="551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/>
          <a:lstStyle/>
          <a:p>
            <a:pPr marL="29765" algn="ctr"/>
            <a:r>
              <a:rPr lang="en-US" sz="3200" b="1" dirty="0">
                <a:latin typeface="Calibri" pitchFamily="34" charset="0"/>
                <a:cs typeface="Arial" charset="0"/>
              </a:rPr>
              <a:t>?</a:t>
            </a:r>
          </a:p>
        </p:txBody>
      </p:sp>
      <p:sp>
        <p:nvSpPr>
          <p:cNvPr id="36" name="Rectangle 12"/>
          <p:cNvSpPr>
            <a:spLocks/>
          </p:cNvSpPr>
          <p:nvPr/>
        </p:nvSpPr>
        <p:spPr bwMode="auto">
          <a:xfrm>
            <a:off x="2098844" y="3745488"/>
            <a:ext cx="3408947" cy="11473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/>
          <a:lstStyle/>
          <a:p>
            <a:pPr marL="29765" algn="ctr">
              <a:lnSpc>
                <a:spcPct val="150000"/>
              </a:lnSpc>
            </a:pPr>
            <a:r>
              <a:rPr lang="en-US" sz="3200" dirty="0">
                <a:latin typeface="Calibri" pitchFamily="34" charset="0"/>
                <a:cs typeface="Arial" charset="0"/>
              </a:rPr>
              <a:t>Knowledge Base</a:t>
            </a:r>
          </a:p>
          <a:p>
            <a:pPr marL="29765" algn="ctr">
              <a:lnSpc>
                <a:spcPct val="150000"/>
              </a:lnSpc>
            </a:pPr>
            <a:r>
              <a:rPr lang="en-US" sz="3200" dirty="0">
                <a:latin typeface="Calibri" pitchFamily="34" charset="0"/>
              </a:rPr>
              <a:t>Inference</a:t>
            </a:r>
            <a:endParaRPr lang="en-US" sz="3200" dirty="0">
              <a:latin typeface="Calibri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9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Knowledge-based agents</a:t>
            </a:r>
            <a:r>
              <a:rPr lang="en-US" dirty="0"/>
              <a:t> are agents that know about their world and reason about their courses of action.</a:t>
            </a:r>
          </a:p>
          <a:p>
            <a:r>
              <a:rPr lang="en-US" dirty="0"/>
              <a:t>A </a:t>
            </a:r>
            <a:r>
              <a:rPr lang="en-US" b="1" dirty="0"/>
              <a:t>knowledge-based agent</a:t>
            </a:r>
            <a:r>
              <a:rPr lang="en-US" dirty="0"/>
              <a:t> can combine general knowledge with current percepts to infer hidden aspects of the current state prior to selecting actions.</a:t>
            </a:r>
          </a:p>
          <a:p>
            <a:r>
              <a:rPr lang="en-US" b="1" dirty="0"/>
              <a:t>Knowledge base</a:t>
            </a:r>
            <a:r>
              <a:rPr lang="en-US" dirty="0"/>
              <a:t>, or KB is a set of </a:t>
            </a:r>
            <a:r>
              <a:rPr lang="en-US" b="1" dirty="0"/>
              <a:t>sentences </a:t>
            </a:r>
            <a:r>
              <a:rPr lang="en-US" dirty="0"/>
              <a:t>expressed in a language called a </a:t>
            </a:r>
            <a:r>
              <a:rPr lang="en-US" b="1" dirty="0"/>
              <a:t>knowledge representation language </a:t>
            </a:r>
            <a:r>
              <a:rPr lang="en-US" dirty="0"/>
              <a:t>and represents some assertion about the world.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64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63705"/>
            <a:ext cx="10515600" cy="2913258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b="1" dirty="0"/>
              <a:t>Knowledge base</a:t>
            </a:r>
            <a:r>
              <a:rPr lang="en-US" dirty="0"/>
              <a:t>: Set of sentences in a formal language</a:t>
            </a:r>
          </a:p>
          <a:p>
            <a:pPr lvl="1">
              <a:defRPr/>
            </a:pPr>
            <a:r>
              <a:rPr lang="en-US" dirty="0"/>
              <a:t>A database of facts (knowledge)</a:t>
            </a:r>
          </a:p>
          <a:p>
            <a:pPr>
              <a:defRPr/>
            </a:pPr>
            <a:r>
              <a:rPr lang="en-US" b="1" dirty="0"/>
              <a:t>Inference Engine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Set of rules for deducing conclusions </a:t>
            </a:r>
          </a:p>
          <a:p>
            <a:pPr lvl="1">
              <a:defRPr/>
            </a:pPr>
            <a:r>
              <a:rPr lang="en-US" dirty="0"/>
              <a:t>A database of rules</a:t>
            </a:r>
          </a:p>
          <a:p>
            <a:pPr>
              <a:defRPr/>
            </a:pPr>
            <a:r>
              <a:rPr lang="en-US" dirty="0"/>
              <a:t>Declarative approach for building an agent</a:t>
            </a:r>
          </a:p>
          <a:p>
            <a:pPr lvl="1">
              <a:defRPr/>
            </a:pPr>
            <a:r>
              <a:rPr lang="en-US" b="1" u="sng" dirty="0"/>
              <a:t>TELL</a:t>
            </a:r>
            <a:r>
              <a:rPr lang="en-US" dirty="0"/>
              <a:t> it what it needs to know</a:t>
            </a:r>
          </a:p>
          <a:p>
            <a:pPr lvl="1">
              <a:defRPr/>
            </a:pPr>
            <a:r>
              <a:rPr lang="en-US" dirty="0"/>
              <a:t>Then it can </a:t>
            </a:r>
            <a:r>
              <a:rPr lang="en-US" b="1" u="sng" dirty="0"/>
              <a:t>ASK</a:t>
            </a:r>
            <a:r>
              <a:rPr lang="en-US" dirty="0"/>
              <a:t> itself what to do - answers should follow from the KB</a:t>
            </a:r>
          </a:p>
          <a:p>
            <a:pPr lvl="1">
              <a:defRPr/>
            </a:pPr>
            <a:r>
              <a:rPr lang="en-US" dirty="0"/>
              <a:t>As an example, think of a child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6A1C3A-E35F-4F47-AC31-8949A807FA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5425" y="1690688"/>
            <a:ext cx="6262981" cy="1416125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1332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It takes a percept as input and returns an action. </a:t>
            </a:r>
          </a:p>
          <a:p>
            <a:r>
              <a:rPr lang="en-US" sz="2400" dirty="0"/>
              <a:t>The agent maintains a </a:t>
            </a:r>
            <a:r>
              <a:rPr lang="en-US" sz="2400" b="1" dirty="0"/>
              <a:t>knowledge base</a:t>
            </a:r>
            <a:r>
              <a:rPr lang="en-US" sz="2400" dirty="0"/>
              <a:t>, KB, which may initially contain some </a:t>
            </a:r>
            <a:r>
              <a:rPr lang="en-US" sz="2400" b="1" dirty="0"/>
              <a:t>background knowledge. </a:t>
            </a:r>
          </a:p>
          <a:p>
            <a:r>
              <a:rPr lang="en-US" sz="2400" dirty="0"/>
              <a:t>Each time the agent program is called, it does three things. </a:t>
            </a:r>
          </a:p>
          <a:p>
            <a:pPr lvl="1"/>
            <a:r>
              <a:rPr lang="en-US" sz="2000" dirty="0"/>
              <a:t>First, it </a:t>
            </a:r>
            <a:r>
              <a:rPr lang="en-US" sz="2000" b="1" dirty="0"/>
              <a:t>TELLS</a:t>
            </a:r>
            <a:r>
              <a:rPr lang="en-US" sz="2000" dirty="0"/>
              <a:t> the knowledge base what it perceives. </a:t>
            </a:r>
          </a:p>
          <a:p>
            <a:pPr lvl="1"/>
            <a:r>
              <a:rPr lang="en-US" sz="2000" dirty="0"/>
              <a:t>Second, it </a:t>
            </a:r>
            <a:r>
              <a:rPr lang="en-US" sz="2000" b="1" dirty="0"/>
              <a:t>ASKS</a:t>
            </a:r>
            <a:r>
              <a:rPr lang="en-US" sz="2000" dirty="0"/>
              <a:t> the knowledge base what action it should perform. </a:t>
            </a:r>
          </a:p>
          <a:p>
            <a:pPr lvl="2"/>
            <a:r>
              <a:rPr lang="en-US" sz="1800" dirty="0"/>
              <a:t>Reasoning may be done about the current state of the world, about the outcomes of possible action sequences, and so on. </a:t>
            </a:r>
          </a:p>
          <a:p>
            <a:pPr lvl="1"/>
            <a:r>
              <a:rPr lang="en-US" sz="2000" dirty="0"/>
              <a:t>Third, the agent records its choice with </a:t>
            </a:r>
            <a:r>
              <a:rPr lang="en-US" sz="2000" b="1" dirty="0"/>
              <a:t>TELL</a:t>
            </a:r>
            <a:r>
              <a:rPr lang="en-US" sz="2000" dirty="0"/>
              <a:t> and executes the action. TELL is necessary to let the knowledge base know that the </a:t>
            </a:r>
            <a:r>
              <a:rPr lang="en-US" sz="2000" i="1" dirty="0"/>
              <a:t>action </a:t>
            </a:r>
            <a:r>
              <a:rPr lang="en-US" sz="2000" dirty="0"/>
              <a:t>has actually been executed.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7844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 simple knowledge-based agent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30208" b="36459"/>
          <a:stretch>
            <a:fillRect/>
          </a:stretch>
        </p:blipFill>
        <p:spPr bwMode="auto">
          <a:xfrm>
            <a:off x="2420816" y="1690688"/>
            <a:ext cx="7620000" cy="277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Line Callout 1 3"/>
          <p:cNvSpPr/>
          <p:nvPr/>
        </p:nvSpPr>
        <p:spPr>
          <a:xfrm>
            <a:off x="7678616" y="1919288"/>
            <a:ext cx="2895600" cy="1156494"/>
          </a:xfrm>
          <a:prstGeom prst="borderCallout1">
            <a:avLst>
              <a:gd name="adj1" fmla="val 48871"/>
              <a:gd name="adj2" fmla="val -814"/>
              <a:gd name="adj3" fmla="val 75543"/>
              <a:gd name="adj4" fmla="val -67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constructs a sentence asserting that the agent perceived the given percept at the given time.</a:t>
            </a:r>
          </a:p>
        </p:txBody>
      </p:sp>
      <p:sp>
        <p:nvSpPr>
          <p:cNvPr id="5" name="Line Callout 1 4"/>
          <p:cNvSpPr/>
          <p:nvPr/>
        </p:nvSpPr>
        <p:spPr>
          <a:xfrm>
            <a:off x="7450016" y="3965576"/>
            <a:ext cx="3124200" cy="990600"/>
          </a:xfrm>
          <a:prstGeom prst="borderCallout1">
            <a:avLst>
              <a:gd name="adj1" fmla="val 50984"/>
              <a:gd name="adj2" fmla="val -1829"/>
              <a:gd name="adj3" fmla="val -72115"/>
              <a:gd name="adj4" fmla="val -499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constructs a sentence that asks what action should be done at the current time.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3716216" y="5043488"/>
            <a:ext cx="2971800" cy="1219200"/>
          </a:xfrm>
          <a:prstGeom prst="borderCallout1">
            <a:avLst>
              <a:gd name="adj1" fmla="val -5060"/>
              <a:gd name="adj2" fmla="val 49298"/>
              <a:gd name="adj3" fmla="val -122024"/>
              <a:gd name="adj4" fmla="val 407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constructs a sentence asserting that the chosen action was executed.</a:t>
            </a:r>
          </a:p>
        </p:txBody>
      </p:sp>
    </p:spTree>
    <p:extLst>
      <p:ext uri="{BB962C8B-B14F-4D97-AF65-F5344CB8AC3E}">
        <p14:creationId xmlns:p14="http://schemas.microsoft.com/office/powerpoint/2010/main" val="4106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18" y="2943884"/>
            <a:ext cx="7019501" cy="138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05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So what do we TELL our knowledge base (KB)?</a:t>
            </a:r>
          </a:p>
          <a:p>
            <a:pPr lvl="1"/>
            <a:r>
              <a:rPr lang="en-US" sz="2400" dirty="0"/>
              <a:t>Facts (sentences)</a:t>
            </a:r>
          </a:p>
          <a:p>
            <a:pPr lvl="3"/>
            <a:r>
              <a:rPr lang="en-US" sz="2400" dirty="0"/>
              <a:t>The grass is green</a:t>
            </a:r>
          </a:p>
          <a:p>
            <a:pPr lvl="3"/>
            <a:r>
              <a:rPr lang="en-US" sz="2400" dirty="0"/>
              <a:t>The sky is blue</a:t>
            </a:r>
          </a:p>
          <a:p>
            <a:pPr lvl="1"/>
            <a:r>
              <a:rPr lang="en-US" sz="2400" dirty="0"/>
              <a:t>Rules (sentences)</a:t>
            </a:r>
          </a:p>
          <a:p>
            <a:pPr lvl="3"/>
            <a:r>
              <a:rPr lang="en-US" sz="2400" dirty="0"/>
              <a:t>Eating too much candy makes you sick</a:t>
            </a:r>
          </a:p>
          <a:p>
            <a:pPr lvl="3"/>
            <a:r>
              <a:rPr lang="en-US" sz="2400" dirty="0"/>
              <a:t>When you’re sick you don’t go to school</a:t>
            </a:r>
          </a:p>
          <a:p>
            <a:pPr lvl="1"/>
            <a:r>
              <a:rPr lang="en-US" sz="2400" dirty="0"/>
              <a:t>Percepts and Actions (sentences)</a:t>
            </a:r>
          </a:p>
          <a:p>
            <a:pPr lvl="3"/>
            <a:r>
              <a:rPr lang="en-US" sz="2400" dirty="0"/>
              <a:t>Pat ate too much candy today</a:t>
            </a:r>
          </a:p>
          <a:p>
            <a:pPr lvl="3"/>
            <a:endParaRPr lang="en-US" sz="2400" dirty="0"/>
          </a:p>
          <a:p>
            <a:r>
              <a:rPr lang="en-US" sz="2800" dirty="0"/>
              <a:t>What happens when we ASK the agent?</a:t>
            </a:r>
          </a:p>
          <a:p>
            <a:pPr lvl="1"/>
            <a:r>
              <a:rPr lang="en-US" sz="2400" dirty="0"/>
              <a:t>Inference – new sentences created from old</a:t>
            </a:r>
          </a:p>
          <a:p>
            <a:pPr lvl="3"/>
            <a:r>
              <a:rPr lang="en-US" sz="2400" dirty="0"/>
              <a:t>Pat is not going to school today</a:t>
            </a:r>
          </a:p>
          <a:p>
            <a:pPr lvl="2"/>
            <a:endParaRPr lang="en-US" sz="20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34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Abilities of Knowledge Based Agents</a:t>
            </a:r>
          </a:p>
          <a:p>
            <a:r>
              <a:rPr lang="en-US" dirty="0"/>
              <a:t>The agent must be able to: </a:t>
            </a:r>
          </a:p>
          <a:p>
            <a:pPr lvl="1"/>
            <a:r>
              <a:rPr lang="en-US" dirty="0"/>
              <a:t>Represent states, actions, etc.</a:t>
            </a:r>
          </a:p>
          <a:p>
            <a:pPr lvl="1"/>
            <a:r>
              <a:rPr lang="en-US" dirty="0"/>
              <a:t>Incorporate new percepts</a:t>
            </a:r>
          </a:p>
          <a:p>
            <a:pPr lvl="1"/>
            <a:r>
              <a:rPr lang="en-US" dirty="0"/>
              <a:t>Update internal representations of the world</a:t>
            </a:r>
          </a:p>
          <a:p>
            <a:pPr lvl="1"/>
            <a:r>
              <a:rPr lang="en-US" dirty="0"/>
              <a:t>Deduce hidden properties of the world</a:t>
            </a:r>
          </a:p>
          <a:p>
            <a:pPr lvl="1"/>
            <a:r>
              <a:rPr lang="en-US" dirty="0"/>
              <a:t>Deduce appropriate actions</a:t>
            </a:r>
          </a:p>
        </p:txBody>
      </p:sp>
    </p:spTree>
    <p:extLst>
      <p:ext uri="{BB962C8B-B14F-4D97-AF65-F5344CB8AC3E}">
        <p14:creationId xmlns:p14="http://schemas.microsoft.com/office/powerpoint/2010/main" val="259163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Minesweeper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594" y="1979880"/>
            <a:ext cx="3978812" cy="444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0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Wumpus</a:t>
            </a:r>
            <a:r>
              <a:rPr lang="en-US" dirty="0"/>
              <a:t> World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154104" cy="21075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683" y="2094646"/>
            <a:ext cx="3891117" cy="381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7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Wumpus</a:t>
            </a:r>
            <a:r>
              <a:rPr lang="en-US" dirty="0"/>
              <a:t>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2448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Wumpus</a:t>
            </a:r>
            <a:r>
              <a:rPr lang="en-US" dirty="0"/>
              <a:t> computer game </a:t>
            </a:r>
          </a:p>
          <a:p>
            <a:r>
              <a:rPr lang="en-US" dirty="0"/>
              <a:t>The agent explores a cave consisting of rooms connected by passageways</a:t>
            </a:r>
          </a:p>
          <a:p>
            <a:r>
              <a:rPr lang="en-US" dirty="0"/>
              <a:t>Lurking somewhere in the cave is the </a:t>
            </a:r>
            <a:r>
              <a:rPr lang="en-US" dirty="0" err="1"/>
              <a:t>Wumpus</a:t>
            </a:r>
            <a:r>
              <a:rPr lang="en-US" dirty="0"/>
              <a:t>, a beast that eats any agent that enters its room</a:t>
            </a:r>
          </a:p>
          <a:p>
            <a:r>
              <a:rPr lang="en-US" dirty="0"/>
              <a:t>Some rooms contain bottomless pits that trap any agent that wanders into the room</a:t>
            </a:r>
          </a:p>
          <a:p>
            <a:r>
              <a:rPr lang="en-US" dirty="0"/>
              <a:t>Occasionally, there is a heap of gold in a room. </a:t>
            </a:r>
          </a:p>
          <a:p>
            <a:r>
              <a:rPr lang="en-US" dirty="0"/>
              <a:t>The goal is to collect the gold and exit the world without being eaten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683" y="2094646"/>
            <a:ext cx="3891117" cy="381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642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Wumpus</a:t>
            </a:r>
            <a:r>
              <a:rPr lang="en-US" dirty="0"/>
              <a:t> World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299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Performance measure</a:t>
            </a:r>
          </a:p>
          <a:p>
            <a:pPr lvl="1"/>
            <a:r>
              <a:rPr lang="en-US" dirty="0"/>
              <a:t>gold +1000, death -1000</a:t>
            </a:r>
          </a:p>
          <a:p>
            <a:pPr lvl="1"/>
            <a:r>
              <a:rPr lang="en-US" dirty="0"/>
              <a:t>-1 per step, -10 for using the arrow</a:t>
            </a:r>
          </a:p>
          <a:p>
            <a:r>
              <a:rPr lang="en-US" b="1" dirty="0"/>
              <a:t>Environment</a:t>
            </a:r>
          </a:p>
          <a:p>
            <a:pPr lvl="1"/>
            <a:r>
              <a:rPr lang="en-US" dirty="0"/>
              <a:t>Squares adjacent to </a:t>
            </a:r>
            <a:r>
              <a:rPr lang="en-US" dirty="0" err="1"/>
              <a:t>wumpus</a:t>
            </a:r>
            <a:r>
              <a:rPr lang="en-US" dirty="0"/>
              <a:t> are smelly (stench)</a:t>
            </a:r>
          </a:p>
          <a:p>
            <a:pPr lvl="1"/>
            <a:r>
              <a:rPr lang="en-US" dirty="0"/>
              <a:t>Squares adjacent to pit are breezy</a:t>
            </a:r>
          </a:p>
          <a:p>
            <a:pPr lvl="1"/>
            <a:r>
              <a:rPr lang="en-US" dirty="0"/>
              <a:t>Glitter </a:t>
            </a:r>
            <a:r>
              <a:rPr lang="en-US" dirty="0" err="1"/>
              <a:t>iff</a:t>
            </a:r>
            <a:r>
              <a:rPr lang="en-US" dirty="0"/>
              <a:t> gold is in the same square</a:t>
            </a:r>
          </a:p>
          <a:p>
            <a:pPr lvl="1"/>
            <a:r>
              <a:rPr lang="en-US" dirty="0"/>
              <a:t>Shooting kills </a:t>
            </a:r>
            <a:r>
              <a:rPr lang="en-US" dirty="0" err="1"/>
              <a:t>wumpus</a:t>
            </a:r>
            <a:r>
              <a:rPr lang="en-US" dirty="0"/>
              <a:t> if you are facing it</a:t>
            </a:r>
          </a:p>
          <a:p>
            <a:pPr lvl="1"/>
            <a:r>
              <a:rPr lang="en-US" dirty="0"/>
              <a:t>Shooting uses up the only arrow</a:t>
            </a:r>
          </a:p>
          <a:p>
            <a:pPr lvl="1"/>
            <a:r>
              <a:rPr lang="en-US" dirty="0"/>
              <a:t>Grabbing picks up gold if in same square</a:t>
            </a:r>
          </a:p>
          <a:p>
            <a:pPr lvl="1"/>
            <a:r>
              <a:rPr lang="en-US" dirty="0"/>
              <a:t>Releasing drops the gold in same square</a:t>
            </a:r>
          </a:p>
          <a:p>
            <a:r>
              <a:rPr lang="en-US" b="1" dirty="0"/>
              <a:t>Sensors</a:t>
            </a:r>
            <a:r>
              <a:rPr lang="en-US" dirty="0"/>
              <a:t>: Stench, Breeze, Glitter, Bump, Scream</a:t>
            </a:r>
          </a:p>
          <a:p>
            <a:r>
              <a:rPr lang="en-US" b="1" dirty="0"/>
              <a:t>Actuators</a:t>
            </a:r>
            <a:r>
              <a:rPr lang="en-US" dirty="0"/>
              <a:t>: Left turn, Right turn, Forward, Grab, Release, Shoot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/>
          <a:srcRect l="2985" r="7829"/>
          <a:stretch/>
        </p:blipFill>
        <p:spPr bwMode="auto">
          <a:xfrm>
            <a:off x="8145195" y="1825625"/>
            <a:ext cx="3208606" cy="3817892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13576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wumpus-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671" y="1690688"/>
            <a:ext cx="5181600" cy="50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15197" y="2278966"/>
            <a:ext cx="2590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agent always starts in the field [1,1]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Agent’s task is to find the gold, return to the field [1,1] and climb out of the cave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Wumpus</a:t>
            </a:r>
            <a:r>
              <a:rPr lang="en-US" dirty="0"/>
              <a:t> World</a:t>
            </a:r>
          </a:p>
        </p:txBody>
      </p:sp>
    </p:spTree>
    <p:extLst>
      <p:ext uri="{BB962C8B-B14F-4D97-AF65-F5344CB8AC3E}">
        <p14:creationId xmlns:p14="http://schemas.microsoft.com/office/powerpoint/2010/main" val="2536628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 in a </a:t>
            </a:r>
            <a:r>
              <a:rPr lang="en-US" dirty="0" err="1"/>
              <a:t>Wumpus</a:t>
            </a:r>
            <a:r>
              <a:rPr lang="en-US" dirty="0"/>
              <a:t> world: Percepts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agent perceives </a:t>
            </a:r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stench</a:t>
            </a:r>
            <a:r>
              <a:rPr lang="en-US" sz="2000" dirty="0"/>
              <a:t> in the square containing the </a:t>
            </a:r>
            <a:r>
              <a:rPr lang="en-US" sz="2000" dirty="0" err="1"/>
              <a:t>Wumpus</a:t>
            </a:r>
            <a:r>
              <a:rPr lang="en-US" sz="2000" dirty="0"/>
              <a:t> and in the adjacent squares (not diagonally) </a:t>
            </a:r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breeze</a:t>
            </a:r>
            <a:r>
              <a:rPr lang="en-US" sz="2000" dirty="0"/>
              <a:t> in the squares adjacent to a pit </a:t>
            </a:r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glitter</a:t>
            </a:r>
            <a:r>
              <a:rPr lang="en-US" sz="2000" dirty="0"/>
              <a:t> in the square where the gold is </a:t>
            </a:r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bump</a:t>
            </a:r>
            <a:r>
              <a:rPr lang="en-US" sz="2000" dirty="0"/>
              <a:t>, if it walks into a wall </a:t>
            </a:r>
          </a:p>
          <a:p>
            <a:pPr lvl="1"/>
            <a:r>
              <a:rPr lang="en-US" sz="2000" dirty="0"/>
              <a:t>a woeful </a:t>
            </a:r>
            <a:r>
              <a:rPr lang="en-US" sz="2000" b="1" dirty="0"/>
              <a:t>scream</a:t>
            </a:r>
            <a:r>
              <a:rPr lang="en-US" sz="2000" dirty="0"/>
              <a:t> everywhere in the cave, if the </a:t>
            </a:r>
            <a:r>
              <a:rPr lang="en-US" sz="2000" dirty="0" err="1"/>
              <a:t>Wumpus</a:t>
            </a:r>
            <a:r>
              <a:rPr lang="en-US" sz="2000" dirty="0"/>
              <a:t> is killed</a:t>
            </a:r>
          </a:p>
          <a:p>
            <a:r>
              <a:rPr lang="en-US" sz="2400" dirty="0"/>
              <a:t>The percepts are given as a five-symbol list. If there is a stench and a breeze, but no glitter, no bump, and no scream, the percept is </a:t>
            </a:r>
          </a:p>
          <a:p>
            <a:pPr marL="0" indent="0" algn="ctr">
              <a:buNone/>
            </a:pPr>
            <a:r>
              <a:rPr lang="en-US" sz="2400" dirty="0"/>
              <a:t>[Stench, Breeze, None, None, None] </a:t>
            </a:r>
          </a:p>
          <a:p>
            <a:r>
              <a:rPr lang="en-US" sz="2400" dirty="0"/>
              <a:t>The agent cannot perceive its own location</a:t>
            </a:r>
          </a:p>
        </p:txBody>
      </p:sp>
    </p:spTree>
    <p:extLst>
      <p:ext uri="{BB962C8B-B14F-4D97-AF65-F5344CB8AC3E}">
        <p14:creationId xmlns:p14="http://schemas.microsoft.com/office/powerpoint/2010/main" val="2391498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in a </a:t>
            </a:r>
            <a:r>
              <a:rPr lang="en-US" dirty="0" err="1"/>
              <a:t>Wumpus</a:t>
            </a:r>
            <a:r>
              <a:rPr lang="en-US" dirty="0"/>
              <a:t> world: </a:t>
            </a:r>
            <a:r>
              <a:rPr lang="en-US" altLang="fi-FI" dirty="0"/>
              <a:t>Actions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fi-FI" b="1" dirty="0"/>
              <a:t>go forward </a:t>
            </a:r>
          </a:p>
          <a:p>
            <a:r>
              <a:rPr lang="en-US" altLang="fi-FI" b="1" dirty="0"/>
              <a:t>turn right</a:t>
            </a:r>
            <a:r>
              <a:rPr lang="en-US" altLang="fi-FI" dirty="0"/>
              <a:t> 90 degrees</a:t>
            </a:r>
          </a:p>
          <a:p>
            <a:r>
              <a:rPr lang="en-US" altLang="fi-FI" b="1" dirty="0"/>
              <a:t>turn left</a:t>
            </a:r>
            <a:r>
              <a:rPr lang="en-US" altLang="fi-FI" dirty="0"/>
              <a:t> 90 degrees</a:t>
            </a:r>
          </a:p>
          <a:p>
            <a:r>
              <a:rPr lang="en-US" altLang="fi-FI" b="1" dirty="0"/>
              <a:t>grab</a:t>
            </a:r>
            <a:r>
              <a:rPr lang="en-US" altLang="fi-FI" dirty="0"/>
              <a:t>: Pick up an object that’s in the same square as the agent</a:t>
            </a:r>
          </a:p>
          <a:p>
            <a:r>
              <a:rPr lang="en-US" altLang="fi-FI" b="1" dirty="0"/>
              <a:t>shoot</a:t>
            </a:r>
            <a:r>
              <a:rPr lang="en-US" altLang="fi-FI" dirty="0"/>
              <a:t>: Fire an arrow in a straight line in the direction the agent is facing. It continues until it hits and kills the </a:t>
            </a:r>
            <a:r>
              <a:rPr lang="en-US" altLang="fi-FI" dirty="0" err="1"/>
              <a:t>Wumpus</a:t>
            </a:r>
            <a:r>
              <a:rPr lang="en-US" altLang="fi-FI" dirty="0"/>
              <a:t> or hits the outer wall. The agent has only one arrow, so only the first shoot action has any effect </a:t>
            </a:r>
          </a:p>
          <a:p>
            <a:r>
              <a:rPr lang="en-US" altLang="fi-FI" b="1" dirty="0"/>
              <a:t>climb</a:t>
            </a:r>
            <a:r>
              <a:rPr lang="en-US" altLang="fi-FI" dirty="0"/>
              <a:t> is used to leave the cave and is only effective in the start square</a:t>
            </a:r>
          </a:p>
          <a:p>
            <a:r>
              <a:rPr lang="en-US" altLang="fi-FI" b="1" dirty="0"/>
              <a:t>die</a:t>
            </a:r>
            <a:r>
              <a:rPr lang="en-US" altLang="fi-FI" dirty="0"/>
              <a:t>: This action automatically and irretrievably happens if the agent enters a square with a pit or a live </a:t>
            </a:r>
            <a:r>
              <a:rPr lang="en-US" altLang="fi-FI" dirty="0" err="1"/>
              <a:t>Wumpus</a:t>
            </a:r>
            <a:endParaRPr lang="en-US" altLang="fi-FI" dirty="0"/>
          </a:p>
        </p:txBody>
      </p:sp>
    </p:spTree>
    <p:extLst>
      <p:ext uri="{BB962C8B-B14F-4D97-AF65-F5344CB8AC3E}">
        <p14:creationId xmlns:p14="http://schemas.microsoft.com/office/powerpoint/2010/main" val="1330058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in a </a:t>
            </a:r>
            <a:r>
              <a:rPr lang="en-US" dirty="0" err="1"/>
              <a:t>Wumpus</a:t>
            </a:r>
            <a:r>
              <a:rPr lang="en-US" dirty="0"/>
              <a:t> world : </a:t>
            </a:r>
            <a:r>
              <a:rPr lang="en-US" altLang="fi-FI" dirty="0"/>
              <a:t>Goal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fi-FI" dirty="0"/>
              <a:t>	The agent’s goal is to find the gold and bring it back to the start square as quickly as possible, without getting killed</a:t>
            </a:r>
          </a:p>
          <a:p>
            <a:pPr lvl="1"/>
            <a:r>
              <a:rPr lang="en-US" altLang="fi-FI" sz="2800" dirty="0">
                <a:ea typeface="ＭＳ Ｐゴシック" panose="020B0600070205080204" pitchFamily="34" charset="-128"/>
              </a:rPr>
              <a:t>1,000 points reward for climbing out of the cave with the gold</a:t>
            </a:r>
          </a:p>
          <a:p>
            <a:pPr lvl="1"/>
            <a:r>
              <a:rPr lang="en-US" altLang="fi-FI" sz="2800" dirty="0">
                <a:ea typeface="ＭＳ Ｐゴシック" panose="020B0600070205080204" pitchFamily="34" charset="-128"/>
              </a:rPr>
              <a:t>1 point deducted for every action taken</a:t>
            </a:r>
          </a:p>
          <a:p>
            <a:pPr lvl="1"/>
            <a:r>
              <a:rPr lang="en-US" altLang="fi-FI" sz="2800" dirty="0">
                <a:ea typeface="ＭＳ Ｐゴシック" panose="020B0600070205080204" pitchFamily="34" charset="-128"/>
              </a:rPr>
              <a:t>10,000 points penalty for getting killed</a:t>
            </a:r>
            <a:endParaRPr lang="en-US" altLang="fi-FI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4114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Wumpus world characterization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/>
            <a:r>
              <a:rPr lang="en-US" altLang="fi-FI" b="1" dirty="0"/>
              <a:t>Fully Observable:</a:t>
            </a:r>
            <a:r>
              <a:rPr lang="en-US" altLang="fi-FI" dirty="0"/>
              <a:t> </a:t>
            </a:r>
          </a:p>
          <a:p>
            <a:pPr marL="800100" lvl="1" indent="-342900"/>
            <a:r>
              <a:rPr lang="en-US" altLang="fi-FI" dirty="0"/>
              <a:t>No – only </a:t>
            </a:r>
            <a:r>
              <a:rPr lang="en-US" altLang="fi-FI" dirty="0">
                <a:solidFill>
                  <a:schemeClr val="accent2"/>
                </a:solidFill>
              </a:rPr>
              <a:t>local</a:t>
            </a:r>
            <a:r>
              <a:rPr lang="en-US" altLang="fi-FI" dirty="0"/>
              <a:t> perception</a:t>
            </a:r>
          </a:p>
          <a:p>
            <a:pPr marL="342900" indent="-342900"/>
            <a:r>
              <a:rPr lang="en-US" altLang="fi-FI" b="1" dirty="0"/>
              <a:t>Deterministic: </a:t>
            </a:r>
          </a:p>
          <a:p>
            <a:pPr marL="800100" lvl="1" indent="-342900"/>
            <a:r>
              <a:rPr lang="en-US" altLang="fi-FI" dirty="0"/>
              <a:t>Yes – outcomes exactly specified</a:t>
            </a:r>
          </a:p>
          <a:p>
            <a:pPr marL="342900" indent="-342900"/>
            <a:r>
              <a:rPr lang="en-US" altLang="fi-FI" b="1" dirty="0"/>
              <a:t>Episodic:</a:t>
            </a:r>
            <a:r>
              <a:rPr lang="en-US" altLang="fi-FI" dirty="0"/>
              <a:t> </a:t>
            </a:r>
          </a:p>
          <a:p>
            <a:pPr marL="800100" lvl="1" indent="-342900"/>
            <a:r>
              <a:rPr lang="en-US" altLang="fi-FI" dirty="0"/>
              <a:t>No – sequential at the level of actions</a:t>
            </a:r>
          </a:p>
          <a:p>
            <a:pPr marL="342900" indent="-342900"/>
            <a:r>
              <a:rPr lang="en-US" altLang="fi-FI" b="1" dirty="0"/>
              <a:t>Static:</a:t>
            </a:r>
            <a:r>
              <a:rPr lang="en-US" altLang="fi-FI" dirty="0"/>
              <a:t>  </a:t>
            </a:r>
          </a:p>
          <a:p>
            <a:pPr marL="800100" lvl="1" indent="-342900"/>
            <a:r>
              <a:rPr lang="en-US" altLang="fi-FI" dirty="0"/>
              <a:t>Yes – </a:t>
            </a:r>
            <a:r>
              <a:rPr lang="en-US" altLang="fi-FI" dirty="0" err="1"/>
              <a:t>Wumpus</a:t>
            </a:r>
            <a:r>
              <a:rPr lang="en-US" altLang="fi-FI" dirty="0"/>
              <a:t> and Pits do not move</a:t>
            </a:r>
          </a:p>
          <a:p>
            <a:pPr marL="342900" indent="-342900"/>
            <a:r>
              <a:rPr lang="en-US" altLang="fi-FI" b="1" dirty="0"/>
              <a:t>Discrete:</a:t>
            </a:r>
            <a:r>
              <a:rPr lang="en-US" altLang="fi-FI" dirty="0"/>
              <a:t> </a:t>
            </a:r>
          </a:p>
          <a:p>
            <a:pPr marL="800100" lvl="1" indent="-342900"/>
            <a:r>
              <a:rPr lang="en-US" altLang="fi-FI" dirty="0"/>
              <a:t>Yes</a:t>
            </a:r>
          </a:p>
          <a:p>
            <a:pPr marL="342900" indent="-342900"/>
            <a:r>
              <a:rPr lang="en-US" altLang="fi-FI" b="1" dirty="0"/>
              <a:t>Single-agent:</a:t>
            </a:r>
            <a:r>
              <a:rPr lang="en-US" altLang="fi-FI" dirty="0"/>
              <a:t> </a:t>
            </a:r>
          </a:p>
          <a:p>
            <a:pPr marL="800100" lvl="1" indent="-342900"/>
            <a:r>
              <a:rPr lang="en-US" altLang="fi-FI" dirty="0"/>
              <a:t>Yes – </a:t>
            </a:r>
            <a:r>
              <a:rPr lang="en-US" altLang="fi-FI" dirty="0" err="1"/>
              <a:t>Wumpus</a:t>
            </a:r>
            <a:r>
              <a:rPr lang="en-US" altLang="fi-FI" dirty="0"/>
              <a:t> is essentially a natural feature</a:t>
            </a:r>
          </a:p>
        </p:txBody>
      </p:sp>
    </p:spTree>
    <p:extLst>
      <p:ext uri="{BB962C8B-B14F-4D97-AF65-F5344CB8AC3E}">
        <p14:creationId xmlns:p14="http://schemas.microsoft.com/office/powerpoint/2010/main" val="150769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pic>
        <p:nvPicPr>
          <p:cNvPr id="51203" name="Picture 3" descr="wumpus-seq0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84" y="1687561"/>
            <a:ext cx="3615397" cy="36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5542671"/>
            <a:ext cx="10515600" cy="1096113"/>
          </a:xfrm>
        </p:spPr>
        <p:txBody>
          <a:bodyPr>
            <a:normAutofit fontScale="77500" lnSpcReduction="20000"/>
          </a:bodyPr>
          <a:lstStyle/>
          <a:p>
            <a:pPr marL="342900" indent="-342900"/>
            <a:r>
              <a:rPr lang="en-US" dirty="0"/>
              <a:t>Agent’s initial knowledge: Agent in [1,1] ; and [1,1] is a safe square</a:t>
            </a:r>
          </a:p>
          <a:p>
            <a:pPr marL="342900" indent="-342900"/>
            <a:r>
              <a:rPr lang="en-US" dirty="0"/>
              <a:t>The initial situation, after percept is [None, None, None, None, None] in (1,1)</a:t>
            </a:r>
          </a:p>
          <a:p>
            <a:pPr marL="342900" indent="-342900"/>
            <a:r>
              <a:rPr lang="en-US" dirty="0"/>
              <a:t>So agent concludes that [1,2] and [2,1], are free of dangers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32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5860479"/>
            <a:ext cx="10515600" cy="674687"/>
          </a:xfrm>
        </p:spPr>
        <p:txBody>
          <a:bodyPr/>
          <a:lstStyle/>
          <a:p>
            <a:r>
              <a:rPr lang="en-US" dirty="0"/>
              <a:t>After one move, with percept [None, Breeze, None, None, None]</a:t>
            </a:r>
          </a:p>
          <a:p>
            <a:endParaRPr lang="en-US" dirty="0"/>
          </a:p>
        </p:txBody>
      </p:sp>
      <p:pic>
        <p:nvPicPr>
          <p:cNvPr id="53251" name="Picture 3" descr="wumpus-seq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391" y="1772279"/>
            <a:ext cx="3629464" cy="3642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3986192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5690202"/>
            <a:ext cx="10515600" cy="8512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 there must be a pit in a neighboring square.</a:t>
            </a:r>
          </a:p>
          <a:p>
            <a:r>
              <a:rPr lang="en-US" dirty="0"/>
              <a:t>Either [2, 2] or [3,1]; or both</a:t>
            </a:r>
          </a:p>
          <a:p>
            <a:endParaRPr lang="en-US" dirty="0"/>
          </a:p>
        </p:txBody>
      </p:sp>
      <p:pic>
        <p:nvPicPr>
          <p:cNvPr id="55299" name="Picture 3" descr="wumpus-seq2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85" y="1687561"/>
            <a:ext cx="3840480" cy="385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79982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5781823"/>
            <a:ext cx="10515600" cy="875716"/>
          </a:xfrm>
        </p:spPr>
        <p:txBody>
          <a:bodyPr>
            <a:normAutofit fontScale="92500" lnSpcReduction="10000"/>
          </a:bodyPr>
          <a:lstStyle/>
          <a:p>
            <a:pPr marL="342900" indent="-342900"/>
            <a:r>
              <a:rPr lang="en-US" dirty="0"/>
              <a:t>After the third move, with percept [Stench, None, None, None, None]. </a:t>
            </a:r>
          </a:p>
          <a:p>
            <a:pPr marL="342900" indent="-342900"/>
            <a:r>
              <a:rPr lang="en-US" dirty="0"/>
              <a:t>The stench in [1,2] means that there must be a </a:t>
            </a:r>
            <a:r>
              <a:rPr lang="en-US" dirty="0" err="1"/>
              <a:t>wumpus</a:t>
            </a:r>
            <a:r>
              <a:rPr lang="en-US" dirty="0"/>
              <a:t> nearby.</a:t>
            </a:r>
          </a:p>
          <a:p>
            <a:endParaRPr lang="en-US" dirty="0"/>
          </a:p>
        </p:txBody>
      </p:sp>
      <p:pic>
        <p:nvPicPr>
          <p:cNvPr id="57347" name="Picture 3" descr="wumpus-seq3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245" y="1690688"/>
            <a:ext cx="3832675" cy="3846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485326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5635256"/>
            <a:ext cx="10515600" cy="1122926"/>
          </a:xfrm>
        </p:spPr>
        <p:txBody>
          <a:bodyPr>
            <a:normAutofit fontScale="70000" lnSpcReduction="20000"/>
          </a:bodyPr>
          <a:lstStyle/>
          <a:p>
            <a:pPr marL="342900" indent="-342900"/>
            <a:r>
              <a:rPr lang="en-US" dirty="0"/>
              <a:t>But </a:t>
            </a:r>
            <a:r>
              <a:rPr lang="en-US" dirty="0" err="1"/>
              <a:t>Wumpy</a:t>
            </a:r>
            <a:r>
              <a:rPr lang="en-US" dirty="0"/>
              <a:t> cannot be in [2,2] (the agent would have detected a stench when it was in [2,1]). </a:t>
            </a:r>
          </a:p>
          <a:p>
            <a:pPr marL="342900" indent="-342900"/>
            <a:r>
              <a:rPr lang="en-US" dirty="0"/>
              <a:t>Similarly, the lack of a breeze in [1,2] implies that there is no pit in [2,2].</a:t>
            </a:r>
          </a:p>
          <a:p>
            <a:pPr marL="342900" indent="-342900"/>
            <a:r>
              <a:rPr lang="en-US" dirty="0"/>
              <a:t>So pit must be in [3,1]</a:t>
            </a:r>
          </a:p>
          <a:p>
            <a:endParaRPr lang="en-US" dirty="0"/>
          </a:p>
        </p:txBody>
      </p:sp>
      <p:pic>
        <p:nvPicPr>
          <p:cNvPr id="59395" name="Picture 3" descr="wumpus-seq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204" y="1690688"/>
            <a:ext cx="3728123" cy="3741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572674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pic>
        <p:nvPicPr>
          <p:cNvPr id="61443" name="Picture 3" descr="wumpus-seq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688" y="1910030"/>
            <a:ext cx="4110624" cy="4125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3690930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pic>
        <p:nvPicPr>
          <p:cNvPr id="63491" name="Picture 3" descr="wumpus-seq6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01" y="1873568"/>
            <a:ext cx="4076038" cy="4091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1118669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Exploring a wumpus world</a:t>
            </a:r>
          </a:p>
        </p:txBody>
      </p:sp>
      <p:pic>
        <p:nvPicPr>
          <p:cNvPr id="65539" name="Picture 3" descr="wumpus-seq7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836" y="1690688"/>
            <a:ext cx="3910328" cy="3924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108" name="Text Box 4"/>
          <p:cNvSpPr txBox="1">
            <a:spLocks noChangeArrowheads="1"/>
          </p:cNvSpPr>
          <p:nvPr/>
        </p:nvSpPr>
        <p:spPr bwMode="auto">
          <a:xfrm>
            <a:off x="8534400" y="2473325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A	agent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B	breeze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G	glitter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OK	safe cell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P	pit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S	stench</a:t>
            </a:r>
          </a:p>
          <a:p>
            <a:pPr eaLnBrk="1" hangingPunct="1"/>
            <a:r>
              <a:rPr lang="en-US" altLang="fi-FI" sz="1400">
                <a:latin typeface="Arial" panose="020B0604020202020204" pitchFamily="34" charset="0"/>
              </a:rPr>
              <a:t>W	wumpus</a:t>
            </a:r>
          </a:p>
        </p:txBody>
      </p:sp>
    </p:spTree>
    <p:extLst>
      <p:ext uri="{BB962C8B-B14F-4D97-AF65-F5344CB8AC3E}">
        <p14:creationId xmlns:p14="http://schemas.microsoft.com/office/powerpoint/2010/main" val="20825587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vert="horz" lIns="91440" tIns="45720" rIns="132080" bIns="45720" rtlCol="0" anchor="ctr">
            <a:normAutofit/>
          </a:bodyPr>
          <a:lstStyle/>
          <a:p>
            <a:r>
              <a:rPr lang="en-US"/>
              <a:t>Representing Knowledge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 vert="horz" lIns="91440" tIns="45720" rIns="132080" bIns="45720" rtlCol="0">
            <a:normAutofit/>
          </a:bodyPr>
          <a:lstStyle/>
          <a:p>
            <a:r>
              <a:rPr lang="en-US" dirty="0"/>
              <a:t>The agent that solves the Wumpus world can most effectively be implemented by a knowledge-based approach</a:t>
            </a:r>
          </a:p>
          <a:p>
            <a:r>
              <a:rPr lang="en-US" dirty="0"/>
              <a:t>Need to represent states and actions, update internal representations, deduce hidden properties and appropriate actions</a:t>
            </a:r>
          </a:p>
          <a:p>
            <a:r>
              <a:rPr lang="en-US" dirty="0"/>
              <a:t>Need a formal representation for the KB</a:t>
            </a:r>
          </a:p>
          <a:p>
            <a:r>
              <a:rPr lang="en-US" dirty="0"/>
              <a:t>And a way to reason about that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7097642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Logic in general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31775" indent="-231775"/>
            <a:r>
              <a:rPr lang="en-US" altLang="fi-FI" b="1" dirty="0"/>
              <a:t>Logics</a:t>
            </a:r>
            <a:r>
              <a:rPr lang="en-US" altLang="fi-FI" dirty="0"/>
              <a:t> are formal languages for representing information such that conclusions can be drawn</a:t>
            </a:r>
          </a:p>
          <a:p>
            <a:pPr marL="231775" indent="-231775"/>
            <a:r>
              <a:rPr lang="en-US" altLang="fi-FI" b="1" dirty="0"/>
              <a:t>Syntax</a:t>
            </a:r>
            <a:r>
              <a:rPr lang="en-US" altLang="fi-FI" dirty="0"/>
              <a:t> defines the sentences in the language</a:t>
            </a:r>
          </a:p>
          <a:p>
            <a:pPr marL="231775" indent="-231775"/>
            <a:r>
              <a:rPr lang="en-US" altLang="fi-FI" b="1" dirty="0"/>
              <a:t>Semantics</a:t>
            </a:r>
            <a:r>
              <a:rPr lang="en-US" altLang="fi-FI" dirty="0"/>
              <a:t> define the "meaning" of sentences</a:t>
            </a:r>
          </a:p>
          <a:p>
            <a:pPr marL="573088" lvl="1"/>
            <a:r>
              <a:rPr lang="en-US" altLang="fi-FI" sz="2800" dirty="0">
                <a:ea typeface="ＭＳ Ｐゴシック" panose="020B0600070205080204" pitchFamily="34" charset="-128"/>
              </a:rPr>
              <a:t>i.e., define </a:t>
            </a:r>
            <a:r>
              <a:rPr lang="en-US" altLang="fi-FI" sz="2800" b="1" dirty="0">
                <a:ea typeface="ＭＳ Ｐゴシック" panose="020B0600070205080204" pitchFamily="34" charset="-128"/>
              </a:rPr>
              <a:t>truth</a:t>
            </a:r>
            <a:r>
              <a:rPr lang="en-US" altLang="fi-FI" sz="2800" dirty="0">
                <a:ea typeface="ＭＳ Ｐゴシック" panose="020B0600070205080204" pitchFamily="34" charset="-128"/>
              </a:rPr>
              <a:t> of a sentence in a world</a:t>
            </a:r>
          </a:p>
          <a:p>
            <a:pPr marL="231775" indent="-231775"/>
            <a:r>
              <a:rPr lang="en-US" altLang="fi-FI" dirty="0"/>
              <a:t>E.g., the language of arithmetic</a:t>
            </a:r>
          </a:p>
          <a:p>
            <a:pPr marL="573088" lvl="1"/>
            <a:r>
              <a:rPr lang="en-US" altLang="fi-FI" sz="2800" dirty="0">
                <a:ea typeface="ＭＳ Ｐゴシック" panose="020B0600070205080204" pitchFamily="34" charset="-128"/>
              </a:rPr>
              <a:t>x+2 ≥ y is a sentence; x2+y &gt; {} is not a sentence</a:t>
            </a:r>
          </a:p>
          <a:p>
            <a:pPr marL="573088" lvl="1"/>
            <a:r>
              <a:rPr lang="en-US" altLang="fi-FI" sz="2800" dirty="0">
                <a:ea typeface="ＭＳ Ｐゴシック" panose="020B0600070205080204" pitchFamily="34" charset="-128"/>
              </a:rPr>
              <a:t>x+2 ≥ y is true </a:t>
            </a:r>
            <a:r>
              <a:rPr lang="en-US" altLang="fi-FI" sz="2800" dirty="0" err="1">
                <a:ea typeface="ＭＳ Ｐゴシック" panose="020B0600070205080204" pitchFamily="34" charset="-128"/>
              </a:rPr>
              <a:t>iff</a:t>
            </a:r>
            <a:r>
              <a:rPr lang="en-US" altLang="fi-FI" sz="2800" dirty="0">
                <a:ea typeface="ＭＳ Ｐゴシック" panose="020B0600070205080204" pitchFamily="34" charset="-128"/>
              </a:rPr>
              <a:t> the number x+2 is no less than the number y</a:t>
            </a:r>
          </a:p>
          <a:p>
            <a:pPr marL="573088" lvl="1"/>
            <a:r>
              <a:rPr lang="en-US" altLang="fi-FI" sz="2800" dirty="0">
                <a:ea typeface="ＭＳ Ｐゴシック" panose="020B0600070205080204" pitchFamily="34" charset="-128"/>
              </a:rPr>
              <a:t>x+2 ≥ y is true in a world where x = 7, y = 1</a:t>
            </a:r>
          </a:p>
          <a:p>
            <a:pPr marL="573088" lvl="1"/>
            <a:r>
              <a:rPr lang="en-US" altLang="fi-FI" sz="2800" dirty="0">
                <a:ea typeface="ＭＳ Ｐゴシック" panose="020B0600070205080204" pitchFamily="34" charset="-128"/>
              </a:rPr>
              <a:t>x+2 ≥ y is false in a world where x = 0, y = 6</a:t>
            </a:r>
          </a:p>
        </p:txBody>
      </p:sp>
    </p:spTree>
    <p:extLst>
      <p:ext uri="{BB962C8B-B14F-4D97-AF65-F5344CB8AC3E}">
        <p14:creationId xmlns:p14="http://schemas.microsoft.com/office/powerpoint/2010/main" val="3988409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Representation, reasoning, and logic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object of knowledge representation is to express knowledge in a computer-tractable form, so that agents can perform well. </a:t>
            </a:r>
          </a:p>
          <a:p>
            <a:r>
              <a:rPr lang="en-US" dirty="0"/>
              <a:t>A knowledge representation language is defined by: </a:t>
            </a:r>
          </a:p>
          <a:p>
            <a:pPr lvl="1"/>
            <a:r>
              <a:rPr lang="en-US" dirty="0"/>
              <a:t> its </a:t>
            </a:r>
            <a:r>
              <a:rPr lang="en-US" b="1" dirty="0"/>
              <a:t>syntax,</a:t>
            </a:r>
            <a:r>
              <a:rPr lang="en-US" dirty="0"/>
              <a:t> which defines all possible sequences of symbols that constitute sentences of the language. </a:t>
            </a:r>
          </a:p>
          <a:p>
            <a:pPr lvl="2"/>
            <a:r>
              <a:rPr lang="en-US" dirty="0"/>
              <a:t>Examples: Sentences in a book, bit patterns in computer memory. </a:t>
            </a:r>
          </a:p>
          <a:p>
            <a:pPr lvl="1"/>
            <a:r>
              <a:rPr lang="en-US" dirty="0"/>
              <a:t> its </a:t>
            </a:r>
            <a:r>
              <a:rPr lang="en-US" b="1" dirty="0"/>
              <a:t>semantics</a:t>
            </a:r>
            <a:r>
              <a:rPr lang="en-US" dirty="0"/>
              <a:t>, which determines the facts in the world to which the sentences refer. </a:t>
            </a:r>
          </a:p>
          <a:p>
            <a:pPr lvl="2"/>
            <a:r>
              <a:rPr lang="en-US" dirty="0"/>
              <a:t>Each sentence makes a claim about the world. </a:t>
            </a:r>
          </a:p>
          <a:p>
            <a:pPr lvl="2"/>
            <a:r>
              <a:rPr lang="en-US" dirty="0"/>
              <a:t>An agent is said to believe a sentence about the world.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428B-B216-4C78-ADBD-C7780FEA3E96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4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1701</Words>
  <Application>Microsoft Office PowerPoint</Application>
  <PresentationFormat>Widescreen</PresentationFormat>
  <Paragraphs>240</Paragraphs>
  <Slides>30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ＭＳ Ｐゴシック</vt:lpstr>
      <vt:lpstr>Arial</vt:lpstr>
      <vt:lpstr>Calibri</vt:lpstr>
      <vt:lpstr>Calibri Light</vt:lpstr>
      <vt:lpstr>Times New Roman</vt:lpstr>
      <vt:lpstr>Office Theme</vt:lpstr>
      <vt:lpstr>Knowledge Based Agents</vt:lpstr>
      <vt:lpstr>Outline</vt:lpstr>
      <vt:lpstr>Logical Agents</vt:lpstr>
      <vt:lpstr>Knowledge Based Agents</vt:lpstr>
      <vt:lpstr>Knowledge Base</vt:lpstr>
      <vt:lpstr>Knowledge Based Agents</vt:lpstr>
      <vt:lpstr>A simple knowledge-based agent</vt:lpstr>
      <vt:lpstr>PowerPoint Presentation</vt:lpstr>
      <vt:lpstr>Logical Agents</vt:lpstr>
      <vt:lpstr>Knowledge Based Agents</vt:lpstr>
      <vt:lpstr>Minesweeper</vt:lpstr>
      <vt:lpstr>Wumpus World</vt:lpstr>
      <vt:lpstr>Wumpus World</vt:lpstr>
      <vt:lpstr>Wumpus World description</vt:lpstr>
      <vt:lpstr>Wumpus World</vt:lpstr>
      <vt:lpstr>Agent in a Wumpus world: Percepts </vt:lpstr>
      <vt:lpstr>Agent in a Wumpus world: Actions</vt:lpstr>
      <vt:lpstr>Agent in a Wumpus world : Goal</vt:lpstr>
      <vt:lpstr>Wumpus world characterization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Representing Knowledge</vt:lpstr>
      <vt:lpstr>Logic in general</vt:lpstr>
      <vt:lpstr>Representation, reasoning, and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Based Agents</dc:title>
  <dc:creator>FARHAN DAWOOD</dc:creator>
  <cp:lastModifiedBy>Sadia Aslam</cp:lastModifiedBy>
  <cp:revision>46</cp:revision>
  <dcterms:created xsi:type="dcterms:W3CDTF">2019-04-09T05:57:36Z</dcterms:created>
  <dcterms:modified xsi:type="dcterms:W3CDTF">2024-12-30T07:48:15Z</dcterms:modified>
</cp:coreProperties>
</file>