
<file path=[Content_Types].xml><?xml version="1.0" encoding="utf-8"?>
<Types xmlns="http://schemas.openxmlformats.org/package/2006/content-types">
  <Default Extension="emf" ContentType="image/x-emf"/>
  <Default Extension="gif" ContentType="image/gi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305" r:id="rId3"/>
    <p:sldId id="257" r:id="rId4"/>
    <p:sldId id="258" r:id="rId5"/>
    <p:sldId id="355" r:id="rId6"/>
    <p:sldId id="354" r:id="rId7"/>
    <p:sldId id="358" r:id="rId8"/>
    <p:sldId id="259" r:id="rId9"/>
    <p:sldId id="296" r:id="rId10"/>
    <p:sldId id="297" r:id="rId11"/>
    <p:sldId id="265" r:id="rId12"/>
    <p:sldId id="266" r:id="rId13"/>
    <p:sldId id="262" r:id="rId14"/>
    <p:sldId id="263" r:id="rId15"/>
    <p:sldId id="356" r:id="rId16"/>
    <p:sldId id="327" r:id="rId17"/>
    <p:sldId id="264" r:id="rId18"/>
    <p:sldId id="357" r:id="rId19"/>
    <p:sldId id="268" r:id="rId20"/>
    <p:sldId id="269" r:id="rId21"/>
    <p:sldId id="270" r:id="rId22"/>
    <p:sldId id="271" r:id="rId23"/>
    <p:sldId id="273" r:id="rId24"/>
    <p:sldId id="274" r:id="rId25"/>
    <p:sldId id="275" r:id="rId26"/>
    <p:sldId id="276" r:id="rId27"/>
    <p:sldId id="277" r:id="rId28"/>
    <p:sldId id="310" r:id="rId29"/>
    <p:sldId id="311" r:id="rId30"/>
    <p:sldId id="312" r:id="rId31"/>
    <p:sldId id="313" r:id="rId32"/>
    <p:sldId id="350" r:id="rId33"/>
    <p:sldId id="351" r:id="rId34"/>
    <p:sldId id="352" r:id="rId35"/>
    <p:sldId id="335" r:id="rId36"/>
    <p:sldId id="336" r:id="rId37"/>
    <p:sldId id="337" r:id="rId38"/>
    <p:sldId id="346" r:id="rId39"/>
    <p:sldId id="347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42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Faculty\Documents\Book1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Faculty\Documents\Book1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Sheet1!$D$4</c:f>
              <c:strCache>
                <c:ptCount val="1"/>
                <c:pt idx="0">
                  <c:v>f(x)=sin(x)</c:v>
                </c:pt>
              </c:strCache>
            </c:strRef>
          </c:tx>
          <c:marker>
            <c:symbol val="circle"/>
            <c:size val="8"/>
          </c:marker>
          <c:val>
            <c:numRef>
              <c:f>Sheet1!$D$5:$D$20</c:f>
              <c:numCache>
                <c:formatCode>General</c:formatCode>
                <c:ptCount val="16"/>
                <c:pt idx="0">
                  <c:v>0</c:v>
                </c:pt>
                <c:pt idx="1">
                  <c:v>0.84</c:v>
                </c:pt>
                <c:pt idx="2">
                  <c:v>0.91</c:v>
                </c:pt>
                <c:pt idx="3">
                  <c:v>0.14000000000000001</c:v>
                </c:pt>
                <c:pt idx="4">
                  <c:v>-0.76</c:v>
                </c:pt>
                <c:pt idx="5">
                  <c:v>-0.96</c:v>
                </c:pt>
                <c:pt idx="6">
                  <c:v>-0.28000000000000003</c:v>
                </c:pt>
                <c:pt idx="7">
                  <c:v>0.66</c:v>
                </c:pt>
                <c:pt idx="8">
                  <c:v>0.99</c:v>
                </c:pt>
                <c:pt idx="9">
                  <c:v>0.41</c:v>
                </c:pt>
                <c:pt idx="10">
                  <c:v>-0.54</c:v>
                </c:pt>
                <c:pt idx="11">
                  <c:v>-1</c:v>
                </c:pt>
                <c:pt idx="12">
                  <c:v>-0.54</c:v>
                </c:pt>
                <c:pt idx="13">
                  <c:v>0.42</c:v>
                </c:pt>
                <c:pt idx="14">
                  <c:v>0.99</c:v>
                </c:pt>
                <c:pt idx="15">
                  <c:v>0.65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E27-4999-B389-9782EF07FB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84524904"/>
        <c:axId val="284530392"/>
      </c:lineChart>
      <c:catAx>
        <c:axId val="284524904"/>
        <c:scaling>
          <c:orientation val="minMax"/>
        </c:scaling>
        <c:delete val="0"/>
        <c:axPos val="b"/>
        <c:majorTickMark val="out"/>
        <c:minorTickMark val="none"/>
        <c:tickLblPos val="nextTo"/>
        <c:crossAx val="284530392"/>
        <c:crosses val="autoZero"/>
        <c:auto val="1"/>
        <c:lblAlgn val="ctr"/>
        <c:lblOffset val="100"/>
        <c:noMultiLvlLbl val="0"/>
      </c:catAx>
      <c:valAx>
        <c:axId val="28453039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84524904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/>
                </a:pPr>
                <a:endParaRPr lang="en-PK"/>
              </a:p>
            </c:txPr>
            <c:dLblPos val="bestFit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numRef>
              <c:f>(Sheet1!$C$8,Sheet1!$C$10,Sheet1!$C$14,Sheet1!$C$15)</c:f>
              <c:numCache>
                <c:formatCode>General</c:formatCode>
                <c:ptCount val="4"/>
                <c:pt idx="0">
                  <c:v>3</c:v>
                </c:pt>
                <c:pt idx="1">
                  <c:v>5</c:v>
                </c:pt>
                <c:pt idx="2">
                  <c:v>9</c:v>
                </c:pt>
                <c:pt idx="3">
                  <c:v>10</c:v>
                </c:pt>
              </c:numCache>
            </c:numRef>
          </c:cat>
          <c:val>
            <c:numRef>
              <c:f>(Sheet1!$E$8,Sheet1!$E$10,Sheet1!$E$14,Sheet1!$E$15)</c:f>
              <c:numCache>
                <c:formatCode>General</c:formatCode>
                <c:ptCount val="4"/>
                <c:pt idx="0">
                  <c:v>57.06</c:v>
                </c:pt>
                <c:pt idx="1">
                  <c:v>2.0499999999999998</c:v>
                </c:pt>
                <c:pt idx="2">
                  <c:v>70.61</c:v>
                </c:pt>
                <c:pt idx="3">
                  <c:v>22.8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41-497E-BB98-DDE5043E98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layout>
        <c:manualLayout>
          <c:xMode val="edge"/>
          <c:yMode val="edge"/>
          <c:x val="0.76936789151356078"/>
          <c:y val="0.24763706620005832"/>
          <c:w val="0.12229877515310586"/>
          <c:h val="0.51398512685914266"/>
        </c:manualLayout>
      </c:layout>
      <c:overlay val="0"/>
      <c:txPr>
        <a:bodyPr/>
        <a:lstStyle/>
        <a:p>
          <a:pPr rtl="0">
            <a:defRPr sz="1800"/>
          </a:pPr>
          <a:endParaRPr lang="en-PK"/>
        </a:p>
      </c:txPr>
    </c:legend>
    <c:plotVisOnly val="1"/>
    <c:dispBlanksAs val="gap"/>
    <c:showDLblsOverMax val="0"/>
  </c:chart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6608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1-06-03T06:27:13.6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7994 13223 0,'0'-25'47,"24"25"47,1 0-78,0 0-16,0 0 15,0 0 1,0 0-16,0 0 15,-25 25 17</inkml:trace>
  <inkml:trace contextRef="#ctx0" brushRef="#br0" timeOffset="1209.17">10882 13174 0,'25'0'78,"0"0"-78,0 0 16,0 0-16,0 0 15,0 24 1,-1-24-16,1 0 16,0 0-1,0 0 1,-25 25-1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085877-1D45-434C-81F7-ACD8962AD9BF}" type="datetimeFigureOut">
              <a:rPr lang="en-US" smtClean="0"/>
              <a:t>5/24/2022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E773BB-20C9-4846-8EE2-14EE065BA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74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8CA3F-117C-4C0C-8208-997EABC66A74}" type="datetimeFigureOut">
              <a:rPr lang="en-US" smtClean="0"/>
              <a:t>5/24/2022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E77C1-38E1-4051-935C-4BE89DDFA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332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8CA3F-117C-4C0C-8208-997EABC66A74}" type="datetimeFigureOut">
              <a:rPr lang="en-US" smtClean="0"/>
              <a:t>5/24/2022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E77C1-38E1-4051-935C-4BE89DDFA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072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8CA3F-117C-4C0C-8208-997EABC66A74}" type="datetimeFigureOut">
              <a:rPr lang="en-US" smtClean="0"/>
              <a:t>5/24/2022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E77C1-38E1-4051-935C-4BE89DDFA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216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8CA3F-117C-4C0C-8208-997EABC66A74}" type="datetimeFigureOut">
              <a:rPr lang="en-US" smtClean="0"/>
              <a:t>5/24/2022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E77C1-38E1-4051-935C-4BE89DDFA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216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8CA3F-117C-4C0C-8208-997EABC66A74}" type="datetimeFigureOut">
              <a:rPr lang="en-US" smtClean="0"/>
              <a:t>5/24/2022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E77C1-38E1-4051-935C-4BE89DDFA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599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8CA3F-117C-4C0C-8208-997EABC66A74}" type="datetimeFigureOut">
              <a:rPr lang="en-US" smtClean="0"/>
              <a:t>5/24/2022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E77C1-38E1-4051-935C-4BE89DDFA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771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8CA3F-117C-4C0C-8208-997EABC66A74}" type="datetimeFigureOut">
              <a:rPr lang="en-US" smtClean="0"/>
              <a:t>5/24/2022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E77C1-38E1-4051-935C-4BE89DDFA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778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8CA3F-117C-4C0C-8208-997EABC66A74}" type="datetimeFigureOut">
              <a:rPr lang="en-US" smtClean="0"/>
              <a:t>5/24/2022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E77C1-38E1-4051-935C-4BE89DDFA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998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8CA3F-117C-4C0C-8208-997EABC66A74}" type="datetimeFigureOut">
              <a:rPr lang="en-US" smtClean="0"/>
              <a:t>5/24/2022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E77C1-38E1-4051-935C-4BE89DDFA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601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8CA3F-117C-4C0C-8208-997EABC66A74}" type="datetimeFigureOut">
              <a:rPr lang="en-US" smtClean="0"/>
              <a:t>5/24/2022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E77C1-38E1-4051-935C-4BE89DDFA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83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8CA3F-117C-4C0C-8208-997EABC66A74}" type="datetimeFigureOut">
              <a:rPr lang="en-US" smtClean="0"/>
              <a:t>5/24/2022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E77C1-38E1-4051-935C-4BE89DDFA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878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68CA3F-117C-4C0C-8208-997EABC66A74}" type="datetimeFigureOut">
              <a:rPr lang="en-US" smtClean="0"/>
              <a:t>5/24/2022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3E77C1-38E1-4051-935C-4BE89DDFA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799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64677" y="28844"/>
            <a:ext cx="9144000" cy="2387600"/>
          </a:xfrm>
        </p:spPr>
        <p:txBody>
          <a:bodyPr/>
          <a:lstStyle/>
          <a:p>
            <a:r>
              <a:rPr lang="en-US" dirty="0"/>
              <a:t>Genetic Algorithm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4677" y="2508519"/>
            <a:ext cx="9144000" cy="1655762"/>
          </a:xfrm>
        </p:spPr>
        <p:txBody>
          <a:bodyPr/>
          <a:lstStyle/>
          <a:p>
            <a:endParaRPr lang="en-US"/>
          </a:p>
        </p:txBody>
      </p:sp>
      <p:pic>
        <p:nvPicPr>
          <p:cNvPr id="1026" name="Picture 2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9742" y="2898653"/>
            <a:ext cx="3629464" cy="3629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4394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Search and GA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Local search</a:t>
            </a:r>
            <a:r>
              <a:rPr lang="en-US" dirty="0"/>
              <a:t> methods involve making small changes to potential solutions to a problem until an optimal solution is identified. </a:t>
            </a:r>
          </a:p>
          <a:p>
            <a:r>
              <a:rPr lang="en-US" dirty="0"/>
              <a:t>Genetic Algorithm (GA) is a search-based </a:t>
            </a:r>
            <a:r>
              <a:rPr lang="en-US" b="1" dirty="0"/>
              <a:t>optimization</a:t>
            </a:r>
            <a:r>
              <a:rPr lang="en-US" dirty="0"/>
              <a:t> technique based on the principles of </a:t>
            </a:r>
            <a:r>
              <a:rPr lang="en-US" b="1" dirty="0"/>
              <a:t>Natural Genetics</a:t>
            </a:r>
            <a:r>
              <a:rPr lang="en-US" dirty="0"/>
              <a:t> and </a:t>
            </a:r>
            <a:r>
              <a:rPr lang="en-US" b="1" dirty="0"/>
              <a:t>Natural Selection</a:t>
            </a:r>
            <a:r>
              <a:rPr lang="en-US" dirty="0"/>
              <a:t>.</a:t>
            </a:r>
          </a:p>
          <a:p>
            <a:r>
              <a:rPr lang="en-US" dirty="0"/>
              <a:t>It finds the </a:t>
            </a:r>
            <a:r>
              <a:rPr lang="en-US" b="1" dirty="0"/>
              <a:t>Optimal Solution </a:t>
            </a:r>
            <a:r>
              <a:rPr lang="en-US" dirty="0"/>
              <a:t>based in </a:t>
            </a:r>
            <a:r>
              <a:rPr lang="en-US" b="1" dirty="0"/>
              <a:t>survival of the fittest</a:t>
            </a:r>
            <a:r>
              <a:rPr lang="en-US" dirty="0"/>
              <a:t>.</a:t>
            </a:r>
          </a:p>
          <a:p>
            <a:r>
              <a:rPr lang="en-US" dirty="0"/>
              <a:t>Optimization is the process of making something better i.e. to get the “best” output value.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035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Evolutionary Computing</a:t>
            </a:r>
            <a:endParaRPr lang="en-GB"/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v-SE" b="1" dirty="0"/>
              <a:t>Natural systems</a:t>
            </a:r>
            <a:r>
              <a:rPr lang="sv-SE" dirty="0"/>
              <a:t> as guiding metaphors</a:t>
            </a:r>
          </a:p>
          <a:p>
            <a:endParaRPr lang="sv-SE" sz="1700" dirty="0"/>
          </a:p>
          <a:p>
            <a:r>
              <a:rPr lang="sv-SE" dirty="0"/>
              <a:t>Charles Darwinian Evolution – 1859</a:t>
            </a:r>
          </a:p>
          <a:p>
            <a:endParaRPr lang="sv-SE" sz="1300" dirty="0"/>
          </a:p>
          <a:p>
            <a:r>
              <a:rPr lang="en-US" b="1" dirty="0"/>
              <a:t>Theory of natural selection </a:t>
            </a:r>
          </a:p>
          <a:p>
            <a:pPr lvl="1"/>
            <a:r>
              <a:rPr lang="en-US" dirty="0"/>
              <a:t>It proposes that the plants and animals that exist today are the result of millions of years of adaptation to the demands of the environment</a:t>
            </a:r>
            <a:endParaRPr lang="sv-SE" dirty="0"/>
          </a:p>
          <a:p>
            <a:endParaRPr lang="sv-SE" sz="800" dirty="0"/>
          </a:p>
          <a:p>
            <a:r>
              <a:rPr lang="en-US" dirty="0"/>
              <a:t>Over time, the entire population of the ecosystem is said to evolve to contain organisms that, </a:t>
            </a:r>
            <a:r>
              <a:rPr lang="en-US" b="1" dirty="0"/>
              <a:t>on average, are ﬁtter  for environment</a:t>
            </a:r>
            <a:r>
              <a:rPr lang="en-US" dirty="0"/>
              <a:t> than those of previous generations of the population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293" y="365125"/>
            <a:ext cx="4483507" cy="1826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92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Genetic Algorithms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concepts of </a:t>
            </a:r>
            <a:r>
              <a:rPr lang="en-US" b="1" dirty="0"/>
              <a:t>GAs</a:t>
            </a:r>
            <a:r>
              <a:rPr lang="en-US" dirty="0"/>
              <a:t> are directly derived from </a:t>
            </a:r>
            <a:r>
              <a:rPr lang="en-US" b="1" dirty="0"/>
              <a:t>natural evolution</a:t>
            </a:r>
            <a:r>
              <a:rPr lang="en-US" dirty="0"/>
              <a:t>.</a:t>
            </a:r>
          </a:p>
          <a:p>
            <a:r>
              <a:rPr lang="en-US" b="1" dirty="0"/>
              <a:t>GAs</a:t>
            </a:r>
            <a:r>
              <a:rPr lang="en-US" dirty="0"/>
              <a:t> emulate ideas from </a:t>
            </a:r>
            <a:r>
              <a:rPr lang="en-US" b="1" dirty="0"/>
              <a:t>genetics</a:t>
            </a:r>
            <a:r>
              <a:rPr lang="en-US" dirty="0"/>
              <a:t> and </a:t>
            </a:r>
            <a:r>
              <a:rPr lang="en-US" b="1" dirty="0"/>
              <a:t>natural selection</a:t>
            </a:r>
            <a:r>
              <a:rPr lang="en-US" dirty="0"/>
              <a:t> and can </a:t>
            </a:r>
            <a:r>
              <a:rPr lang="en-US" b="1" dirty="0"/>
              <a:t>search potentially large spaces</a:t>
            </a:r>
          </a:p>
          <a:p>
            <a:r>
              <a:rPr lang="sv-SE" dirty="0"/>
              <a:t>Based on: </a:t>
            </a:r>
            <a:r>
              <a:rPr lang="sv-SE" b="1" dirty="0"/>
              <a:t>survival of the most fittest individual</a:t>
            </a:r>
            <a:endParaRPr lang="sv-SE" dirty="0"/>
          </a:p>
          <a:p>
            <a:r>
              <a:rPr lang="sv-SE" dirty="0"/>
              <a:t>Two key steps: </a:t>
            </a:r>
            <a:r>
              <a:rPr lang="sv-SE" i="1" dirty="0"/>
              <a:t>reproduction, survive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113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Genetic Algorithm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28575" cmpd="sng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/>
          <a:p>
            <a:r>
              <a:rPr lang="en-US" altLang="en-US" dirty="0"/>
              <a:t>Based on Darwinian Paradigm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Intrinsically a robust search and optimization mechanism</a:t>
            </a:r>
          </a:p>
        </p:txBody>
      </p:sp>
      <p:grpSp>
        <p:nvGrpSpPr>
          <p:cNvPr id="173060" name="Group 4"/>
          <p:cNvGrpSpPr>
            <a:grpSpLocks/>
          </p:cNvGrpSpPr>
          <p:nvPr/>
        </p:nvGrpSpPr>
        <p:grpSpPr bwMode="auto">
          <a:xfrm>
            <a:off x="3180471" y="2563839"/>
            <a:ext cx="4446588" cy="1687513"/>
            <a:chOff x="1056" y="1872"/>
            <a:chExt cx="2801" cy="1063"/>
          </a:xfrm>
        </p:grpSpPr>
        <p:sp>
          <p:nvSpPr>
            <p:cNvPr id="173061" name="Text Box 5"/>
            <p:cNvSpPr txBox="1">
              <a:spLocks noChangeArrowheads="1"/>
            </p:cNvSpPr>
            <p:nvPr/>
          </p:nvSpPr>
          <p:spPr bwMode="auto">
            <a:xfrm>
              <a:off x="1056" y="1894"/>
              <a:ext cx="908" cy="233"/>
            </a:xfrm>
            <a:prstGeom prst="rect">
              <a:avLst/>
            </a:prstGeom>
            <a:noFill/>
            <a:ln w="12700">
              <a:solidFill>
                <a:srgbClr val="0066FF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Times New Roman" panose="02020603050405020304" pitchFamily="18" charset="0"/>
                </a:rPr>
                <a:t>Reproduction</a:t>
              </a:r>
            </a:p>
          </p:txBody>
        </p:sp>
        <p:sp>
          <p:nvSpPr>
            <p:cNvPr id="173062" name="Text Box 6"/>
            <p:cNvSpPr txBox="1">
              <a:spLocks noChangeArrowheads="1"/>
            </p:cNvSpPr>
            <p:nvPr/>
          </p:nvSpPr>
          <p:spPr bwMode="auto">
            <a:xfrm>
              <a:off x="3014" y="1872"/>
              <a:ext cx="843" cy="233"/>
            </a:xfrm>
            <a:prstGeom prst="rect">
              <a:avLst/>
            </a:prstGeom>
            <a:noFill/>
            <a:ln w="12700">
              <a:solidFill>
                <a:srgbClr val="0066FF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Times New Roman" panose="02020603050405020304" pitchFamily="18" charset="0"/>
                </a:rPr>
                <a:t>Competition</a:t>
              </a:r>
            </a:p>
          </p:txBody>
        </p:sp>
        <p:sp>
          <p:nvSpPr>
            <p:cNvPr id="173063" name="Text Box 7"/>
            <p:cNvSpPr txBox="1">
              <a:spLocks noChangeArrowheads="1"/>
            </p:cNvSpPr>
            <p:nvPr/>
          </p:nvSpPr>
          <p:spPr bwMode="auto">
            <a:xfrm>
              <a:off x="3120" y="2702"/>
              <a:ext cx="658" cy="233"/>
            </a:xfrm>
            <a:prstGeom prst="rect">
              <a:avLst/>
            </a:prstGeom>
            <a:noFill/>
            <a:ln w="12700">
              <a:solidFill>
                <a:srgbClr val="0066FF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Times New Roman" panose="02020603050405020304" pitchFamily="18" charset="0"/>
                </a:rPr>
                <a:t>Selection</a:t>
              </a:r>
            </a:p>
          </p:txBody>
        </p:sp>
        <p:sp>
          <p:nvSpPr>
            <p:cNvPr id="173064" name="Text Box 8"/>
            <p:cNvSpPr txBox="1">
              <a:spLocks noChangeArrowheads="1"/>
            </p:cNvSpPr>
            <p:nvPr/>
          </p:nvSpPr>
          <p:spPr bwMode="auto">
            <a:xfrm>
              <a:off x="1247" y="2702"/>
              <a:ext cx="569" cy="233"/>
            </a:xfrm>
            <a:prstGeom prst="rect">
              <a:avLst/>
            </a:prstGeom>
            <a:noFill/>
            <a:ln w="12700">
              <a:solidFill>
                <a:srgbClr val="0066FF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Times New Roman" panose="02020603050405020304" pitchFamily="18" charset="0"/>
                </a:rPr>
                <a:t>Survive</a:t>
              </a:r>
            </a:p>
          </p:txBody>
        </p:sp>
        <p:sp>
          <p:nvSpPr>
            <p:cNvPr id="173065" name="Line 9"/>
            <p:cNvSpPr>
              <a:spLocks noChangeShapeType="1"/>
            </p:cNvSpPr>
            <p:nvPr/>
          </p:nvSpPr>
          <p:spPr bwMode="auto">
            <a:xfrm>
              <a:off x="3504" y="2182"/>
              <a:ext cx="0" cy="528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73066" name="Line 10"/>
            <p:cNvSpPr>
              <a:spLocks noChangeShapeType="1"/>
            </p:cNvSpPr>
            <p:nvPr/>
          </p:nvSpPr>
          <p:spPr bwMode="auto">
            <a:xfrm flipH="1">
              <a:off x="1968" y="2854"/>
              <a:ext cx="1152" cy="0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73067" name="Line 11"/>
            <p:cNvSpPr>
              <a:spLocks noChangeShapeType="1"/>
            </p:cNvSpPr>
            <p:nvPr/>
          </p:nvSpPr>
          <p:spPr bwMode="auto">
            <a:xfrm flipV="1">
              <a:off x="1536" y="2182"/>
              <a:ext cx="0" cy="528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73068" name="Line 12"/>
            <p:cNvSpPr>
              <a:spLocks noChangeShapeType="1"/>
            </p:cNvSpPr>
            <p:nvPr/>
          </p:nvSpPr>
          <p:spPr bwMode="auto">
            <a:xfrm>
              <a:off x="2208" y="2038"/>
              <a:ext cx="816" cy="0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92482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Genetic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process for running a genetic algorithm is as follows.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Generate a random population of chromosomes (this is the first generation).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If termination criteria are satisfied, stop. Otherwise, continue with step 3.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Determine the fitness of each chromosome.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Apply crossover and mutation to selected chromosomes from the current generation to generate a new population of chromosomes—the next generation.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Return to step 2.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194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2.8.5. Variable Selection by Genetic Algorithms (Dr. Frank Dieterle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336" y="179729"/>
            <a:ext cx="5401163" cy="6537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5396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Genetic Algorithms</a:t>
            </a:r>
            <a:endParaRPr lang="en-GB"/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Before we can </a:t>
            </a:r>
            <a:r>
              <a:rPr lang="en-US" altLang="en-US" b="1" dirty="0"/>
              <a:t>apply Genetic Algorithm to a problem</a:t>
            </a:r>
            <a:r>
              <a:rPr lang="en-US" altLang="en-US" dirty="0"/>
              <a:t>, we need to answer:</a:t>
            </a:r>
            <a:endParaRPr lang="sv-SE" altLang="en-US" dirty="0"/>
          </a:p>
          <a:p>
            <a:pPr lvl="1"/>
            <a:r>
              <a:rPr lang="en-US" sz="2600" dirty="0"/>
              <a:t>How can an </a:t>
            </a:r>
            <a:r>
              <a:rPr lang="en-US" sz="2600" b="1" dirty="0"/>
              <a:t>individual be represented</a:t>
            </a:r>
            <a:r>
              <a:rPr lang="en-US" sz="2600" dirty="0"/>
              <a:t>?</a:t>
            </a:r>
          </a:p>
          <a:p>
            <a:pPr lvl="1"/>
            <a:r>
              <a:rPr lang="en-US" sz="2600" dirty="0"/>
              <a:t>What is the </a:t>
            </a:r>
            <a:r>
              <a:rPr lang="en-US" sz="2600" b="1" dirty="0"/>
              <a:t>fitness function</a:t>
            </a:r>
            <a:r>
              <a:rPr lang="en-US" sz="2600" dirty="0"/>
              <a:t>?</a:t>
            </a:r>
          </a:p>
          <a:p>
            <a:pPr lvl="1"/>
            <a:r>
              <a:rPr lang="en-US" sz="2600" dirty="0"/>
              <a:t>How are </a:t>
            </a:r>
            <a:r>
              <a:rPr lang="en-US" sz="2600" b="1" dirty="0"/>
              <a:t>individuals selected</a:t>
            </a:r>
            <a:r>
              <a:rPr lang="en-US" sz="2600" dirty="0"/>
              <a:t>?</a:t>
            </a:r>
          </a:p>
          <a:p>
            <a:pPr lvl="1"/>
            <a:r>
              <a:rPr lang="en-US" sz="2600" dirty="0"/>
              <a:t>How do </a:t>
            </a:r>
            <a:r>
              <a:rPr lang="en-US" sz="2600" b="1" dirty="0"/>
              <a:t>individuals are generated</a:t>
            </a:r>
            <a:r>
              <a:rPr lang="en-US" sz="2600" dirty="0"/>
              <a:t>?</a:t>
            </a:r>
            <a:endParaRPr lang="sv-SE" sz="2600" dirty="0"/>
          </a:p>
          <a:p>
            <a:endParaRPr lang="sv-SE" u="sng" dirty="0"/>
          </a:p>
          <a:p>
            <a:endParaRPr lang="sv-SE" u="sng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486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Representation of States (Solution)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States as </a:t>
                </a:r>
                <a:r>
                  <a:rPr lang="en-US" b="1" dirty="0"/>
                  <a:t>sequence of strings</a:t>
                </a:r>
              </a:p>
              <a:p>
                <a:r>
                  <a:rPr lang="en-US" dirty="0"/>
                  <a:t>Each state or individual is represented as a string over finite alphabet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dirty="0"/>
                  <a:t>. It is also called </a:t>
                </a:r>
                <a:r>
                  <a:rPr lang="en-US" b="1" dirty="0"/>
                  <a:t>chromosome</a:t>
                </a:r>
                <a:r>
                  <a:rPr lang="en-US" dirty="0"/>
                  <a:t> which contains </a:t>
                </a:r>
                <a:r>
                  <a:rPr lang="en-US" b="1" dirty="0"/>
                  <a:t>genes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241" r="-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6791178" y="3895580"/>
            <a:ext cx="2971800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GB" altLang="en-US" sz="3600">
                <a:latin typeface="Times" pitchFamily="18" charset="0"/>
              </a:rPr>
              <a:t>1001011111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1914378" y="4124179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Solution: 607 </a:t>
            </a:r>
            <a:endParaRPr lang="en-GB" altLang="en-US" sz="2400" b="1" dirty="0"/>
          </a:p>
        </p:txBody>
      </p:sp>
      <p:sp>
        <p:nvSpPr>
          <p:cNvPr id="6" name="Line 7"/>
          <p:cNvSpPr>
            <a:spLocks noChangeShapeType="1"/>
          </p:cNvSpPr>
          <p:nvPr/>
        </p:nvSpPr>
        <p:spPr bwMode="auto">
          <a:xfrm>
            <a:off x="4428978" y="4276579"/>
            <a:ext cx="2133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4733778" y="4428979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/>
              <a:t>Encoding</a:t>
            </a:r>
            <a:endParaRPr lang="en-GB" altLang="en-US" sz="2400"/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6556716" y="4764856"/>
            <a:ext cx="37490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dirty="0"/>
              <a:t>Chromosome: Binary String</a:t>
            </a:r>
            <a:endParaRPr lang="en-GB" altLang="en-US" sz="2400" dirty="0"/>
          </a:p>
        </p:txBody>
      </p:sp>
      <p:sp>
        <p:nvSpPr>
          <p:cNvPr id="9" name="Line 10"/>
          <p:cNvSpPr>
            <a:spLocks noChangeShapeType="1"/>
          </p:cNvSpPr>
          <p:nvPr/>
        </p:nvSpPr>
        <p:spPr bwMode="auto">
          <a:xfrm>
            <a:off x="7705578" y="3590779"/>
            <a:ext cx="152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7400778" y="3209780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genes</a:t>
            </a:r>
            <a:endParaRPr lang="en-GB" altLang="en-US"/>
          </a:p>
        </p:txBody>
      </p:sp>
      <p:sp>
        <p:nvSpPr>
          <p:cNvPr id="11" name="Line 12"/>
          <p:cNvSpPr>
            <a:spLocks noChangeShapeType="1"/>
          </p:cNvSpPr>
          <p:nvPr/>
        </p:nvSpPr>
        <p:spPr bwMode="auto">
          <a:xfrm flipH="1">
            <a:off x="7476978" y="3590779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931864" y="5484466"/>
            <a:ext cx="6328271" cy="692497"/>
          </a:xfrm>
          <a:prstGeom prst="rect">
            <a:avLst/>
          </a:prstGeom>
          <a:solidFill>
            <a:srgbClr val="FFFF00">
              <a:alpha val="36000"/>
            </a:srgb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dirty="0"/>
              <a:t>Recall that every state is a solution in local search</a:t>
            </a:r>
          </a:p>
          <a:p>
            <a:pPr>
              <a:lnSpc>
                <a:spcPct val="150000"/>
              </a:lnSpc>
            </a:pPr>
            <a:endParaRPr lang="fr-FR" altLang="en-US" sz="200" dirty="0"/>
          </a:p>
        </p:txBody>
      </p:sp>
    </p:spTree>
    <p:extLst>
      <p:ext uri="{BB962C8B-B14F-4D97-AF65-F5344CB8AC3E}">
        <p14:creationId xmlns:p14="http://schemas.microsoft.com/office/powerpoint/2010/main" val="613923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Reproduction: Building New States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After representing </a:t>
            </a:r>
            <a:r>
              <a:rPr lang="en-US" u="sng" dirty="0"/>
              <a:t>States</a:t>
            </a:r>
            <a:r>
              <a:rPr lang="en-US" dirty="0"/>
              <a:t> (Solutions).</a:t>
            </a:r>
          </a:p>
          <a:p>
            <a:r>
              <a:rPr lang="en-US" dirty="0"/>
              <a:t>Build a </a:t>
            </a:r>
            <a:r>
              <a:rPr lang="en-US" b="1" dirty="0"/>
              <a:t>population of random solutions</a:t>
            </a:r>
            <a:r>
              <a:rPr lang="en-US" dirty="0"/>
              <a:t>.</a:t>
            </a:r>
          </a:p>
          <a:p>
            <a:r>
              <a:rPr lang="en-US" dirty="0"/>
              <a:t>Let them </a:t>
            </a:r>
            <a:r>
              <a:rPr lang="en-US" b="1" dirty="0"/>
              <a:t>reproduce</a:t>
            </a:r>
            <a:r>
              <a:rPr lang="en-US" dirty="0"/>
              <a:t> using </a:t>
            </a:r>
            <a:r>
              <a:rPr lang="en-US" b="1" dirty="0"/>
              <a:t>genetic operations</a:t>
            </a:r>
            <a:r>
              <a:rPr lang="en-US" dirty="0"/>
              <a:t>.</a:t>
            </a:r>
          </a:p>
          <a:p>
            <a:pPr lvl="1"/>
            <a:endParaRPr lang="sv-SE" dirty="0"/>
          </a:p>
          <a:p>
            <a:pPr lvl="1"/>
            <a:r>
              <a:rPr lang="sv-SE" sz="2600" dirty="0"/>
              <a:t>At each generation: apply ”</a:t>
            </a:r>
            <a:r>
              <a:rPr lang="sv-SE" sz="2600" u="sng" dirty="0"/>
              <a:t>survival of the fittest</a:t>
            </a:r>
            <a:r>
              <a:rPr lang="sv-SE" sz="2600" dirty="0"/>
              <a:t>”</a:t>
            </a:r>
          </a:p>
          <a:p>
            <a:pPr lvl="1"/>
            <a:endParaRPr lang="sv-SE" sz="2600" u="sng" dirty="0"/>
          </a:p>
          <a:p>
            <a:pPr lvl="1"/>
            <a:r>
              <a:rPr lang="sv-SE" sz="2600" u="sng" dirty="0"/>
              <a:t>Hopefully better and better solutions</a:t>
            </a:r>
            <a:r>
              <a:rPr lang="sv-SE" sz="2600" dirty="0"/>
              <a:t> evolve over time</a:t>
            </a:r>
          </a:p>
          <a:p>
            <a:pPr lvl="1"/>
            <a:endParaRPr lang="sv-SE" sz="2600" dirty="0"/>
          </a:p>
          <a:p>
            <a:pPr lvl="1"/>
            <a:r>
              <a:rPr lang="sv-SE" sz="2600" dirty="0"/>
              <a:t>The </a:t>
            </a:r>
            <a:r>
              <a:rPr lang="sv-SE" sz="2600" u="sng" dirty="0"/>
              <a:t>best solutions are more likely to survive and more likely to produce even better solutions</a:t>
            </a:r>
            <a:endParaRPr lang="en-GB" sz="2600" u="sng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076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Evaluation and Selection</a:t>
            </a:r>
            <a:endParaRPr lang="en-GB"/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sv-SE" dirty="0"/>
              <a:t>We then see how good the solutions are, using an </a:t>
            </a:r>
            <a:r>
              <a:rPr lang="sv-SE" u="sng" dirty="0"/>
              <a:t>evaluation function</a:t>
            </a:r>
            <a:r>
              <a:rPr lang="sv-SE" dirty="0"/>
              <a:t> (recall f(n) in infomed search)</a:t>
            </a:r>
          </a:p>
          <a:p>
            <a:pPr lvl="1">
              <a:lnSpc>
                <a:spcPct val="150000"/>
              </a:lnSpc>
            </a:pPr>
            <a:r>
              <a:rPr lang="sv-SE" dirty="0"/>
              <a:t>Often </a:t>
            </a:r>
            <a:r>
              <a:rPr lang="sv-SE" b="1" dirty="0"/>
              <a:t>it is a heuristic</a:t>
            </a:r>
            <a:r>
              <a:rPr lang="sv-SE" dirty="0"/>
              <a:t>, especially if it is computationally expensive to do a complete evaluation</a:t>
            </a:r>
          </a:p>
          <a:p>
            <a:pPr lvl="1">
              <a:lnSpc>
                <a:spcPct val="150000"/>
              </a:lnSpc>
            </a:pPr>
            <a:r>
              <a:rPr lang="sv-SE" dirty="0"/>
              <a:t>The final population can then be evaluated more deeply to decide on the best solution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952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Survival of the Fittest</a:t>
            </a:r>
            <a:endParaRPr lang="en-GB"/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sv-SE" u="sng" dirty="0"/>
              <a:t>Select the surviving population</a:t>
            </a:r>
          </a:p>
          <a:p>
            <a:pPr>
              <a:lnSpc>
                <a:spcPct val="90000"/>
              </a:lnSpc>
            </a:pPr>
            <a:endParaRPr lang="sv-SE" dirty="0"/>
          </a:p>
          <a:p>
            <a:pPr>
              <a:lnSpc>
                <a:spcPct val="90000"/>
              </a:lnSpc>
            </a:pPr>
            <a:r>
              <a:rPr lang="sv-SE" dirty="0"/>
              <a:t>Likelihood of survival is related in some way to your score on the </a:t>
            </a:r>
            <a:r>
              <a:rPr lang="sv-SE" u="sng" dirty="0"/>
              <a:t>fitness function</a:t>
            </a:r>
          </a:p>
          <a:p>
            <a:pPr lvl="1">
              <a:lnSpc>
                <a:spcPct val="90000"/>
              </a:lnSpc>
            </a:pPr>
            <a:r>
              <a:rPr lang="sv-SE" dirty="0"/>
              <a:t>The most common technique is </a:t>
            </a:r>
            <a:r>
              <a:rPr lang="sv-SE" u="sng" dirty="0"/>
              <a:t>roulette wheel selection</a:t>
            </a:r>
          </a:p>
          <a:p>
            <a:pPr marL="457200" lvl="1" indent="0">
              <a:buNone/>
            </a:pPr>
            <a:endParaRPr lang="sv-SE" dirty="0"/>
          </a:p>
          <a:p>
            <a:pPr>
              <a:lnSpc>
                <a:spcPct val="90000"/>
              </a:lnSpc>
            </a:pPr>
            <a:r>
              <a:rPr lang="sv-SE" dirty="0"/>
              <a:t>Note we always keep the </a:t>
            </a:r>
            <a:r>
              <a:rPr lang="sv-SE" b="1" u="sng" dirty="0"/>
              <a:t>best solution</a:t>
            </a:r>
            <a:r>
              <a:rPr lang="sv-SE" dirty="0"/>
              <a:t> so far</a:t>
            </a:r>
          </a:p>
          <a:p>
            <a:pPr>
              <a:lnSpc>
                <a:spcPct val="90000"/>
              </a:lnSpc>
            </a:pPr>
            <a:endParaRPr lang="sv-SE" dirty="0"/>
          </a:p>
          <a:p>
            <a:pPr>
              <a:lnSpc>
                <a:spcPct val="90000"/>
              </a:lnSpc>
            </a:pPr>
            <a:r>
              <a:rPr lang="sv-SE" dirty="0"/>
              <a:t>Remember: </a:t>
            </a:r>
            <a:r>
              <a:rPr lang="sv-SE" u="sng" dirty="0"/>
              <a:t>Its local search</a:t>
            </a:r>
            <a:endParaRPr lang="en-GB" u="sng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878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Genetic Operators</a:t>
            </a:r>
            <a:endParaRPr lang="en-GB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dirty="0"/>
              <a:t>These operators mimic what happens to our genetic material when we reproduce</a:t>
            </a:r>
            <a:endParaRPr lang="en-GB" dirty="0"/>
          </a:p>
          <a:p>
            <a:pPr lvl="1"/>
            <a:r>
              <a:rPr lang="sv-SE" dirty="0"/>
              <a:t>Crossover</a:t>
            </a:r>
          </a:p>
          <a:p>
            <a:pPr lvl="1"/>
            <a:r>
              <a:rPr lang="sv-SE" dirty="0"/>
              <a:t>Mutation</a:t>
            </a:r>
          </a:p>
          <a:p>
            <a:pPr marL="0" indent="0">
              <a:buNone/>
            </a:pPr>
            <a:endParaRPr lang="sv-SE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4859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Crossover Operator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Cut two solutions at a random point and switch the respective parts</a:t>
            </a:r>
          </a:p>
          <a:p>
            <a:r>
              <a:rPr lang="sv-SE" dirty="0"/>
              <a:t>Typically a value of 0.7 for crossover probability gives good results.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2590800" y="3661032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GB" sz="2400">
                <a:latin typeface="Times New Roman" pitchFamily="18" charset="0"/>
              </a:rPr>
              <a:t>a</a:t>
            </a:r>
            <a:r>
              <a:rPr lang="en-GB" sz="2400" baseline="-25000">
                <a:latin typeface="Times New Roman" pitchFamily="18" charset="0"/>
              </a:rPr>
              <a:t>1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3048000" y="3661032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GB" sz="2400">
                <a:latin typeface="Times New Roman" pitchFamily="18" charset="0"/>
              </a:rPr>
              <a:t>a</a:t>
            </a:r>
            <a:r>
              <a:rPr lang="en-GB" sz="2400" baseline="-25000">
                <a:latin typeface="Times New Roman" pitchFamily="18" charset="0"/>
              </a:rPr>
              <a:t>2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4876800" y="3661032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GB" sz="2400">
                <a:latin typeface="Times New Roman" pitchFamily="18" charset="0"/>
              </a:rPr>
              <a:t>a</a:t>
            </a:r>
            <a:r>
              <a:rPr lang="en-GB" sz="2400" baseline="-25000">
                <a:latin typeface="Times New Roman" pitchFamily="18" charset="0"/>
              </a:rPr>
              <a:t>6</a:t>
            </a:r>
          </a:p>
        </p:txBody>
      </p:sp>
      <p:sp>
        <p:nvSpPr>
          <p:cNvPr id="7174" name="Rectangle 6"/>
          <p:cNvSpPr>
            <a:spLocks noChangeArrowheads="1"/>
          </p:cNvSpPr>
          <p:nvPr/>
        </p:nvSpPr>
        <p:spPr bwMode="auto">
          <a:xfrm>
            <a:off x="3505200" y="3661032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GB" sz="2400">
                <a:latin typeface="Times New Roman" pitchFamily="18" charset="0"/>
              </a:rPr>
              <a:t>a</a:t>
            </a:r>
            <a:r>
              <a:rPr lang="en-GB" sz="2400" baseline="-25000">
                <a:latin typeface="Times New Roman" pitchFamily="18" charset="0"/>
              </a:rPr>
              <a:t>3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7175" name="Rectangle 7"/>
          <p:cNvSpPr>
            <a:spLocks noChangeArrowheads="1"/>
          </p:cNvSpPr>
          <p:nvPr/>
        </p:nvSpPr>
        <p:spPr bwMode="auto">
          <a:xfrm>
            <a:off x="3962400" y="3661032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GB" sz="2400">
                <a:latin typeface="Times New Roman" pitchFamily="18" charset="0"/>
              </a:rPr>
              <a:t>a</a:t>
            </a:r>
            <a:r>
              <a:rPr lang="en-GB" sz="2400" baseline="-25000">
                <a:latin typeface="Times New Roman" pitchFamily="18" charset="0"/>
              </a:rPr>
              <a:t>4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4419600" y="3661032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GB" sz="2400">
                <a:latin typeface="Times New Roman" pitchFamily="18" charset="0"/>
              </a:rPr>
              <a:t>a</a:t>
            </a:r>
            <a:r>
              <a:rPr lang="en-GB" sz="2400" baseline="-25000">
                <a:latin typeface="Times New Roman" pitchFamily="18" charset="0"/>
              </a:rPr>
              <a:t>5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7177" name="Rectangle 9"/>
          <p:cNvSpPr>
            <a:spLocks noChangeArrowheads="1"/>
          </p:cNvSpPr>
          <p:nvPr/>
        </p:nvSpPr>
        <p:spPr bwMode="auto">
          <a:xfrm>
            <a:off x="6400800" y="3661032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sv-SE" sz="2400">
                <a:latin typeface="Times New Roman" pitchFamily="18" charset="0"/>
              </a:rPr>
              <a:t>b</a:t>
            </a:r>
            <a:r>
              <a:rPr lang="en-GB" sz="2400" baseline="-25000">
                <a:latin typeface="Times New Roman" pitchFamily="18" charset="0"/>
              </a:rPr>
              <a:t>1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7178" name="Rectangle 10"/>
          <p:cNvSpPr>
            <a:spLocks noChangeArrowheads="1"/>
          </p:cNvSpPr>
          <p:nvPr/>
        </p:nvSpPr>
        <p:spPr bwMode="auto">
          <a:xfrm>
            <a:off x="6858000" y="3661032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sv-SE" sz="2400">
                <a:latin typeface="Times New Roman" pitchFamily="18" charset="0"/>
              </a:rPr>
              <a:t>b</a:t>
            </a:r>
            <a:r>
              <a:rPr lang="en-GB" sz="2400" baseline="-25000">
                <a:latin typeface="Times New Roman" pitchFamily="18" charset="0"/>
              </a:rPr>
              <a:t>2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7179" name="Rectangle 11"/>
          <p:cNvSpPr>
            <a:spLocks noChangeArrowheads="1"/>
          </p:cNvSpPr>
          <p:nvPr/>
        </p:nvSpPr>
        <p:spPr bwMode="auto">
          <a:xfrm>
            <a:off x="8686800" y="3661032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sv-SE" sz="2400">
                <a:latin typeface="Times New Roman" pitchFamily="18" charset="0"/>
              </a:rPr>
              <a:t>b</a:t>
            </a:r>
            <a:r>
              <a:rPr lang="en-GB" sz="2400" baseline="-25000">
                <a:latin typeface="Times New Roman" pitchFamily="18" charset="0"/>
              </a:rPr>
              <a:t>6</a:t>
            </a:r>
          </a:p>
        </p:txBody>
      </p:sp>
      <p:sp>
        <p:nvSpPr>
          <p:cNvPr id="7180" name="Rectangle 12"/>
          <p:cNvSpPr>
            <a:spLocks noChangeArrowheads="1"/>
          </p:cNvSpPr>
          <p:nvPr/>
        </p:nvSpPr>
        <p:spPr bwMode="auto">
          <a:xfrm>
            <a:off x="7315200" y="3661032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sv-SE" sz="2400">
                <a:latin typeface="Times New Roman" pitchFamily="18" charset="0"/>
              </a:rPr>
              <a:t>b</a:t>
            </a:r>
            <a:r>
              <a:rPr lang="en-GB" sz="2400" baseline="-25000">
                <a:latin typeface="Times New Roman" pitchFamily="18" charset="0"/>
              </a:rPr>
              <a:t>3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7181" name="Rectangle 13"/>
          <p:cNvSpPr>
            <a:spLocks noChangeArrowheads="1"/>
          </p:cNvSpPr>
          <p:nvPr/>
        </p:nvSpPr>
        <p:spPr bwMode="auto">
          <a:xfrm>
            <a:off x="7772400" y="3661032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sv-SE" sz="2400">
                <a:latin typeface="Times New Roman" pitchFamily="18" charset="0"/>
              </a:rPr>
              <a:t>b</a:t>
            </a:r>
            <a:r>
              <a:rPr lang="en-GB" sz="2400" baseline="-25000">
                <a:latin typeface="Times New Roman" pitchFamily="18" charset="0"/>
              </a:rPr>
              <a:t>4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7182" name="Rectangle 14"/>
          <p:cNvSpPr>
            <a:spLocks noChangeArrowheads="1"/>
          </p:cNvSpPr>
          <p:nvPr/>
        </p:nvSpPr>
        <p:spPr bwMode="auto">
          <a:xfrm>
            <a:off x="8229600" y="3661032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sv-SE" sz="2400">
                <a:latin typeface="Times New Roman" pitchFamily="18" charset="0"/>
              </a:rPr>
              <a:t>b</a:t>
            </a:r>
            <a:r>
              <a:rPr lang="en-GB" sz="2400" baseline="-25000">
                <a:latin typeface="Times New Roman" pitchFamily="18" charset="0"/>
              </a:rPr>
              <a:t>5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7183" name="Line 15"/>
          <p:cNvSpPr>
            <a:spLocks noChangeShapeType="1"/>
          </p:cNvSpPr>
          <p:nvPr/>
        </p:nvSpPr>
        <p:spPr bwMode="auto">
          <a:xfrm>
            <a:off x="4419600" y="3203832"/>
            <a:ext cx="0" cy="1371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4" name="Line 16"/>
          <p:cNvSpPr>
            <a:spLocks noChangeShapeType="1"/>
          </p:cNvSpPr>
          <p:nvPr/>
        </p:nvSpPr>
        <p:spPr bwMode="auto">
          <a:xfrm>
            <a:off x="8229600" y="3203832"/>
            <a:ext cx="0" cy="1371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5" name="Text Box 17"/>
          <p:cNvSpPr txBox="1">
            <a:spLocks noChangeArrowheads="1"/>
          </p:cNvSpPr>
          <p:nvPr/>
        </p:nvSpPr>
        <p:spPr bwMode="auto">
          <a:xfrm>
            <a:off x="4038601" y="4270632"/>
            <a:ext cx="82391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sv-SE" sz="4400">
                <a:solidFill>
                  <a:schemeClr val="tx2"/>
                </a:solidFill>
                <a:latin typeface="Times New Roman" pitchFamily="18" charset="0"/>
                <a:sym typeface="Wingdings" pitchFamily="2" charset="2"/>
              </a:rPr>
              <a:t></a:t>
            </a:r>
            <a:endParaRPr lang="en-GB" sz="4400">
              <a:solidFill>
                <a:schemeClr val="tx2"/>
              </a:solidFill>
              <a:latin typeface="Times New Roman" pitchFamily="18" charset="0"/>
              <a:sym typeface="Wingdings" pitchFamily="2" charset="2"/>
            </a:endParaRPr>
          </a:p>
        </p:txBody>
      </p:sp>
      <p:sp>
        <p:nvSpPr>
          <p:cNvPr id="7186" name="Text Box 18"/>
          <p:cNvSpPr txBox="1">
            <a:spLocks noChangeArrowheads="1"/>
          </p:cNvSpPr>
          <p:nvPr/>
        </p:nvSpPr>
        <p:spPr bwMode="auto">
          <a:xfrm>
            <a:off x="7862888" y="4270632"/>
            <a:ext cx="823912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sv-SE" sz="4400">
                <a:solidFill>
                  <a:schemeClr val="tx2"/>
                </a:solidFill>
                <a:latin typeface="Times New Roman" pitchFamily="18" charset="0"/>
                <a:sym typeface="Wingdings" pitchFamily="2" charset="2"/>
              </a:rPr>
              <a:t></a:t>
            </a:r>
            <a:endParaRPr lang="en-GB" sz="4400">
              <a:solidFill>
                <a:schemeClr val="tx2"/>
              </a:solidFill>
              <a:latin typeface="Times New Roman" pitchFamily="18" charset="0"/>
              <a:sym typeface="Wingdings" pitchFamily="2" charset="2"/>
            </a:endParaRPr>
          </a:p>
        </p:txBody>
      </p:sp>
      <p:sp>
        <p:nvSpPr>
          <p:cNvPr id="7187" name="Rectangle 19"/>
          <p:cNvSpPr>
            <a:spLocks noChangeArrowheads="1"/>
          </p:cNvSpPr>
          <p:nvPr/>
        </p:nvSpPr>
        <p:spPr bwMode="auto">
          <a:xfrm>
            <a:off x="2590800" y="55626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GB" sz="2400">
                <a:latin typeface="Times New Roman" pitchFamily="18" charset="0"/>
              </a:rPr>
              <a:t>a</a:t>
            </a:r>
            <a:r>
              <a:rPr lang="en-GB" sz="2400" baseline="-25000">
                <a:latin typeface="Times New Roman" pitchFamily="18" charset="0"/>
              </a:rPr>
              <a:t>1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7188" name="Rectangle 20"/>
          <p:cNvSpPr>
            <a:spLocks noChangeArrowheads="1"/>
          </p:cNvSpPr>
          <p:nvPr/>
        </p:nvSpPr>
        <p:spPr bwMode="auto">
          <a:xfrm>
            <a:off x="3048000" y="55626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GB" sz="2400">
                <a:latin typeface="Times New Roman" pitchFamily="18" charset="0"/>
              </a:rPr>
              <a:t>a</a:t>
            </a:r>
            <a:r>
              <a:rPr lang="en-GB" sz="2400" baseline="-25000">
                <a:latin typeface="Times New Roman" pitchFamily="18" charset="0"/>
              </a:rPr>
              <a:t>2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7189" name="Rectangle 21"/>
          <p:cNvSpPr>
            <a:spLocks noChangeArrowheads="1"/>
          </p:cNvSpPr>
          <p:nvPr/>
        </p:nvSpPr>
        <p:spPr bwMode="auto">
          <a:xfrm>
            <a:off x="4876800" y="55626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sv-SE" sz="2400">
                <a:latin typeface="Times New Roman" pitchFamily="18" charset="0"/>
              </a:rPr>
              <a:t>b</a:t>
            </a:r>
            <a:r>
              <a:rPr lang="en-GB" sz="2400" baseline="-25000">
                <a:latin typeface="Times New Roman" pitchFamily="18" charset="0"/>
              </a:rPr>
              <a:t>6</a:t>
            </a:r>
          </a:p>
        </p:txBody>
      </p:sp>
      <p:sp>
        <p:nvSpPr>
          <p:cNvPr id="7190" name="Rectangle 22"/>
          <p:cNvSpPr>
            <a:spLocks noChangeArrowheads="1"/>
          </p:cNvSpPr>
          <p:nvPr/>
        </p:nvSpPr>
        <p:spPr bwMode="auto">
          <a:xfrm>
            <a:off x="3505200" y="55626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GB" sz="2400">
                <a:latin typeface="Times New Roman" pitchFamily="18" charset="0"/>
              </a:rPr>
              <a:t>a</a:t>
            </a:r>
            <a:r>
              <a:rPr lang="en-GB" sz="2400" baseline="-25000">
                <a:latin typeface="Times New Roman" pitchFamily="18" charset="0"/>
              </a:rPr>
              <a:t>3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7191" name="Rectangle 23"/>
          <p:cNvSpPr>
            <a:spLocks noChangeArrowheads="1"/>
          </p:cNvSpPr>
          <p:nvPr/>
        </p:nvSpPr>
        <p:spPr bwMode="auto">
          <a:xfrm>
            <a:off x="3962400" y="55626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GB" sz="2400">
                <a:latin typeface="Times New Roman" pitchFamily="18" charset="0"/>
              </a:rPr>
              <a:t>a</a:t>
            </a:r>
            <a:r>
              <a:rPr lang="en-GB" sz="2400" baseline="-25000">
                <a:latin typeface="Times New Roman" pitchFamily="18" charset="0"/>
              </a:rPr>
              <a:t>4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7192" name="Rectangle 24"/>
          <p:cNvSpPr>
            <a:spLocks noChangeArrowheads="1"/>
          </p:cNvSpPr>
          <p:nvPr/>
        </p:nvSpPr>
        <p:spPr bwMode="auto">
          <a:xfrm>
            <a:off x="4419600" y="55626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sv-SE" sz="2400">
                <a:latin typeface="Times New Roman" pitchFamily="18" charset="0"/>
              </a:rPr>
              <a:t>b</a:t>
            </a:r>
            <a:r>
              <a:rPr lang="en-GB" sz="2400" baseline="-25000">
                <a:latin typeface="Times New Roman" pitchFamily="18" charset="0"/>
              </a:rPr>
              <a:t>5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7193" name="Rectangle 25"/>
          <p:cNvSpPr>
            <a:spLocks noChangeArrowheads="1"/>
          </p:cNvSpPr>
          <p:nvPr/>
        </p:nvSpPr>
        <p:spPr bwMode="auto">
          <a:xfrm>
            <a:off x="6400800" y="55626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sv-SE" sz="2400">
                <a:latin typeface="Times New Roman" pitchFamily="18" charset="0"/>
              </a:rPr>
              <a:t>b</a:t>
            </a:r>
            <a:r>
              <a:rPr lang="en-GB" sz="2400" baseline="-25000">
                <a:latin typeface="Times New Roman" pitchFamily="18" charset="0"/>
              </a:rPr>
              <a:t>1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7194" name="Rectangle 26"/>
          <p:cNvSpPr>
            <a:spLocks noChangeArrowheads="1"/>
          </p:cNvSpPr>
          <p:nvPr/>
        </p:nvSpPr>
        <p:spPr bwMode="auto">
          <a:xfrm>
            <a:off x="6858000" y="55626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sv-SE" sz="2400">
                <a:latin typeface="Times New Roman" pitchFamily="18" charset="0"/>
              </a:rPr>
              <a:t>b</a:t>
            </a:r>
            <a:r>
              <a:rPr lang="en-GB" sz="2400" baseline="-25000">
                <a:latin typeface="Times New Roman" pitchFamily="18" charset="0"/>
              </a:rPr>
              <a:t>2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7195" name="Rectangle 27"/>
          <p:cNvSpPr>
            <a:spLocks noChangeArrowheads="1"/>
          </p:cNvSpPr>
          <p:nvPr/>
        </p:nvSpPr>
        <p:spPr bwMode="auto">
          <a:xfrm>
            <a:off x="8686800" y="55626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sv-SE" sz="2400">
                <a:latin typeface="Times New Roman" pitchFamily="18" charset="0"/>
              </a:rPr>
              <a:t>a</a:t>
            </a:r>
            <a:r>
              <a:rPr lang="en-GB" sz="2400" baseline="-25000">
                <a:latin typeface="Times New Roman" pitchFamily="18" charset="0"/>
              </a:rPr>
              <a:t>6</a:t>
            </a:r>
          </a:p>
        </p:txBody>
      </p:sp>
      <p:sp>
        <p:nvSpPr>
          <p:cNvPr id="7196" name="Rectangle 28"/>
          <p:cNvSpPr>
            <a:spLocks noChangeArrowheads="1"/>
          </p:cNvSpPr>
          <p:nvPr/>
        </p:nvSpPr>
        <p:spPr bwMode="auto">
          <a:xfrm>
            <a:off x="7315200" y="55626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sv-SE" sz="2400">
                <a:latin typeface="Times New Roman" pitchFamily="18" charset="0"/>
              </a:rPr>
              <a:t>b</a:t>
            </a:r>
            <a:r>
              <a:rPr lang="en-GB" sz="2400" baseline="-25000">
                <a:latin typeface="Times New Roman" pitchFamily="18" charset="0"/>
              </a:rPr>
              <a:t>3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7197" name="Rectangle 29"/>
          <p:cNvSpPr>
            <a:spLocks noChangeArrowheads="1"/>
          </p:cNvSpPr>
          <p:nvPr/>
        </p:nvSpPr>
        <p:spPr bwMode="auto">
          <a:xfrm>
            <a:off x="7772400" y="55626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sv-SE" sz="2400">
                <a:latin typeface="Times New Roman" pitchFamily="18" charset="0"/>
              </a:rPr>
              <a:t>b</a:t>
            </a:r>
            <a:r>
              <a:rPr lang="en-GB" sz="2400" baseline="-25000">
                <a:latin typeface="Times New Roman" pitchFamily="18" charset="0"/>
              </a:rPr>
              <a:t>4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7198" name="Rectangle 30"/>
          <p:cNvSpPr>
            <a:spLocks noChangeArrowheads="1"/>
          </p:cNvSpPr>
          <p:nvPr/>
        </p:nvSpPr>
        <p:spPr bwMode="auto">
          <a:xfrm>
            <a:off x="8229600" y="55626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sv-SE" sz="2400">
                <a:latin typeface="Times New Roman" pitchFamily="18" charset="0"/>
              </a:rPr>
              <a:t>a</a:t>
            </a:r>
            <a:r>
              <a:rPr lang="en-GB" sz="2400" baseline="-25000">
                <a:latin typeface="Times New Roman" pitchFamily="18" charset="0"/>
              </a:rPr>
              <a:t>5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7199" name="Line 31"/>
          <p:cNvSpPr>
            <a:spLocks noChangeShapeType="1"/>
          </p:cNvSpPr>
          <p:nvPr/>
        </p:nvSpPr>
        <p:spPr bwMode="auto">
          <a:xfrm>
            <a:off x="4419600" y="5105400"/>
            <a:ext cx="0" cy="1371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0" name="Line 32"/>
          <p:cNvSpPr>
            <a:spLocks noChangeShapeType="1"/>
          </p:cNvSpPr>
          <p:nvPr/>
        </p:nvSpPr>
        <p:spPr bwMode="auto">
          <a:xfrm>
            <a:off x="8229600" y="5105400"/>
            <a:ext cx="0" cy="1371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1" name="Line 33"/>
          <p:cNvSpPr>
            <a:spLocks noChangeShapeType="1"/>
          </p:cNvSpPr>
          <p:nvPr/>
        </p:nvSpPr>
        <p:spPr bwMode="auto">
          <a:xfrm>
            <a:off x="5867400" y="4369568"/>
            <a:ext cx="0" cy="1143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613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Crossover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943" y="2861383"/>
            <a:ext cx="8504528" cy="2470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350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Crossover operator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crossover operator is applied to two chromosomes of the same length as follows:</a:t>
            </a:r>
          </a:p>
          <a:p>
            <a:pPr lvl="1"/>
            <a:r>
              <a:rPr lang="en-US" dirty="0"/>
              <a:t>1. Select a random crossover point.</a:t>
            </a:r>
          </a:p>
          <a:p>
            <a:pPr lvl="1"/>
            <a:r>
              <a:rPr lang="en-US" dirty="0"/>
              <a:t>2. Break each chromosome into two parts, splitting at the crossover point.</a:t>
            </a:r>
          </a:p>
          <a:p>
            <a:pPr lvl="1"/>
            <a:r>
              <a:rPr lang="en-US" dirty="0"/>
              <a:t>3. Recombine the broken chromosomes by combining the front of one with the back of the other, and vice versa, to produce two new chromosomes.</a:t>
            </a:r>
          </a:p>
          <a:p>
            <a:r>
              <a:rPr lang="en-US" dirty="0"/>
              <a:t>For example, consider the following two chromosomes:</a:t>
            </a:r>
          </a:p>
          <a:p>
            <a:pPr lvl="1"/>
            <a:r>
              <a:rPr lang="en-US" dirty="0"/>
              <a:t>110100110001001</a:t>
            </a:r>
          </a:p>
          <a:p>
            <a:pPr lvl="1"/>
            <a:r>
              <a:rPr lang="en-US" dirty="0"/>
              <a:t>010101000111101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3129" y="4816427"/>
            <a:ext cx="4730671" cy="136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8806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Mutation operator</a:t>
            </a:r>
            <a:endParaRPr lang="en-GB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Randomly </a:t>
            </a:r>
            <a:r>
              <a:rPr lang="en-US" b="1" dirty="0">
                <a:solidFill>
                  <a:srgbClr val="FF0000"/>
                </a:solidFill>
              </a:rPr>
              <a:t>change one bit </a:t>
            </a:r>
            <a:r>
              <a:rPr lang="en-US" dirty="0"/>
              <a:t>in the solution</a:t>
            </a:r>
          </a:p>
          <a:p>
            <a:pPr lvl="1"/>
            <a:r>
              <a:rPr lang="en-US" dirty="0"/>
              <a:t>Mutation is a </a:t>
            </a:r>
            <a:r>
              <a:rPr lang="en-US" b="1" dirty="0"/>
              <a:t>unary operator </a:t>
            </a:r>
            <a:r>
              <a:rPr lang="en-US" dirty="0"/>
              <a:t>(i.e., applied to just one argument—a single gene)</a:t>
            </a:r>
          </a:p>
          <a:p>
            <a:r>
              <a:rPr lang="en-US" dirty="0"/>
              <a:t>Occasional mutation </a:t>
            </a:r>
            <a:r>
              <a:rPr lang="en-US" u="sng" dirty="0"/>
              <a:t>makes the method much less sensitive</a:t>
            </a:r>
            <a:r>
              <a:rPr lang="en-US" dirty="0"/>
              <a:t> to the original population and also </a:t>
            </a:r>
            <a:r>
              <a:rPr lang="en-US" u="sng" dirty="0"/>
              <a:t>allows ”new” solutions</a:t>
            </a:r>
            <a:r>
              <a:rPr lang="en-US" dirty="0"/>
              <a:t> to emerge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2057400" y="4381651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GB" sz="2400">
                <a:latin typeface="Times New Roman" pitchFamily="18" charset="0"/>
              </a:rPr>
              <a:t>a</a:t>
            </a:r>
            <a:r>
              <a:rPr lang="en-GB" sz="2400" baseline="-25000">
                <a:latin typeface="Times New Roman" pitchFamily="18" charset="0"/>
              </a:rPr>
              <a:t>1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2514600" y="4381651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GB" sz="2400">
                <a:latin typeface="Times New Roman" pitchFamily="18" charset="0"/>
              </a:rPr>
              <a:t>a</a:t>
            </a:r>
            <a:r>
              <a:rPr lang="en-GB" sz="2400" baseline="-25000">
                <a:latin typeface="Times New Roman" pitchFamily="18" charset="0"/>
              </a:rPr>
              <a:t>2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4343400" y="4381651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GB" sz="2400">
                <a:latin typeface="Times New Roman" pitchFamily="18" charset="0"/>
              </a:rPr>
              <a:t>a</a:t>
            </a:r>
            <a:r>
              <a:rPr lang="en-GB" sz="2400" baseline="-25000">
                <a:latin typeface="Times New Roman" pitchFamily="18" charset="0"/>
              </a:rPr>
              <a:t>6</a:t>
            </a:r>
          </a:p>
        </p:txBody>
      </p:sp>
      <p:sp>
        <p:nvSpPr>
          <p:cNvPr id="21510" name="Rectangle 6"/>
          <p:cNvSpPr>
            <a:spLocks noChangeArrowheads="1"/>
          </p:cNvSpPr>
          <p:nvPr/>
        </p:nvSpPr>
        <p:spPr bwMode="auto">
          <a:xfrm>
            <a:off x="2971800" y="4381651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GB" sz="2400">
                <a:latin typeface="Times New Roman" pitchFamily="18" charset="0"/>
              </a:rPr>
              <a:t>a</a:t>
            </a:r>
            <a:r>
              <a:rPr lang="en-GB" sz="2400" baseline="-25000">
                <a:latin typeface="Times New Roman" pitchFamily="18" charset="0"/>
              </a:rPr>
              <a:t>3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3429000" y="4381651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GB" sz="2400">
                <a:latin typeface="Times New Roman" pitchFamily="18" charset="0"/>
              </a:rPr>
              <a:t>a</a:t>
            </a:r>
            <a:r>
              <a:rPr lang="en-GB" sz="2400" baseline="-25000">
                <a:latin typeface="Times New Roman" pitchFamily="18" charset="0"/>
              </a:rPr>
              <a:t>4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21512" name="Rectangle 8"/>
          <p:cNvSpPr>
            <a:spLocks noChangeArrowheads="1"/>
          </p:cNvSpPr>
          <p:nvPr/>
        </p:nvSpPr>
        <p:spPr bwMode="auto">
          <a:xfrm>
            <a:off x="3886200" y="4381651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GB" sz="2400">
                <a:latin typeface="Times New Roman" pitchFamily="18" charset="0"/>
              </a:rPr>
              <a:t>a</a:t>
            </a:r>
            <a:r>
              <a:rPr lang="en-GB" sz="2400" baseline="-25000">
                <a:latin typeface="Times New Roman" pitchFamily="18" charset="0"/>
              </a:rPr>
              <a:t>5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21523" name="Rectangle 19"/>
          <p:cNvSpPr>
            <a:spLocks noChangeArrowheads="1"/>
          </p:cNvSpPr>
          <p:nvPr/>
        </p:nvSpPr>
        <p:spPr bwMode="auto">
          <a:xfrm>
            <a:off x="2057400" y="59436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GB" sz="2400">
                <a:latin typeface="Times New Roman" pitchFamily="18" charset="0"/>
              </a:rPr>
              <a:t>a</a:t>
            </a:r>
            <a:r>
              <a:rPr lang="en-GB" sz="2400" baseline="-25000">
                <a:latin typeface="Times New Roman" pitchFamily="18" charset="0"/>
              </a:rPr>
              <a:t>1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21526" name="Rectangle 22"/>
          <p:cNvSpPr>
            <a:spLocks noChangeArrowheads="1"/>
          </p:cNvSpPr>
          <p:nvPr/>
        </p:nvSpPr>
        <p:spPr bwMode="auto">
          <a:xfrm>
            <a:off x="2900363" y="59436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GB" sz="2400">
                <a:latin typeface="Times New Roman" pitchFamily="18" charset="0"/>
              </a:rPr>
              <a:t>a</a:t>
            </a:r>
            <a:r>
              <a:rPr lang="en-GB" sz="2400" baseline="-25000">
                <a:latin typeface="Times New Roman" pitchFamily="18" charset="0"/>
              </a:rPr>
              <a:t>3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21537" name="Line 33"/>
          <p:cNvSpPr>
            <a:spLocks noChangeShapeType="1"/>
          </p:cNvSpPr>
          <p:nvPr/>
        </p:nvSpPr>
        <p:spPr bwMode="auto">
          <a:xfrm>
            <a:off x="2819400" y="5105401"/>
            <a:ext cx="0" cy="644525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46" name="Rectangle 42"/>
          <p:cNvSpPr>
            <a:spLocks noChangeArrowheads="1"/>
          </p:cNvSpPr>
          <p:nvPr/>
        </p:nvSpPr>
        <p:spPr bwMode="auto">
          <a:xfrm>
            <a:off x="4195763" y="59436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GB" sz="2400">
                <a:latin typeface="Times New Roman" pitchFamily="18" charset="0"/>
              </a:rPr>
              <a:t>a</a:t>
            </a:r>
            <a:r>
              <a:rPr lang="en-GB" sz="2400" baseline="-25000">
                <a:latin typeface="Times New Roman" pitchFamily="18" charset="0"/>
              </a:rPr>
              <a:t>6</a:t>
            </a:r>
          </a:p>
        </p:txBody>
      </p:sp>
      <p:sp>
        <p:nvSpPr>
          <p:cNvPr id="21547" name="Rectangle 43"/>
          <p:cNvSpPr>
            <a:spLocks noChangeArrowheads="1"/>
          </p:cNvSpPr>
          <p:nvPr/>
        </p:nvSpPr>
        <p:spPr bwMode="auto">
          <a:xfrm>
            <a:off x="3332163" y="59436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GB" sz="2400">
                <a:latin typeface="Times New Roman" pitchFamily="18" charset="0"/>
              </a:rPr>
              <a:t>a</a:t>
            </a:r>
            <a:r>
              <a:rPr lang="en-GB" sz="2400" baseline="-25000">
                <a:latin typeface="Times New Roman" pitchFamily="18" charset="0"/>
              </a:rPr>
              <a:t>4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21548" name="Rectangle 44"/>
          <p:cNvSpPr>
            <a:spLocks noChangeArrowheads="1"/>
          </p:cNvSpPr>
          <p:nvPr/>
        </p:nvSpPr>
        <p:spPr bwMode="auto">
          <a:xfrm>
            <a:off x="3763963" y="59436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GB" sz="2400">
                <a:latin typeface="Times New Roman" pitchFamily="18" charset="0"/>
              </a:rPr>
              <a:t>a</a:t>
            </a:r>
            <a:r>
              <a:rPr lang="en-GB" sz="2400" baseline="-25000">
                <a:latin typeface="Times New Roman" pitchFamily="18" charset="0"/>
              </a:rPr>
              <a:t>5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21551" name="Rectangle 47"/>
          <p:cNvSpPr>
            <a:spLocks noChangeArrowheads="1"/>
          </p:cNvSpPr>
          <p:nvPr/>
        </p:nvSpPr>
        <p:spPr bwMode="auto">
          <a:xfrm>
            <a:off x="2468563" y="59436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sv-SE" sz="2400">
                <a:latin typeface="Times New Roman" pitchFamily="18" charset="0"/>
              </a:rPr>
              <a:t>b</a:t>
            </a:r>
            <a:r>
              <a:rPr lang="en-GB" sz="2400" baseline="-25000">
                <a:latin typeface="Times New Roman" pitchFamily="18" charset="0"/>
              </a:rPr>
              <a:t>1</a:t>
            </a:r>
            <a:endParaRPr lang="en-GB" sz="2400">
              <a:latin typeface="Times New Roman" pitchFamily="18" charset="0"/>
            </a:endParaRPr>
          </a:p>
        </p:txBody>
      </p:sp>
      <p:pic>
        <p:nvPicPr>
          <p:cNvPr id="3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83" t="70192" r="55808" b="14904"/>
          <a:stretch/>
        </p:blipFill>
        <p:spPr bwMode="auto">
          <a:xfrm>
            <a:off x="7956966" y="4996212"/>
            <a:ext cx="2634835" cy="1480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5646326" y="4381651"/>
            <a:ext cx="20456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Mutation of a2 = b1</a:t>
            </a:r>
          </a:p>
        </p:txBody>
      </p:sp>
    </p:spTree>
    <p:extLst>
      <p:ext uri="{BB962C8B-B14F-4D97-AF65-F5344CB8AC3E}">
        <p14:creationId xmlns:p14="http://schemas.microsoft.com/office/powerpoint/2010/main" val="42149802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459" y="2954875"/>
            <a:ext cx="7700655" cy="232051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2877840" y="4742640"/>
              <a:ext cx="1129680" cy="180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68480" y="4733280"/>
                <a:ext cx="1148400" cy="3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363982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Fitness Function (Optimization)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Fitness Function for a mathematic function</a:t>
                </a:r>
              </a:p>
              <a:p>
                <a:r>
                  <a:rPr lang="en-US" dirty="0"/>
                  <a:t>Ex. attempt to maximize the function: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𝑓</m:t>
                    </m:r>
                    <m:r>
                      <a:rPr lang="en-US" i="1" dirty="0">
                        <a:latin typeface="Cambria Math"/>
                      </a:rPr>
                      <m:t>(</m:t>
                    </m:r>
                    <m:r>
                      <a:rPr lang="en-US" i="1" dirty="0">
                        <a:latin typeface="Cambria Math"/>
                      </a:rPr>
                      <m:t>𝑥</m:t>
                    </m:r>
                    <m:r>
                      <a:rPr lang="en-US" i="1" dirty="0">
                        <a:latin typeface="Cambria Math"/>
                      </a:rPr>
                      <m:t>) = </m:t>
                    </m:r>
                    <m:r>
                      <m:rPr>
                        <m:sty m:val="p"/>
                      </m:rPr>
                      <a:rPr lang="en-US" i="1" dirty="0">
                        <a:latin typeface="Cambria Math"/>
                      </a:rPr>
                      <m:t>sin</m:t>
                    </m:r>
                    <m:r>
                      <a:rPr lang="en-US" i="1" dirty="0">
                        <a:latin typeface="Cambria Math"/>
                      </a:rPr>
                      <m:t>⁡(</m:t>
                    </m:r>
                    <m:r>
                      <a:rPr lang="en-US" i="1" dirty="0">
                        <a:latin typeface="Cambria Math"/>
                      </a:rPr>
                      <m:t>𝑥</m:t>
                    </m:r>
                    <m:r>
                      <a:rPr lang="en-US" i="1" dirty="0">
                        <a:latin typeface="Cambria Math"/>
                      </a:rPr>
                      <m:t>) </m:t>
                    </m:r>
                  </m:oMath>
                </a14:m>
                <a:r>
                  <a:rPr lang="en-US" dirty="0"/>
                  <a:t>in range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0≤ </m:t>
                    </m:r>
                    <m:r>
                      <a:rPr lang="en-US" i="1" dirty="0">
                        <a:latin typeface="Cambria Math"/>
                      </a:rPr>
                      <m:t>𝑥</m:t>
                    </m:r>
                    <m:r>
                      <a:rPr lang="en-US" i="1" dirty="0">
                        <a:latin typeface="Cambria Math"/>
                      </a:rPr>
                      <m:t>≤ 15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1" y="1066800"/>
                <a:ext cx="8915400" cy="4953000"/>
              </a:xfrm>
              <a:blipFill rotWithShape="1">
                <a:blip r:embed="rId2"/>
                <a:stretch>
                  <a:fillRect l="-1231" t="-1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E4C1-E6A0-4AA9-9965-F1CD6F0FDCC0}" type="slidenum">
              <a:rPr lang="en-US" smtClean="0"/>
              <a:t>19</a:t>
            </a:fld>
            <a:endParaRPr lang="en-US"/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9737921"/>
              </p:ext>
            </p:extLst>
          </p:nvPr>
        </p:nvGraphicFramePr>
        <p:xfrm>
          <a:off x="2788334" y="3294063"/>
          <a:ext cx="6615332" cy="2882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616305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Fitness Function (Optimization)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US" b="1" dirty="0">
                    <a:solidFill>
                      <a:srgbClr val="FF0000"/>
                    </a:solidFill>
                  </a:rPr>
                  <a:t>Using population size of 4 chromosomes</a:t>
                </a:r>
              </a:p>
              <a:p>
                <a:r>
                  <a:rPr lang="en-US" u="sng" dirty="0"/>
                  <a:t>First Generation:</a:t>
                </a:r>
                <a:r>
                  <a:rPr lang="en-US" dirty="0"/>
                  <a:t> Generate a random population:</a:t>
                </a:r>
              </a:p>
              <a:p>
                <a:endParaRPr lang="en-US" dirty="0"/>
              </a:p>
              <a:p>
                <a:endParaRPr lang="en-US" sz="1600" dirty="0"/>
              </a:p>
              <a:p>
                <a:r>
                  <a:rPr lang="en-US" dirty="0"/>
                  <a:t>To calculate </a:t>
                </a:r>
                <a:r>
                  <a:rPr lang="en-US" b="1" u="sng" dirty="0"/>
                  <a:t>fitness</a:t>
                </a:r>
                <a:r>
                  <a:rPr lang="en-US" dirty="0"/>
                  <a:t> of a chromosome, we calculate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𝑓</m:t>
                    </m:r>
                    <m:r>
                      <a:rPr lang="en-US" i="1" dirty="0">
                        <a:latin typeface="Cambria Math"/>
                      </a:rPr>
                      <m:t>(</m:t>
                    </m:r>
                    <m:r>
                      <a:rPr lang="en-US" i="1" dirty="0">
                        <a:latin typeface="Cambria Math"/>
                      </a:rPr>
                      <m:t>𝑥</m:t>
                    </m:r>
                    <m:r>
                      <a:rPr lang="en-US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for its decimal value</a:t>
                </a:r>
              </a:p>
              <a:p>
                <a:r>
                  <a:rPr lang="en-US" dirty="0"/>
                  <a:t>Assign fitness as a numeric value from </a:t>
                </a:r>
                <a:r>
                  <a:rPr lang="en-US" u="sng" dirty="0"/>
                  <a:t>0 to 100</a:t>
                </a:r>
              </a:p>
              <a:p>
                <a:pPr lvl="1"/>
                <a:r>
                  <a:rPr lang="en-US" dirty="0"/>
                  <a:t>0 is the least fit</a:t>
                </a:r>
              </a:p>
              <a:p>
                <a:pPr lvl="1"/>
                <a:r>
                  <a:rPr lang="en-US" dirty="0"/>
                  <a:t>100 is the most fit.</a:t>
                </a:r>
              </a:p>
              <a:p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𝑓</m:t>
                    </m:r>
                    <m:r>
                      <a:rPr lang="en-US" i="1" dirty="0">
                        <a:latin typeface="Cambria Math"/>
                      </a:rPr>
                      <m:t>(</m:t>
                    </m:r>
                    <m:r>
                      <a:rPr lang="en-US" i="1" dirty="0">
                        <a:latin typeface="Cambria Math"/>
                      </a:rPr>
                      <m:t>𝑥</m:t>
                    </m:r>
                    <m:r>
                      <a:rPr lang="en-US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generates real numbers between -1 and 1.</a:t>
                </a:r>
              </a:p>
              <a:p>
                <a:r>
                  <a:rPr lang="en-US" dirty="0"/>
                  <a:t>Assign a fitness score of 100 to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𝑓</m:t>
                    </m:r>
                    <m:r>
                      <a:rPr lang="en-US" i="1" dirty="0">
                        <a:latin typeface="Cambria Math"/>
                      </a:rPr>
                      <m:t>(</m:t>
                    </m:r>
                    <m:r>
                      <a:rPr lang="en-US" i="1" dirty="0">
                        <a:latin typeface="Cambria Math"/>
                      </a:rPr>
                      <m:t>𝑥</m:t>
                    </m:r>
                    <m:r>
                      <a:rPr lang="en-US" i="1" dirty="0">
                        <a:latin typeface="Cambria Math"/>
                      </a:rPr>
                      <m:t>) = 1</m:t>
                    </m:r>
                  </m:oMath>
                </a14:m>
                <a:r>
                  <a:rPr lang="en-US" dirty="0"/>
                  <a:t> and fitness of 0 to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i="1" dirty="0">
                        <a:latin typeface="Cambria Math"/>
                      </a:rPr>
                      <m:t>=−1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Fitness of 50 will be assigned to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𝑓</m:t>
                    </m:r>
                    <m:r>
                      <a:rPr lang="en-US" i="1" dirty="0">
                        <a:latin typeface="Cambria Math"/>
                      </a:rPr>
                      <m:t>(</m:t>
                    </m:r>
                    <m:r>
                      <a:rPr lang="en-US" i="1" dirty="0">
                        <a:latin typeface="Cambria Math"/>
                      </a:rPr>
                      <m:t>𝑥</m:t>
                    </m:r>
                    <m:r>
                      <a:rPr lang="en-US" i="1" dirty="0">
                        <a:latin typeface="Cambria Math"/>
                      </a:rPr>
                      <m:t>) = 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12" t="-2661" b="-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E4C1-E6A0-4AA9-9965-F1CD6F0FDCC0}" type="slidenum">
              <a:rPr lang="en-US" smtClean="0"/>
              <a:t>20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186570"/>
              </p:ext>
            </p:extLst>
          </p:nvPr>
        </p:nvGraphicFramePr>
        <p:xfrm>
          <a:off x="3302391" y="2574388"/>
          <a:ext cx="6096000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en-US" sz="2400" dirty="0"/>
                        <a:t>c1 = 1001	   (9)</a:t>
                      </a:r>
                    </a:p>
                    <a:p>
                      <a:pPr lvl="1"/>
                      <a:r>
                        <a:rPr lang="en-US" sz="2400" dirty="0"/>
                        <a:t>c2 = 0011	  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US" sz="2400" dirty="0"/>
                        <a:t>c3 = 1010	   (10)</a:t>
                      </a:r>
                    </a:p>
                    <a:p>
                      <a:pPr lvl="1"/>
                      <a:r>
                        <a:rPr lang="en-US" sz="2400" dirty="0"/>
                        <a:t>c4 = 0101	   (5)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23123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dirty="0"/>
              <a:t>Fitness Function (Optimization)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FF0000"/>
                    </a:solidFill>
                  </a:rPr>
                  <a:t>Fitness of </a:t>
                </a:r>
                <a:r>
                  <a:rPr lang="en-US" b="1" i="1" dirty="0">
                    <a:solidFill>
                      <a:srgbClr val="FF0000"/>
                    </a:solidFill>
                  </a:rPr>
                  <a:t>x</a:t>
                </a:r>
                <a:r>
                  <a:rPr lang="en-US" b="1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𝒇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</m:e>
                    </m:d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: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𝑓</m:t>
                    </m:r>
                    <m:r>
                      <a:rPr lang="en-US" sz="2400" i="1" dirty="0">
                        <a:latin typeface="Cambria Math"/>
                      </a:rPr>
                      <m:t>′(</m:t>
                    </m:r>
                    <m:r>
                      <a:rPr lang="en-US" sz="2400" i="1" dirty="0">
                        <a:latin typeface="Cambria Math"/>
                      </a:rPr>
                      <m:t>𝑥</m:t>
                    </m:r>
                    <m:r>
                      <a:rPr lang="en-US" sz="2400" i="1" dirty="0">
                        <a:latin typeface="Cambria Math"/>
                      </a:rPr>
                      <m:t>) = 50(</m:t>
                    </m:r>
                    <m:r>
                      <a:rPr lang="en-US" sz="2400" i="1" dirty="0">
                        <a:latin typeface="Cambria Math"/>
                      </a:rPr>
                      <m:t>𝑓</m:t>
                    </m:r>
                    <m:r>
                      <a:rPr lang="en-US" sz="2400" i="1" dirty="0">
                        <a:latin typeface="Cambria Math"/>
                      </a:rPr>
                      <m:t>(</m:t>
                    </m:r>
                    <m:r>
                      <a:rPr lang="en-US" sz="2400" i="1" dirty="0">
                        <a:latin typeface="Cambria Math"/>
                      </a:rPr>
                      <m:t>𝑥</m:t>
                    </m:r>
                    <m:r>
                      <a:rPr lang="en-US" sz="2400" i="1" dirty="0">
                        <a:latin typeface="Cambria Math"/>
                      </a:rPr>
                      <m:t>) + 1)</m:t>
                    </m:r>
                  </m:oMath>
                </a14:m>
                <a:endParaRPr lang="en-US" sz="2400" dirty="0"/>
              </a:p>
              <a:p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𝑓</m:t>
                    </m:r>
                    <m:r>
                      <a:rPr lang="en-US" sz="2400" i="1" dirty="0">
                        <a:latin typeface="Cambria Math"/>
                      </a:rPr>
                      <m:t>′(</m:t>
                    </m:r>
                    <m:r>
                      <a:rPr lang="en-US" sz="2400" i="1" dirty="0">
                        <a:latin typeface="Cambria Math"/>
                      </a:rPr>
                      <m:t>𝑥</m:t>
                    </m:r>
                    <m:r>
                      <a:rPr lang="en-US" sz="2400" i="1" dirty="0">
                        <a:latin typeface="Cambria Math"/>
                      </a:rPr>
                      <m:t>)= 50(</m:t>
                    </m:r>
                    <m:r>
                      <m:rPr>
                        <m:sty m:val="p"/>
                      </m:rPr>
                      <a:rPr lang="en-US" sz="2400" i="1" dirty="0">
                        <a:latin typeface="Cambria Math"/>
                      </a:rPr>
                      <m:t>sin</m:t>
                    </m:r>
                    <m:r>
                      <a:rPr lang="en-US" sz="2400" i="1" dirty="0">
                        <a:latin typeface="Cambria Math"/>
                      </a:rPr>
                      <m:t>⁡(</m:t>
                    </m:r>
                    <m:r>
                      <a:rPr lang="en-US" sz="2400" i="1" dirty="0">
                        <a:latin typeface="Cambria Math"/>
                      </a:rPr>
                      <m:t>𝑥</m:t>
                    </m:r>
                    <m:r>
                      <a:rPr lang="en-US" sz="2400" i="1" dirty="0">
                        <a:latin typeface="Cambria Math"/>
                      </a:rPr>
                      <m:t>) + 1)</m:t>
                    </m:r>
                  </m:oMath>
                </a14:m>
                <a:endParaRPr lang="en-US" sz="2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1" y="990600"/>
                <a:ext cx="4800599" cy="4953000"/>
              </a:xfrm>
              <a:blipFill rotWithShape="1">
                <a:blip r:embed="rId2"/>
                <a:stretch>
                  <a:fillRect l="-3304" t="-1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E4C1-E6A0-4AA9-9965-F1CD6F0FDCC0}" type="slidenum">
              <a:rPr lang="en-US" smtClean="0"/>
              <a:t>21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004404"/>
              </p:ext>
            </p:extLst>
          </p:nvPr>
        </p:nvGraphicFramePr>
        <p:xfrm>
          <a:off x="7180729" y="454540"/>
          <a:ext cx="4240306" cy="5948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29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57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15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51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x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>
                          <a:effectLst/>
                        </a:rPr>
                        <a:t>f(x)=sin(x)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dirty="0">
                          <a:effectLst/>
                        </a:rPr>
                        <a:t>f'(x) = 50(f(x)+1)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1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>
                          <a:effectLst/>
                        </a:rPr>
                        <a:t>0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1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>
                          <a:effectLst/>
                        </a:rPr>
                        <a:t>1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1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>
                          <a:effectLst/>
                        </a:rPr>
                        <a:t>2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1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sng" strike="noStrike" dirty="0">
                          <a:solidFill>
                            <a:srgbClr val="FF0000"/>
                          </a:solidFill>
                          <a:effectLst/>
                        </a:rPr>
                        <a:t>3</a:t>
                      </a:r>
                      <a:endParaRPr lang="en-US" sz="2000" b="1" i="0" u="sng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sng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sng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1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>
                          <a:effectLst/>
                        </a:rPr>
                        <a:t>4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51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sng" strike="noStrike" dirty="0">
                          <a:solidFill>
                            <a:srgbClr val="FF0000"/>
                          </a:solidFill>
                          <a:effectLst/>
                        </a:rPr>
                        <a:t>5</a:t>
                      </a:r>
                      <a:endParaRPr lang="en-US" sz="2000" b="1" i="0" u="sng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sng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sng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51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6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51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>
                          <a:effectLst/>
                        </a:rPr>
                        <a:t>7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51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8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51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sng" strike="noStrike" dirty="0">
                          <a:solidFill>
                            <a:srgbClr val="FF0000"/>
                          </a:solidFill>
                          <a:effectLst/>
                        </a:rPr>
                        <a:t>9</a:t>
                      </a:r>
                      <a:endParaRPr lang="en-US" sz="2000" b="1" i="0" u="sng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sng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sng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51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sng" strike="noStrike" dirty="0">
                          <a:solidFill>
                            <a:srgbClr val="FF0000"/>
                          </a:solidFill>
                          <a:effectLst/>
                        </a:rPr>
                        <a:t>10</a:t>
                      </a:r>
                      <a:endParaRPr lang="en-US" sz="2000" b="1" i="0" u="sng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sng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sng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51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>
                          <a:effectLst/>
                        </a:rPr>
                        <a:t>11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51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>
                          <a:effectLst/>
                        </a:rPr>
                        <a:t>12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266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>
                          <a:effectLst/>
                        </a:rPr>
                        <a:t>13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451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>
                          <a:effectLst/>
                        </a:rPr>
                        <a:t>14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451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>
                          <a:effectLst/>
                        </a:rPr>
                        <a:t>15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8" name="Chart 7"/>
          <p:cNvGraphicFramePr>
            <a:graphicFrameLocks/>
          </p:cNvGraphicFramePr>
          <p:nvPr/>
        </p:nvGraphicFramePr>
        <p:xfrm>
          <a:off x="990600" y="35052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0238296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Fitness Function (Optimization)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2896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The range of real numbers </a:t>
            </a:r>
            <a:r>
              <a:rPr lang="en-US" b="1" dirty="0">
                <a:solidFill>
                  <a:srgbClr val="FF0000"/>
                </a:solidFill>
              </a:rPr>
              <a:t>from 0 to 100</a:t>
            </a:r>
            <a:r>
              <a:rPr lang="en-US" dirty="0"/>
              <a:t> is divided up between the chromosomes proportionally to each </a:t>
            </a:r>
            <a:r>
              <a:rPr lang="en-US" dirty="0">
                <a:solidFill>
                  <a:srgbClr val="FF0000"/>
                </a:solidFill>
              </a:rPr>
              <a:t>chromosome’s fitness</a:t>
            </a:r>
            <a:r>
              <a:rPr lang="en-US" dirty="0"/>
              <a:t>.</a:t>
            </a:r>
          </a:p>
          <a:p>
            <a:r>
              <a:rPr lang="en-US" dirty="0"/>
              <a:t>In first generation: </a:t>
            </a:r>
          </a:p>
          <a:p>
            <a:pPr lvl="1"/>
            <a:r>
              <a:rPr lang="en-US" dirty="0"/>
              <a:t>c1 has 46.3% of the range (i.e., from 0 to 46.3)</a:t>
            </a:r>
          </a:p>
          <a:p>
            <a:pPr lvl="1"/>
            <a:r>
              <a:rPr lang="en-US" dirty="0"/>
              <a:t>c2 37.4% of the range (i.e., from 46.4 to 83.7)</a:t>
            </a:r>
          </a:p>
          <a:p>
            <a:pPr lvl="1"/>
            <a:r>
              <a:rPr lang="en-US" dirty="0"/>
              <a:t>….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E4C1-E6A0-4AA9-9965-F1CD6F0FDCC0}" type="slidenum">
              <a:rPr lang="en-US" smtClean="0"/>
              <a:t>22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66" t="21538" r="7449" b="39231"/>
          <a:stretch/>
        </p:blipFill>
        <p:spPr bwMode="auto">
          <a:xfrm>
            <a:off x="1837765" y="3727493"/>
            <a:ext cx="7772400" cy="2747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86538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Roulette-wheel selection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A </a:t>
                </a:r>
                <a:r>
                  <a:rPr lang="en-US" u="sng" dirty="0">
                    <a:solidFill>
                      <a:srgbClr val="FF0000"/>
                    </a:solidFill>
                  </a:rPr>
                  <a:t>random number is generated</a:t>
                </a:r>
                <a:r>
                  <a:rPr lang="en-US" dirty="0"/>
                  <a:t>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0−100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This number will fall in the range of one of the chromosomes (suppose c1)</a:t>
                </a:r>
              </a:p>
              <a:p>
                <a:pPr lvl="1"/>
                <a:r>
                  <a:rPr lang="en-US" dirty="0"/>
                  <a:t>c1 chromosome has been selected for reproduction</a:t>
                </a:r>
              </a:p>
              <a:p>
                <a:r>
                  <a:rPr lang="en-US" dirty="0"/>
                  <a:t>The next random number is used to select second chromosome’s (suppose c2)</a:t>
                </a:r>
              </a:p>
              <a:p>
                <a:r>
                  <a:rPr lang="en-US" dirty="0"/>
                  <a:t>Hence, </a:t>
                </a:r>
                <a:r>
                  <a:rPr lang="en-US" b="1" dirty="0">
                    <a:solidFill>
                      <a:srgbClr val="FF0000"/>
                    </a:solidFill>
                  </a:rPr>
                  <a:t>fitter chromosomes will tend to produce more offspring than less fit chromosomes</a:t>
                </a:r>
                <a:r>
                  <a:rPr lang="en-US" dirty="0"/>
                  <a:t>.</a:t>
                </a:r>
              </a:p>
              <a:p>
                <a:endParaRPr lang="en-US" b="1" dirty="0"/>
              </a:p>
              <a:p>
                <a:r>
                  <a:rPr lang="en-US" b="1" dirty="0"/>
                  <a:t>Important:</a:t>
                </a:r>
                <a:r>
                  <a:rPr lang="en-US" dirty="0"/>
                  <a:t> Method does not stop less fit chromosomes from reproducing, to ensure that populations do not </a:t>
                </a:r>
                <a:r>
                  <a:rPr lang="en-US" b="1" dirty="0"/>
                  <a:t>stagnate</a:t>
                </a:r>
                <a:r>
                  <a:rPr lang="en-US" dirty="0"/>
                  <a:t>, by constantly breeding from the same parents.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8" t="-2801" r="-464" b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E4C1-E6A0-4AA9-9965-F1CD6F0FDCC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2714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Next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Need 4 random numbers for next generation</a:t>
            </a:r>
          </a:p>
          <a:p>
            <a:r>
              <a:rPr lang="en-US" dirty="0"/>
              <a:t>Assume that:</a:t>
            </a:r>
          </a:p>
          <a:p>
            <a:r>
              <a:rPr lang="en-US" u="sng" dirty="0"/>
              <a:t>First random number is 56.7 </a:t>
            </a:r>
            <a:r>
              <a:rPr lang="en-US" dirty="0"/>
              <a:t>(c2 is chosen)</a:t>
            </a:r>
          </a:p>
          <a:p>
            <a:r>
              <a:rPr lang="en-US" u="sng" dirty="0"/>
              <a:t>Second random number is 38.2</a:t>
            </a:r>
            <a:r>
              <a:rPr lang="en-US" dirty="0"/>
              <a:t> (c1 is chosen)</a:t>
            </a:r>
          </a:p>
          <a:p>
            <a:r>
              <a:rPr lang="en-US" dirty="0"/>
              <a:t>Third random number is 20 (c1 is chosen)</a:t>
            </a:r>
          </a:p>
          <a:p>
            <a:r>
              <a:rPr lang="en-US" dirty="0"/>
              <a:t>Fourth random number is 85 (c3 is chosen)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E4C1-E6A0-4AA9-9965-F1CD6F0FDCC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5989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Generation 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/>
              <a:t>Combine first two</a:t>
            </a:r>
            <a:r>
              <a:rPr lang="en-US" dirty="0"/>
              <a:t> to produce two new offspring:</a:t>
            </a:r>
          </a:p>
          <a:p>
            <a:pPr lvl="1"/>
            <a:r>
              <a:rPr lang="en-US" dirty="0"/>
              <a:t>Crossover point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u="sng" dirty="0"/>
              <a:t>Combine last two</a:t>
            </a:r>
            <a:r>
              <a:rPr lang="en-US" dirty="0"/>
              <a:t> to produce two new offspring:</a:t>
            </a:r>
          </a:p>
          <a:p>
            <a:pPr lvl="1"/>
            <a:r>
              <a:rPr lang="en-US" dirty="0"/>
              <a:t>Crossover point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E4C1-E6A0-4AA9-9965-F1CD6F0FDCC0}" type="slidenum">
              <a:rPr lang="en-US" smtClean="0"/>
              <a:t>25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2400" y="2438400"/>
          <a:ext cx="6096000" cy="1036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lvl="1"/>
                      <a:r>
                        <a:rPr lang="en-US" sz="2400" dirty="0"/>
                        <a:t>c1 = 1001	   (9)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US" sz="2400" dirty="0"/>
                        <a:t>c2 = 0011	   (3)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lvl="1"/>
                      <a:r>
                        <a:rPr lang="en-US" sz="2400" b="1" dirty="0"/>
                        <a:t>c5 = 1011      (11)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US" sz="2400" b="1" dirty="0"/>
                        <a:t>c6 = 0001      (1)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5029200" y="2465696"/>
            <a:ext cx="4038600" cy="810904"/>
            <a:chOff x="4114800" y="3532496"/>
            <a:chExt cx="4038600" cy="810904"/>
          </a:xfrm>
        </p:grpSpPr>
        <p:sp>
          <p:nvSpPr>
            <p:cNvPr id="7" name="Line 15"/>
            <p:cNvSpPr>
              <a:spLocks noChangeShapeType="1"/>
            </p:cNvSpPr>
            <p:nvPr/>
          </p:nvSpPr>
          <p:spPr bwMode="auto">
            <a:xfrm>
              <a:off x="4308144" y="3543888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Box 17"/>
            <p:cNvSpPr txBox="1">
              <a:spLocks noChangeArrowheads="1"/>
            </p:cNvSpPr>
            <p:nvPr/>
          </p:nvSpPr>
          <p:spPr bwMode="auto">
            <a:xfrm>
              <a:off x="4114800" y="3886200"/>
              <a:ext cx="67151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sv-SE" dirty="0">
                  <a:solidFill>
                    <a:schemeClr val="tx2"/>
                  </a:solidFill>
                  <a:latin typeface="Times New Roman" pitchFamily="18" charset="0"/>
                  <a:sym typeface="Wingdings" pitchFamily="2" charset="2"/>
                </a:rPr>
                <a:t></a:t>
              </a:r>
              <a:endParaRPr lang="en-GB" dirty="0">
                <a:solidFill>
                  <a:schemeClr val="tx2"/>
                </a:solidFill>
                <a:latin typeface="Times New Roman" pitchFamily="18" charset="0"/>
                <a:sym typeface="Wingdings" pitchFamily="2" charset="2"/>
              </a:endParaRPr>
            </a:p>
          </p:txBody>
        </p:sp>
        <p:sp>
          <p:nvSpPr>
            <p:cNvPr id="9" name="Line 15"/>
            <p:cNvSpPr>
              <a:spLocks noChangeShapeType="1"/>
            </p:cNvSpPr>
            <p:nvPr/>
          </p:nvSpPr>
          <p:spPr bwMode="auto">
            <a:xfrm>
              <a:off x="7370431" y="3532496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Box 17"/>
            <p:cNvSpPr txBox="1">
              <a:spLocks noChangeArrowheads="1"/>
            </p:cNvSpPr>
            <p:nvPr/>
          </p:nvSpPr>
          <p:spPr bwMode="auto">
            <a:xfrm>
              <a:off x="7177087" y="3874808"/>
              <a:ext cx="67151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sv-SE" dirty="0">
                  <a:solidFill>
                    <a:schemeClr val="tx2"/>
                  </a:solidFill>
                  <a:latin typeface="Times New Roman" pitchFamily="18" charset="0"/>
                  <a:sym typeface="Wingdings" pitchFamily="2" charset="2"/>
                </a:rPr>
                <a:t></a:t>
              </a:r>
              <a:endParaRPr lang="en-GB" dirty="0">
                <a:solidFill>
                  <a:schemeClr val="tx2"/>
                </a:solidFill>
                <a:latin typeface="Times New Roman" pitchFamily="18" charset="0"/>
                <a:sym typeface="Wingdings" pitchFamily="2" charset="2"/>
              </a:endParaRPr>
            </a:p>
          </p:txBody>
        </p:sp>
        <p:sp>
          <p:nvSpPr>
            <p:cNvPr id="11" name="Line 15"/>
            <p:cNvSpPr>
              <a:spLocks noChangeShapeType="1"/>
            </p:cNvSpPr>
            <p:nvPr/>
          </p:nvSpPr>
          <p:spPr bwMode="auto">
            <a:xfrm>
              <a:off x="4637968" y="3559808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Box 17"/>
            <p:cNvSpPr txBox="1">
              <a:spLocks noChangeArrowheads="1"/>
            </p:cNvSpPr>
            <p:nvPr/>
          </p:nvSpPr>
          <p:spPr bwMode="auto">
            <a:xfrm>
              <a:off x="4444624" y="3902120"/>
              <a:ext cx="67151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sv-SE" dirty="0">
                  <a:solidFill>
                    <a:schemeClr val="tx2"/>
                  </a:solidFill>
                  <a:latin typeface="Times New Roman" pitchFamily="18" charset="0"/>
                  <a:sym typeface="Wingdings" pitchFamily="2" charset="2"/>
                </a:rPr>
                <a:t></a:t>
              </a:r>
              <a:endParaRPr lang="en-GB" dirty="0">
                <a:solidFill>
                  <a:schemeClr val="tx2"/>
                </a:solidFill>
                <a:latin typeface="Times New Roman" pitchFamily="18" charset="0"/>
                <a:sym typeface="Wingdings" pitchFamily="2" charset="2"/>
              </a:endParaRPr>
            </a:p>
          </p:txBody>
        </p:sp>
        <p:sp>
          <p:nvSpPr>
            <p:cNvPr id="13" name="Line 15"/>
            <p:cNvSpPr>
              <a:spLocks noChangeShapeType="1"/>
            </p:cNvSpPr>
            <p:nvPr/>
          </p:nvSpPr>
          <p:spPr bwMode="auto">
            <a:xfrm>
              <a:off x="7675231" y="3532496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Box 17"/>
            <p:cNvSpPr txBox="1">
              <a:spLocks noChangeArrowheads="1"/>
            </p:cNvSpPr>
            <p:nvPr/>
          </p:nvSpPr>
          <p:spPr bwMode="auto">
            <a:xfrm>
              <a:off x="7481887" y="3874808"/>
              <a:ext cx="67151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sv-SE" dirty="0">
                  <a:solidFill>
                    <a:schemeClr val="tx2"/>
                  </a:solidFill>
                  <a:latin typeface="Times New Roman" pitchFamily="18" charset="0"/>
                  <a:sym typeface="Wingdings" pitchFamily="2" charset="2"/>
                </a:rPr>
                <a:t></a:t>
              </a:r>
              <a:endParaRPr lang="en-GB" dirty="0">
                <a:solidFill>
                  <a:schemeClr val="tx2"/>
                </a:solidFill>
                <a:latin typeface="Times New Roman" pitchFamily="18" charset="0"/>
                <a:sym typeface="Wingdings" pitchFamily="2" charset="2"/>
              </a:endParaRPr>
            </a:p>
          </p:txBody>
        </p:sp>
        <p:sp>
          <p:nvSpPr>
            <p:cNvPr id="15" name="Line 33"/>
            <p:cNvSpPr>
              <a:spLocks noChangeShapeType="1"/>
            </p:cNvSpPr>
            <p:nvPr/>
          </p:nvSpPr>
          <p:spPr bwMode="auto">
            <a:xfrm>
              <a:off x="5943600" y="3822520"/>
              <a:ext cx="0" cy="52088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962400" y="4800600"/>
          <a:ext cx="6096000" cy="1036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lvl="1"/>
                      <a:r>
                        <a:rPr lang="en-US" sz="2400" dirty="0"/>
                        <a:t>c1 = 1001	   (9)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US" sz="2400" dirty="0"/>
                        <a:t>c3 = 1010	   (10)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lvl="1"/>
                      <a:r>
                        <a:rPr lang="en-US" sz="2400" b="1" dirty="0"/>
                        <a:t>c8 = 1011      (11)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US" sz="2400" b="1" dirty="0"/>
                        <a:t>c7 = 1000      (8)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7" name="Group 16"/>
          <p:cNvGrpSpPr/>
          <p:nvPr/>
        </p:nvGrpSpPr>
        <p:grpSpPr>
          <a:xfrm>
            <a:off x="5029200" y="4841544"/>
            <a:ext cx="4038600" cy="810904"/>
            <a:chOff x="4114800" y="3532496"/>
            <a:chExt cx="4038600" cy="810904"/>
          </a:xfrm>
        </p:grpSpPr>
        <p:sp>
          <p:nvSpPr>
            <p:cNvPr id="18" name="Line 15"/>
            <p:cNvSpPr>
              <a:spLocks noChangeShapeType="1"/>
            </p:cNvSpPr>
            <p:nvPr/>
          </p:nvSpPr>
          <p:spPr bwMode="auto">
            <a:xfrm>
              <a:off x="4308144" y="3543888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Box 17"/>
            <p:cNvSpPr txBox="1">
              <a:spLocks noChangeArrowheads="1"/>
            </p:cNvSpPr>
            <p:nvPr/>
          </p:nvSpPr>
          <p:spPr bwMode="auto">
            <a:xfrm>
              <a:off x="4114800" y="3886200"/>
              <a:ext cx="67151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sv-SE" dirty="0">
                  <a:solidFill>
                    <a:schemeClr val="tx2"/>
                  </a:solidFill>
                  <a:latin typeface="Times New Roman" pitchFamily="18" charset="0"/>
                  <a:sym typeface="Wingdings" pitchFamily="2" charset="2"/>
                </a:rPr>
                <a:t></a:t>
              </a:r>
              <a:endParaRPr lang="en-GB" dirty="0">
                <a:solidFill>
                  <a:schemeClr val="tx2"/>
                </a:solidFill>
                <a:latin typeface="Times New Roman" pitchFamily="18" charset="0"/>
                <a:sym typeface="Wingdings" pitchFamily="2" charset="2"/>
              </a:endParaRPr>
            </a:p>
          </p:txBody>
        </p:sp>
        <p:sp>
          <p:nvSpPr>
            <p:cNvPr id="20" name="Line 15"/>
            <p:cNvSpPr>
              <a:spLocks noChangeShapeType="1"/>
            </p:cNvSpPr>
            <p:nvPr/>
          </p:nvSpPr>
          <p:spPr bwMode="auto">
            <a:xfrm>
              <a:off x="7370431" y="3532496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Box 17"/>
            <p:cNvSpPr txBox="1">
              <a:spLocks noChangeArrowheads="1"/>
            </p:cNvSpPr>
            <p:nvPr/>
          </p:nvSpPr>
          <p:spPr bwMode="auto">
            <a:xfrm>
              <a:off x="7177087" y="3874808"/>
              <a:ext cx="67151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sv-SE" dirty="0">
                  <a:solidFill>
                    <a:schemeClr val="tx2"/>
                  </a:solidFill>
                  <a:latin typeface="Times New Roman" pitchFamily="18" charset="0"/>
                  <a:sym typeface="Wingdings" pitchFamily="2" charset="2"/>
                </a:rPr>
                <a:t></a:t>
              </a:r>
              <a:endParaRPr lang="en-GB" dirty="0">
                <a:solidFill>
                  <a:schemeClr val="tx2"/>
                </a:solidFill>
                <a:latin typeface="Times New Roman" pitchFamily="18" charset="0"/>
                <a:sym typeface="Wingdings" pitchFamily="2" charset="2"/>
              </a:endParaRPr>
            </a:p>
          </p:txBody>
        </p:sp>
        <p:sp>
          <p:nvSpPr>
            <p:cNvPr id="22" name="Line 15"/>
            <p:cNvSpPr>
              <a:spLocks noChangeShapeType="1"/>
            </p:cNvSpPr>
            <p:nvPr/>
          </p:nvSpPr>
          <p:spPr bwMode="auto">
            <a:xfrm>
              <a:off x="4637968" y="3559808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Box 17"/>
            <p:cNvSpPr txBox="1">
              <a:spLocks noChangeArrowheads="1"/>
            </p:cNvSpPr>
            <p:nvPr/>
          </p:nvSpPr>
          <p:spPr bwMode="auto">
            <a:xfrm>
              <a:off x="4444624" y="3902120"/>
              <a:ext cx="67151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sv-SE" dirty="0">
                  <a:solidFill>
                    <a:schemeClr val="tx2"/>
                  </a:solidFill>
                  <a:latin typeface="Times New Roman" pitchFamily="18" charset="0"/>
                  <a:sym typeface="Wingdings" pitchFamily="2" charset="2"/>
                </a:rPr>
                <a:t></a:t>
              </a:r>
              <a:endParaRPr lang="en-GB" dirty="0">
                <a:solidFill>
                  <a:schemeClr val="tx2"/>
                </a:solidFill>
                <a:latin typeface="Times New Roman" pitchFamily="18" charset="0"/>
                <a:sym typeface="Wingdings" pitchFamily="2" charset="2"/>
              </a:endParaRPr>
            </a:p>
          </p:txBody>
        </p:sp>
        <p:sp>
          <p:nvSpPr>
            <p:cNvPr id="24" name="Line 15"/>
            <p:cNvSpPr>
              <a:spLocks noChangeShapeType="1"/>
            </p:cNvSpPr>
            <p:nvPr/>
          </p:nvSpPr>
          <p:spPr bwMode="auto">
            <a:xfrm>
              <a:off x="7675231" y="3532496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 Box 17"/>
            <p:cNvSpPr txBox="1">
              <a:spLocks noChangeArrowheads="1"/>
            </p:cNvSpPr>
            <p:nvPr/>
          </p:nvSpPr>
          <p:spPr bwMode="auto">
            <a:xfrm>
              <a:off x="7481887" y="3874808"/>
              <a:ext cx="67151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sv-SE" dirty="0">
                  <a:solidFill>
                    <a:schemeClr val="tx2"/>
                  </a:solidFill>
                  <a:latin typeface="Times New Roman" pitchFamily="18" charset="0"/>
                  <a:sym typeface="Wingdings" pitchFamily="2" charset="2"/>
                </a:rPr>
                <a:t></a:t>
              </a:r>
              <a:endParaRPr lang="en-GB" dirty="0">
                <a:solidFill>
                  <a:schemeClr val="tx2"/>
                </a:solidFill>
                <a:latin typeface="Times New Roman" pitchFamily="18" charset="0"/>
                <a:sym typeface="Wingdings" pitchFamily="2" charset="2"/>
              </a:endParaRPr>
            </a:p>
          </p:txBody>
        </p:sp>
        <p:sp>
          <p:nvSpPr>
            <p:cNvPr id="26" name="Line 33"/>
            <p:cNvSpPr>
              <a:spLocks noChangeShapeType="1"/>
            </p:cNvSpPr>
            <p:nvPr/>
          </p:nvSpPr>
          <p:spPr bwMode="auto">
            <a:xfrm>
              <a:off x="5943600" y="3822520"/>
              <a:ext cx="0" cy="52088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Rectangle 26"/>
          <p:cNvSpPr/>
          <p:nvPr/>
        </p:nvSpPr>
        <p:spPr>
          <a:xfrm>
            <a:off x="4343400" y="2438400"/>
            <a:ext cx="5334000" cy="1039504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4343400" y="4724400"/>
            <a:ext cx="5410200" cy="1066800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7854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generation: c5 to c8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c4 did not have a chance to reproduce (its genes will be lost)</a:t>
            </a:r>
          </a:p>
          <a:p>
            <a:r>
              <a:rPr lang="en-US" b="1" dirty="0"/>
              <a:t>Fittest chromosome in the first generation (c1), able to reproduce twice</a:t>
            </a:r>
          </a:p>
          <a:p>
            <a:r>
              <a:rPr lang="en-US" dirty="0"/>
              <a:t>Passing on its highly fit genes to all members of the next generation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E4C1-E6A0-4AA9-9965-F1CD6F0FDCC0}" type="slidenum">
              <a:rPr lang="en-US" smtClean="0"/>
              <a:t>26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02" t="45577" r="7514" b="14231"/>
          <a:stretch/>
        </p:blipFill>
        <p:spPr bwMode="auto">
          <a:xfrm>
            <a:off x="1676400" y="3733801"/>
            <a:ext cx="8117058" cy="2940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8991601" y="5421868"/>
            <a:ext cx="1376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Extremely fit</a:t>
            </a:r>
          </a:p>
        </p:txBody>
      </p:sp>
      <p:sp>
        <p:nvSpPr>
          <p:cNvPr id="6" name="Rectangle 5"/>
          <p:cNvSpPr/>
          <p:nvPr/>
        </p:nvSpPr>
        <p:spPr>
          <a:xfrm>
            <a:off x="1676401" y="5203874"/>
            <a:ext cx="8691795" cy="815926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15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Termination criteria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Termination criteria would probably determine that c7 is the most fit (local optimum) and the algorithm will be stopped.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E4C1-E6A0-4AA9-9965-F1CD6F0FDCC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6570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 dirty="0"/>
                  <a:t>Problem: Maximize the function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b="1" dirty="0"/>
                  <a:t> where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 dirty="0"/>
                  <a:t> varies between 1 and 31.</a:t>
                </a:r>
              </a:p>
              <a:p>
                <a:endParaRPr lang="en-US" dirty="0"/>
              </a:p>
              <a:p>
                <a:r>
                  <a:rPr lang="en-US" dirty="0"/>
                  <a:t>Step 1: </a:t>
                </a:r>
              </a:p>
              <a:p>
                <a:pPr lvl="1"/>
                <a:r>
                  <a:rPr lang="en-US" dirty="0"/>
                  <a:t>Code the decision variable of the problem a binary unsigned integer of length 5.</a:t>
                </a:r>
              </a:p>
              <a:p>
                <a:pPr lvl="1"/>
                <a:r>
                  <a:rPr lang="en-US" dirty="0"/>
                  <a:t>To start we select an initial population of size 4 by tossing a fair coin  times.</a:t>
                </a:r>
              </a:p>
              <a:p>
                <a:pPr lvl="1"/>
                <a:r>
                  <a:rPr lang="en-US" dirty="0"/>
                  <a:t>Fitness function is defined by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043" t="-196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65580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106341"/>
                  </p:ext>
                </p:extLst>
              </p:nvPr>
            </p:nvGraphicFramePr>
            <p:xfrm>
              <a:off x="3759009" y="1758689"/>
              <a:ext cx="4673982" cy="212201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50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295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4367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2574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244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String No.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Initial Pop.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dirty="0"/>
                            <a:t>-value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24402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0 1 1 0 1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169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24402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1 1 0 0 0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576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24402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0 1 0 0 0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24402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1 0 0 1 1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361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106341"/>
                  </p:ext>
                </p:extLst>
              </p:nvPr>
            </p:nvGraphicFramePr>
            <p:xfrm>
              <a:off x="3759009" y="1758689"/>
              <a:ext cx="4673982" cy="212201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5068"/>
                    <a:gridCol w="1329500"/>
                    <a:gridCol w="943674"/>
                    <a:gridCol w="1225740"/>
                  </a:tblGrid>
                  <a:tr h="4244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String No.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Initial Pop.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66452" t="-7143" r="-132258" b="-4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82587" t="-7143" r="-1990" b="-407143"/>
                          </a:stretch>
                        </a:blipFill>
                      </a:tcPr>
                    </a:tc>
                  </a:tr>
                  <a:tr h="424402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0 1 1 0 1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169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424402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1 1 0 0 0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576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424402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0 1 0 0 0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8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64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424402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1 0 0 1 1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361</a:t>
                          </a:r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0964271"/>
                  </p:ext>
                </p:extLst>
              </p:nvPr>
            </p:nvGraphicFramePr>
            <p:xfrm>
              <a:off x="1820559" y="4426773"/>
              <a:ext cx="8550882" cy="20106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2888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2888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2574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7901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08140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706944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String No.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dirty="0"/>
                            <a:t>-value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P-select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𝒇</m:t>
                                      </m:r>
                                    </m:e>
                                    <m:sub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num>
                                <m:den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𝒇</m:t>
                                      </m:r>
                                    </m:e>
                                  </m:nary>
                                </m:den>
                              </m:f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Expected</a:t>
                          </a:r>
                          <a:r>
                            <a:rPr lang="en-US" baseline="0" dirty="0"/>
                            <a:t> Count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 baseline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 baseline="0" smtClean="0">
                                          <a:latin typeface="Cambria Math" panose="02040503050406030204" pitchFamily="18" charset="0"/>
                                        </a:rPr>
                                        <m:t>𝒇</m:t>
                                      </m:r>
                                    </m:e>
                                    <m:sub>
                                      <m:r>
                                        <a:rPr lang="en-US" b="1" i="1" baseline="0" smtClean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b="1" i="1" baseline="0" smtClean="0">
                                      <a:latin typeface="Cambria Math" panose="02040503050406030204" pitchFamily="18" charset="0"/>
                                    </a:rPr>
                                    <m:t>𝒂𝒗𝒈</m:t>
                                  </m:r>
                                </m:den>
                              </m:f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Roulette Wheel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169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0.14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576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1.97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0.06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0.22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361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0.31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1.23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0964271"/>
                  </p:ext>
                </p:extLst>
              </p:nvPr>
            </p:nvGraphicFramePr>
            <p:xfrm>
              <a:off x="1820559" y="4426773"/>
              <a:ext cx="8550882" cy="20106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28889"/>
                    <a:gridCol w="1128889"/>
                    <a:gridCol w="1225740"/>
                    <a:gridCol w="1279017"/>
                    <a:gridCol w="2081403"/>
                    <a:gridCol w="1706944"/>
                  </a:tblGrid>
                  <a:tr h="5273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String No.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0000" t="-14943" r="-557527" b="-2965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85075" t="-14943" r="-415920" b="-2965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72857" t="-14943" r="-298095" b="-2965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28947" t="-14943" r="-83041" b="-2965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Roulette Wheel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169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0.14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0.58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576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0.49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1.97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8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64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0.06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0.22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361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0.31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1.23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76217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best strings get more copies, while the weak ones just die off.</a:t>
            </a:r>
          </a:p>
          <a:p>
            <a:r>
              <a:rPr lang="en-US" dirty="0"/>
              <a:t>After selection, crossover takes place</a:t>
            </a:r>
          </a:p>
          <a:p>
            <a:pPr lvl="1"/>
            <a:r>
              <a:rPr lang="en-US" dirty="0"/>
              <a:t>Strings combined randomly using one point cross over</a:t>
            </a:r>
          </a:p>
          <a:p>
            <a:pPr lvl="1"/>
            <a:r>
              <a:rPr lang="en-US" dirty="0"/>
              <a:t>Apply one bit mutation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79215757"/>
                  </p:ext>
                </p:extLst>
              </p:nvPr>
            </p:nvGraphicFramePr>
            <p:xfrm>
              <a:off x="838200" y="4053523"/>
              <a:ext cx="6502400" cy="2123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String No.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dirty="0"/>
                            <a:t>-value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One Point Cross Over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New Children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 1 1 0 |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1 1 0 0 1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1 1 0 0 |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0 1 1 0 0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 1 | 0 0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1 0 0 0 0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 0 | 0 1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1 1 0 1 1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79215757"/>
                  </p:ext>
                </p:extLst>
              </p:nvPr>
            </p:nvGraphicFramePr>
            <p:xfrm>
              <a:off x="838200" y="4053523"/>
              <a:ext cx="6502400" cy="2123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/>
                    <a:gridCol w="1625600"/>
                    <a:gridCol w="1625600"/>
                    <a:gridCol w="1625600"/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String No.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00375" t="-4717" r="-201498" b="-243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One Point Cross Over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New Children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0 1 1 </a:t>
                          </a:r>
                          <a:r>
                            <a:rPr lang="en-US" dirty="0" smtClean="0"/>
                            <a:t>0 | </a:t>
                          </a:r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1 1 0 0 1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1 1 0 0 |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0 1 1 0 0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 1 | 0 0 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1 0 0 0 0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 </a:t>
                          </a:r>
                          <a:r>
                            <a:rPr lang="en-US" dirty="0" smtClean="0"/>
                            <a:t>0 | </a:t>
                          </a:r>
                          <a:r>
                            <a:rPr lang="en-US" dirty="0" smtClean="0"/>
                            <a:t>0 1 1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1 1 0 1 1</a:t>
                          </a:r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640084"/>
              </p:ext>
            </p:extLst>
          </p:nvPr>
        </p:nvGraphicFramePr>
        <p:xfrm>
          <a:off x="8000492" y="4188143"/>
          <a:ext cx="347554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Apply Mutation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New Population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1 1 </a:t>
                      </a:r>
                      <a:r>
                        <a:rPr lang="en-US" b="1" u="sng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en-US" dirty="0"/>
                        <a:t> 0 1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1 1 1 0 1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0 1 1 0 </a:t>
                      </a:r>
                      <a:r>
                        <a:rPr lang="en-US" b="1" u="sng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0 1 1 0 1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1 0 </a:t>
                      </a:r>
                      <a:r>
                        <a:rPr lang="en-US" b="1" u="sng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en-US" dirty="0"/>
                        <a:t> 0 0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1 0 1 0 0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1 1 0 </a:t>
                      </a:r>
                      <a:r>
                        <a:rPr lang="en-US" b="1" u="sng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1 1 0 0 1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22695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New Population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3938045"/>
                  </p:ext>
                </p:extLst>
              </p:nvPr>
            </p:nvGraphicFramePr>
            <p:xfrm>
              <a:off x="3660534" y="2644951"/>
              <a:ext cx="5314653" cy="29821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613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173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730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9375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5964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String No.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Initial Pop.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dirty="0"/>
                            <a:t>-value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9642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1 1 1 0 1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841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9642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0 1 1 0 1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169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9642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1 0 1 0 0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9642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1 1 0 0 1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3938045"/>
                  </p:ext>
                </p:extLst>
              </p:nvPr>
            </p:nvGraphicFramePr>
            <p:xfrm>
              <a:off x="3660534" y="2644951"/>
              <a:ext cx="5314653" cy="29821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6137"/>
                    <a:gridCol w="1511737"/>
                    <a:gridCol w="1073025"/>
                    <a:gridCol w="1393754"/>
                  </a:tblGrid>
                  <a:tr h="5964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String No.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Initial Pop.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66477" t="-5102" r="-132386" b="-403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81659" t="-5102" r="-1747" b="-403061"/>
                          </a:stretch>
                        </a:blipFill>
                      </a:tcPr>
                    </a:tc>
                  </a:tr>
                  <a:tr h="596425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1 1 1 0 1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841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596425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0 1 1 0 1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169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596425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1 0 1 0 0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400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596425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1 1 0 0 1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625</a:t>
                          </a:r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70180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Practice Question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335129" cy="4351338"/>
          </a:xfrm>
        </p:spPr>
        <p:txBody>
          <a:bodyPr/>
          <a:lstStyle/>
          <a:p>
            <a:r>
              <a:rPr lang="en-US" altLang="en-US" dirty="0"/>
              <a:t>Find the maximum value of function</a:t>
            </a:r>
          </a:p>
          <a:p>
            <a:pPr lvl="1">
              <a:buNone/>
            </a:pPr>
            <a:r>
              <a:rPr lang="en-US" altLang="en-US" dirty="0"/>
              <a:t> 	                            </a:t>
            </a:r>
            <a:r>
              <a:rPr lang="en-US" altLang="en-US" i="1" dirty="0"/>
              <a:t>f</a:t>
            </a:r>
            <a:r>
              <a:rPr lang="en-US" altLang="en-US" dirty="0"/>
              <a:t>(</a:t>
            </a:r>
            <a:r>
              <a:rPr lang="en-US" altLang="en-US" i="1" dirty="0"/>
              <a:t>x</a:t>
            </a:r>
            <a:r>
              <a:rPr lang="en-US" altLang="en-US" dirty="0"/>
              <a:t>)  =  –</a:t>
            </a:r>
            <a:r>
              <a:rPr lang="en-US" altLang="en-US" i="1" dirty="0"/>
              <a:t>x</a:t>
            </a:r>
            <a:r>
              <a:rPr lang="en-US" altLang="en-US" baseline="30000" dirty="0"/>
              <a:t>2</a:t>
            </a:r>
            <a:r>
              <a:rPr lang="en-US" altLang="en-US" dirty="0"/>
              <a:t> + 15</a:t>
            </a:r>
            <a:r>
              <a:rPr lang="en-US" altLang="en-US" i="1" dirty="0"/>
              <a:t>x</a:t>
            </a:r>
            <a:endParaRPr lang="en-US" altLang="en-US" dirty="0"/>
          </a:p>
          <a:p>
            <a:pPr lvl="4"/>
            <a:endParaRPr lang="en-US" altLang="en-US" sz="1200" dirty="0"/>
          </a:p>
          <a:p>
            <a:pPr lvl="1"/>
            <a:r>
              <a:rPr lang="en-US" altLang="en-US" dirty="0"/>
              <a:t>Represent problem using </a:t>
            </a:r>
            <a:r>
              <a:rPr lang="en-US" altLang="en-US" i="1" dirty="0"/>
              <a:t>chromosomes</a:t>
            </a:r>
            <a:r>
              <a:rPr lang="en-US" altLang="en-US" dirty="0"/>
              <a:t> built from four </a:t>
            </a:r>
            <a:r>
              <a:rPr lang="en-US" altLang="en-US" i="1" dirty="0"/>
              <a:t>genes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Initial random population of size </a:t>
            </a:r>
            <a:r>
              <a:rPr lang="en-US" altLang="en-US" i="1" dirty="0"/>
              <a:t>N</a:t>
            </a:r>
            <a:r>
              <a:rPr lang="en-US" altLang="en-US" dirty="0"/>
              <a:t> = 6:</a:t>
            </a:r>
          </a:p>
          <a:p>
            <a:pPr lvl="1"/>
            <a:endParaRPr lang="en-US" altLang="en-US" dirty="0"/>
          </a:p>
          <a:p>
            <a:endParaRPr lang="en-US" dirty="0"/>
          </a:p>
        </p:txBody>
      </p:sp>
      <p:pic>
        <p:nvPicPr>
          <p:cNvPr id="4" name="Picture 4" descr="Slide09-1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9714" y="4542218"/>
            <a:ext cx="6858000" cy="1820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Slide09-1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581" r="46762" b="7817"/>
          <a:stretch>
            <a:fillRect/>
          </a:stretch>
        </p:blipFill>
        <p:spPr bwMode="auto">
          <a:xfrm>
            <a:off x="8207211" y="1943906"/>
            <a:ext cx="3146589" cy="1896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4551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Practice Question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Determine chromosome </a:t>
            </a:r>
            <a:r>
              <a:rPr lang="en-US" altLang="en-US" i="1" dirty="0"/>
              <a:t>fitness</a:t>
            </a:r>
            <a:r>
              <a:rPr lang="en-US" altLang="en-US" dirty="0"/>
              <a:t> for each chromosome:</a:t>
            </a:r>
          </a:p>
          <a:p>
            <a:endParaRPr lang="en-US" dirty="0"/>
          </a:p>
        </p:txBody>
      </p:sp>
      <p:pic>
        <p:nvPicPr>
          <p:cNvPr id="4" name="Picture 4" descr="Slide09-1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691"/>
          <a:stretch>
            <a:fillRect/>
          </a:stretch>
        </p:blipFill>
        <p:spPr bwMode="auto">
          <a:xfrm>
            <a:off x="1940719" y="2896772"/>
            <a:ext cx="8310562" cy="270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5705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Use fitness ratios to determine which chromosomes are selected for </a:t>
            </a:r>
            <a:r>
              <a:rPr lang="en-US" altLang="en-US" i="1" dirty="0"/>
              <a:t>crossover </a:t>
            </a:r>
            <a:r>
              <a:rPr lang="en-US" altLang="en-US" dirty="0"/>
              <a:t>and </a:t>
            </a:r>
            <a:r>
              <a:rPr lang="en-US" altLang="en-US" i="1" dirty="0"/>
              <a:t>mutation</a:t>
            </a:r>
            <a:r>
              <a:rPr lang="en-US" altLang="en-US" dirty="0"/>
              <a:t> operations:</a:t>
            </a:r>
            <a:endParaRPr lang="en-US" altLang="en-US" b="1" dirty="0"/>
          </a:p>
          <a:p>
            <a:endParaRPr lang="en-US" dirty="0"/>
          </a:p>
        </p:txBody>
      </p:sp>
      <p:pic>
        <p:nvPicPr>
          <p:cNvPr id="4" name="Picture 2" descr="Slide09-1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925" y="2861212"/>
            <a:ext cx="6534150" cy="317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35182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58055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>
                    <a:ea typeface="Times New Roman" panose="02020603050405020304" pitchFamily="18" charset="0"/>
                  </a:rPr>
                  <a:t>Assume we have the following function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en-US" i="1">
                          <a:latin typeface="Cambria Math" panose="02040503050406030204" pitchFamily="18" charset="0"/>
                        </a:rPr>
                        <m:t>60</m:t>
                      </m:r>
                      <m:sSup>
                        <m:sSupPr>
                          <m:ctrlPr>
                            <a:rPr lang="en-US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en-US" i="1">
                          <a:latin typeface="Cambria Math" panose="02040503050406030204" pitchFamily="18" charset="0"/>
                        </a:rPr>
                        <m:t>+900</m:t>
                      </m:r>
                      <m:r>
                        <a:rPr lang="en-US" alt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en-US" i="1">
                          <a:latin typeface="Cambria Math" panose="02040503050406030204" pitchFamily="18" charset="0"/>
                        </a:rPr>
                        <m:t>+100</m:t>
                      </m:r>
                    </m:oMath>
                  </m:oMathPara>
                </a14:m>
                <a:endParaRPr lang="en-US" altLang="en-US" dirty="0"/>
              </a:p>
              <a:p>
                <a:pPr marL="225425" indent="0">
                  <a:buNone/>
                </a:pPr>
                <a:r>
                  <a:rPr lang="en-US" dirty="0">
                    <a:ea typeface="Times New Roman" panose="02020603050405020304" pitchFamily="18" charset="0"/>
                  </a:rPr>
                  <a:t>where x is constrained to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0−31</m:t>
                        </m:r>
                      </m:e>
                    </m:d>
                  </m:oMath>
                </a14:m>
                <a:r>
                  <a:rPr lang="en-US" dirty="0">
                    <a:ea typeface="Times New Roman" panose="02020603050405020304" pitchFamily="18" charset="0"/>
                  </a:rPr>
                  <a:t>. We wish to maximize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>
                    <a:ea typeface="Times New Roman" panose="02020603050405020304" pitchFamily="18" charset="0"/>
                  </a:rPr>
                  <a:t> (the optimal is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>
                    <a:ea typeface="Times New Roman" panose="02020603050405020304" pitchFamily="18" charset="0"/>
                  </a:rPr>
                  <a:t>). Using a binary representation we can represent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ea typeface="Times New Roman" panose="02020603050405020304" pitchFamily="18" charset="0"/>
                  </a:rPr>
                  <a:t> using five binary digits.</a:t>
                </a:r>
              </a:p>
              <a:p>
                <a:r>
                  <a:rPr lang="en-US" dirty="0">
                    <a:ea typeface="Times New Roman" panose="02020603050405020304" pitchFamily="18" charset="0"/>
                  </a:rPr>
                  <a:t>Given the following four chromosomes give the values for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ea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>
                    <a:ea typeface="Times New Roman" panose="02020603050405020304" pitchFamily="18" charset="0"/>
                  </a:rPr>
                  <a:t>.</a:t>
                </a:r>
              </a:p>
              <a:p>
                <a:endParaRPr lang="en-US" dirty="0">
                  <a:ea typeface="Times New Roman" panose="02020603050405020304" pitchFamily="18" charset="0"/>
                </a:endParaRPr>
              </a:p>
              <a:p>
                <a:endParaRPr lang="en-US" dirty="0">
                  <a:ea typeface="Times New Roman" panose="02020603050405020304" pitchFamily="18" charset="0"/>
                </a:endParaRPr>
              </a:p>
              <a:p>
                <a:endParaRPr lang="en-US" dirty="0">
                  <a:ea typeface="Times New Roman" panose="02020603050405020304" pitchFamily="18" charset="0"/>
                </a:endParaRPr>
              </a:p>
              <a:p>
                <a:endParaRPr lang="en-US" dirty="0">
                  <a:ea typeface="Times New Roman" panose="02020603050405020304" pitchFamily="18" charset="0"/>
                </a:endParaRPr>
              </a:p>
              <a:p>
                <a:r>
                  <a:rPr lang="en-US" dirty="0">
                    <a:ea typeface="Times New Roman" panose="02020603050405020304" pitchFamily="18" charset="0"/>
                  </a:rPr>
                  <a:t>If P</a:t>
                </a:r>
                <a:r>
                  <a:rPr lang="en-US" baseline="-25000" dirty="0">
                    <a:ea typeface="Times New Roman" panose="02020603050405020304" pitchFamily="18" charset="0"/>
                  </a:rPr>
                  <a:t>3</a:t>
                </a:r>
                <a:r>
                  <a:rPr lang="en-US" dirty="0">
                    <a:ea typeface="Times New Roman" panose="02020603050405020304" pitchFamily="18" charset="0"/>
                  </a:rPr>
                  <a:t> and P</a:t>
                </a:r>
                <a:r>
                  <a:rPr lang="en-US" baseline="-25000" dirty="0">
                    <a:ea typeface="Times New Roman" panose="02020603050405020304" pitchFamily="18" charset="0"/>
                  </a:rPr>
                  <a:t>2</a:t>
                </a:r>
                <a:r>
                  <a:rPr lang="en-US" dirty="0">
                    <a:ea typeface="Times New Roman" panose="02020603050405020304" pitchFamily="18" charset="0"/>
                  </a:rPr>
                  <a:t> are chosen as parents and we apply one point crossover show the resulting children, C</a:t>
                </a:r>
                <a:r>
                  <a:rPr lang="en-US" baseline="-25000" dirty="0">
                    <a:ea typeface="Times New Roman" panose="02020603050405020304" pitchFamily="18" charset="0"/>
                  </a:rPr>
                  <a:t>1</a:t>
                </a:r>
                <a:r>
                  <a:rPr lang="en-US" dirty="0">
                    <a:ea typeface="Times New Roman" panose="02020603050405020304" pitchFamily="18" charset="0"/>
                  </a:rPr>
                  <a:t> and C</a:t>
                </a:r>
                <a:r>
                  <a:rPr lang="en-US" baseline="-25000" dirty="0">
                    <a:ea typeface="Times New Roman" panose="02020603050405020304" pitchFamily="18" charset="0"/>
                  </a:rPr>
                  <a:t>2</a:t>
                </a:r>
                <a:r>
                  <a:rPr lang="en-US" dirty="0">
                    <a:ea typeface="Times New Roman" panose="02020603050405020304" pitchFamily="18" charset="0"/>
                  </a:rPr>
                  <a:t>.  Use a crossover point of 1 (where 0 is to the very left of the chromosome)</a:t>
                </a:r>
              </a:p>
              <a:p>
                <a:r>
                  <a:rPr lang="en-US" dirty="0">
                    <a:ea typeface="Times New Roman" panose="02020603050405020304" pitchFamily="18" charset="0"/>
                  </a:rPr>
                  <a:t>Do the same using P</a:t>
                </a:r>
                <a:r>
                  <a:rPr lang="en-US" baseline="-25000" dirty="0">
                    <a:ea typeface="Times New Roman" panose="02020603050405020304" pitchFamily="18" charset="0"/>
                  </a:rPr>
                  <a:t>4</a:t>
                </a:r>
                <a:r>
                  <a:rPr lang="en-US" dirty="0">
                    <a:ea typeface="Times New Roman" panose="02020603050405020304" pitchFamily="18" charset="0"/>
                  </a:rPr>
                  <a:t> and P</a:t>
                </a:r>
                <a:r>
                  <a:rPr lang="en-US" baseline="-25000" dirty="0">
                    <a:ea typeface="Times New Roman" panose="02020603050405020304" pitchFamily="18" charset="0"/>
                  </a:rPr>
                  <a:t>2</a:t>
                </a:r>
                <a:r>
                  <a:rPr lang="en-US" dirty="0">
                    <a:ea typeface="Times New Roman" panose="02020603050405020304" pitchFamily="18" charset="0"/>
                  </a:rPr>
                  <a:t> with a crossover point of 2 and create C</a:t>
                </a:r>
                <a:r>
                  <a:rPr lang="en-US" baseline="-25000" dirty="0">
                    <a:ea typeface="Times New Roman" panose="02020603050405020304" pitchFamily="18" charset="0"/>
                  </a:rPr>
                  <a:t>3</a:t>
                </a:r>
                <a:r>
                  <a:rPr lang="en-US" dirty="0">
                    <a:ea typeface="Times New Roman" panose="02020603050405020304" pitchFamily="18" charset="0"/>
                  </a:rPr>
                  <a:t> and C</a:t>
                </a:r>
                <a:r>
                  <a:rPr lang="en-US" baseline="-25000" dirty="0">
                    <a:ea typeface="Times New Roman" panose="02020603050405020304" pitchFamily="18" charset="0"/>
                  </a:rPr>
                  <a:t>4</a:t>
                </a:r>
                <a:endParaRPr lang="en-US" dirty="0"/>
              </a:p>
              <a:p>
                <a:r>
                  <a:rPr lang="en-US" dirty="0">
                    <a:ea typeface="Times New Roman" panose="02020603050405020304" pitchFamily="18" charset="0"/>
                  </a:rPr>
                  <a:t>Calculate the value of x and f(x) for C</a:t>
                </a:r>
                <a:r>
                  <a:rPr lang="en-US" baseline="-25000" dirty="0">
                    <a:ea typeface="Times New Roman" panose="02020603050405020304" pitchFamily="18" charset="0"/>
                  </a:rPr>
                  <a:t>1</a:t>
                </a:r>
                <a:r>
                  <a:rPr lang="en-US" dirty="0">
                    <a:ea typeface="Times New Roman" panose="02020603050405020304" pitchFamily="18" charset="0"/>
                  </a:rPr>
                  <a:t> to C</a:t>
                </a:r>
                <a:r>
                  <a:rPr lang="en-US" baseline="-25000" dirty="0">
                    <a:ea typeface="Times New Roman" panose="02020603050405020304" pitchFamily="18" charset="0"/>
                  </a:rPr>
                  <a:t>4</a:t>
                </a:r>
                <a:r>
                  <a:rPr lang="en-US" dirty="0">
                    <a:ea typeface="Times New Roman" panose="02020603050405020304" pitchFamily="18" charset="0"/>
                  </a:rPr>
                  <a:t>.</a:t>
                </a:r>
                <a:endParaRPr lang="en-US" dirty="0"/>
              </a:p>
              <a:p>
                <a:r>
                  <a:rPr lang="en-US" dirty="0">
                    <a:ea typeface="Times New Roman" panose="02020603050405020304" pitchFamily="18" charset="0"/>
                  </a:rPr>
                  <a:t>Assume the initial population was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17, 21, 4, 28</m:t>
                        </m:r>
                      </m:e>
                    </m:d>
                  </m:oMath>
                </a14:m>
                <a:r>
                  <a:rPr lang="en-US" dirty="0">
                    <a:ea typeface="Times New Roman" panose="02020603050405020304" pitchFamily="18" charset="0"/>
                  </a:rPr>
                  <a:t>. Using one-point crossover, what is the probability of finding the optimal solution? Explain your reasons.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58055"/>
              </a:xfrm>
              <a:blipFill rotWithShape="0">
                <a:blip r:embed="rId2"/>
                <a:stretch>
                  <a:fillRect l="-522" t="-23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72392"/>
              </p:ext>
            </p:extLst>
          </p:nvPr>
        </p:nvGraphicFramePr>
        <p:xfrm>
          <a:off x="4263517" y="3320247"/>
          <a:ext cx="3664966" cy="131863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75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9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30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Chromosome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Binary String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58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P</a:t>
                      </a:r>
                      <a:r>
                        <a:rPr lang="en-US" sz="1600" baseline="-25000" dirty="0">
                          <a:effectLst/>
                        </a:rPr>
                        <a:t>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11100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58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P</a:t>
                      </a:r>
                      <a:r>
                        <a:rPr lang="en-US" sz="1600" baseline="-25000" dirty="0">
                          <a:effectLst/>
                        </a:rPr>
                        <a:t>2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01111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58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P</a:t>
                      </a:r>
                      <a:r>
                        <a:rPr lang="en-US" sz="1600" baseline="-25000">
                          <a:effectLst/>
                        </a:rPr>
                        <a:t>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10111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58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P</a:t>
                      </a:r>
                      <a:r>
                        <a:rPr lang="en-US" sz="1600" baseline="-25000">
                          <a:effectLst/>
                        </a:rPr>
                        <a:t>4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00100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24995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 – SOLUTION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>
                    <a:ea typeface="Times New Roman" panose="02020603050405020304" pitchFamily="18" charset="0"/>
                  </a:rPr>
                  <a:t>Given the following four chromosomes give the values for </a:t>
                </a:r>
                <a14:m>
                  <m:oMath xmlns:m="http://schemas.openxmlformats.org/officeDocument/2006/math">
                    <m:r>
                      <a:rPr lang="en-US" alt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 dirty="0">
                    <a:ea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en-US" b="1" i="1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b="1" dirty="0">
                    <a:ea typeface="Times New Roman" panose="02020603050405020304" pitchFamily="18" charset="0"/>
                  </a:rPr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429479"/>
              </p:ext>
            </p:extLst>
          </p:nvPr>
        </p:nvGraphicFramePr>
        <p:xfrm>
          <a:off x="3549586" y="3086894"/>
          <a:ext cx="5092827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05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7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93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Chromosome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Binary String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x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f(x)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P</a:t>
                      </a:r>
                      <a:r>
                        <a:rPr lang="en-US" sz="2400" baseline="-25000" dirty="0">
                          <a:effectLst/>
                        </a:rPr>
                        <a:t>1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11100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28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212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P</a:t>
                      </a:r>
                      <a:r>
                        <a:rPr lang="en-US" sz="2400" baseline="-25000">
                          <a:effectLst/>
                        </a:rPr>
                        <a:t>2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01111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15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3475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P</a:t>
                      </a:r>
                      <a:r>
                        <a:rPr lang="en-US" sz="2400" baseline="-25000">
                          <a:effectLst/>
                        </a:rPr>
                        <a:t>3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10111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23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1227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P</a:t>
                      </a:r>
                      <a:r>
                        <a:rPr lang="en-US" sz="2400" baseline="-25000">
                          <a:effectLst/>
                        </a:rPr>
                        <a:t>4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00100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4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2804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68715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 – SOLUTION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ea typeface="Times New Roman" panose="02020603050405020304" pitchFamily="18" charset="0"/>
              </a:rPr>
              <a:t>If P</a:t>
            </a:r>
            <a:r>
              <a:rPr lang="en-US" b="1" baseline="-25000" dirty="0">
                <a:ea typeface="Times New Roman" panose="02020603050405020304" pitchFamily="18" charset="0"/>
              </a:rPr>
              <a:t>3</a:t>
            </a:r>
            <a:r>
              <a:rPr lang="en-US" b="1" dirty="0">
                <a:ea typeface="Times New Roman" panose="02020603050405020304" pitchFamily="18" charset="0"/>
              </a:rPr>
              <a:t> and P</a:t>
            </a:r>
            <a:r>
              <a:rPr lang="en-US" b="1" baseline="-25000" dirty="0">
                <a:ea typeface="Times New Roman" panose="02020603050405020304" pitchFamily="18" charset="0"/>
              </a:rPr>
              <a:t>2</a:t>
            </a:r>
            <a:r>
              <a:rPr lang="en-US" b="1" dirty="0">
                <a:ea typeface="Times New Roman" panose="02020603050405020304" pitchFamily="18" charset="0"/>
              </a:rPr>
              <a:t> are chosen as parents and we apply one point crossover show the resulting children, C</a:t>
            </a:r>
            <a:r>
              <a:rPr lang="en-US" b="1" baseline="-25000" dirty="0">
                <a:ea typeface="Times New Roman" panose="02020603050405020304" pitchFamily="18" charset="0"/>
              </a:rPr>
              <a:t>1</a:t>
            </a:r>
            <a:r>
              <a:rPr lang="en-US" b="1" dirty="0">
                <a:ea typeface="Times New Roman" panose="02020603050405020304" pitchFamily="18" charset="0"/>
              </a:rPr>
              <a:t> and C</a:t>
            </a:r>
            <a:r>
              <a:rPr lang="en-US" b="1" baseline="-25000" dirty="0">
                <a:ea typeface="Times New Roman" panose="02020603050405020304" pitchFamily="18" charset="0"/>
              </a:rPr>
              <a:t>2</a:t>
            </a:r>
            <a:r>
              <a:rPr lang="en-US" b="1" dirty="0">
                <a:ea typeface="Times New Roman" panose="02020603050405020304" pitchFamily="18" charset="0"/>
              </a:rPr>
              <a:t>.  Use a crossover point of 1 (where 0 is to the very left of the chromosome)</a:t>
            </a:r>
          </a:p>
          <a:p>
            <a:r>
              <a:rPr lang="en-US" b="1" dirty="0">
                <a:ea typeface="Times New Roman" panose="02020603050405020304" pitchFamily="18" charset="0"/>
              </a:rPr>
              <a:t>Calculate the value of x and f(x) for C</a:t>
            </a:r>
            <a:r>
              <a:rPr lang="en-US" b="1" baseline="-25000" dirty="0">
                <a:ea typeface="Times New Roman" panose="02020603050405020304" pitchFamily="18" charset="0"/>
              </a:rPr>
              <a:t>1</a:t>
            </a:r>
            <a:r>
              <a:rPr lang="en-US" b="1" dirty="0">
                <a:ea typeface="Times New Roman" panose="02020603050405020304" pitchFamily="18" charset="0"/>
              </a:rPr>
              <a:t> to C</a:t>
            </a:r>
            <a:r>
              <a:rPr lang="en-US" b="1" baseline="-25000" dirty="0">
                <a:ea typeface="Times New Roman" panose="02020603050405020304" pitchFamily="18" charset="0"/>
              </a:rPr>
              <a:t>4</a:t>
            </a:r>
            <a:r>
              <a:rPr lang="en-US" b="1" dirty="0">
                <a:ea typeface="Times New Roman" panose="02020603050405020304" pitchFamily="18" charset="0"/>
              </a:rPr>
              <a:t>.</a:t>
            </a:r>
            <a:endParaRPr lang="en-US" b="1" dirty="0"/>
          </a:p>
          <a:p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9459708"/>
              </p:ext>
            </p:extLst>
          </p:nvPr>
        </p:nvGraphicFramePr>
        <p:xfrm>
          <a:off x="3549586" y="3729185"/>
          <a:ext cx="5092827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05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7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93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Chromosome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Binary String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x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f(x)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C</a:t>
                      </a:r>
                      <a:r>
                        <a:rPr lang="en-US" sz="2400" baseline="-25000" dirty="0">
                          <a:effectLst/>
                        </a:rPr>
                        <a:t>1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11111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31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131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C</a:t>
                      </a:r>
                      <a:r>
                        <a:rPr lang="en-US" sz="2400" baseline="-25000">
                          <a:effectLst/>
                        </a:rPr>
                        <a:t>2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00111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7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3803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C</a:t>
                      </a:r>
                      <a:r>
                        <a:rPr lang="en-US" sz="2400" baseline="-25000">
                          <a:effectLst/>
                        </a:rPr>
                        <a:t>3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00111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7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3803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C</a:t>
                      </a:r>
                      <a:r>
                        <a:rPr lang="en-US" sz="2400" baseline="-25000">
                          <a:effectLst/>
                        </a:rPr>
                        <a:t>4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01100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12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3998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43199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Aft>
                <a:spcPts val="300"/>
              </a:spcAft>
            </a:pPr>
            <a:r>
              <a:rPr lang="en-US" altLang="en-US" dirty="0"/>
              <a:t>GA Example - Crossover</a:t>
            </a:r>
            <a:endParaRPr lang="en-GB" altLang="en-US" dirty="0"/>
          </a:p>
        </p:txBody>
      </p:sp>
      <p:grpSp>
        <p:nvGrpSpPr>
          <p:cNvPr id="180263" name="Group 39"/>
          <p:cNvGrpSpPr>
            <a:grpSpLocks/>
          </p:cNvGrpSpPr>
          <p:nvPr/>
        </p:nvGrpSpPr>
        <p:grpSpPr bwMode="auto">
          <a:xfrm>
            <a:off x="1752600" y="2743201"/>
            <a:ext cx="3733800" cy="2122488"/>
            <a:chOff x="144" y="1728"/>
            <a:chExt cx="2352" cy="1337"/>
          </a:xfrm>
        </p:grpSpPr>
        <p:grpSp>
          <p:nvGrpSpPr>
            <p:cNvPr id="180247" name="Group 23"/>
            <p:cNvGrpSpPr>
              <a:grpSpLocks/>
            </p:cNvGrpSpPr>
            <p:nvPr/>
          </p:nvGrpSpPr>
          <p:grpSpPr bwMode="auto">
            <a:xfrm>
              <a:off x="576" y="1824"/>
              <a:ext cx="1920" cy="521"/>
              <a:chOff x="1104" y="2208"/>
              <a:chExt cx="1920" cy="521"/>
            </a:xfrm>
          </p:grpSpPr>
          <p:grpSp>
            <p:nvGrpSpPr>
              <p:cNvPr id="180237" name="Group 13"/>
              <p:cNvGrpSpPr>
                <a:grpSpLocks/>
              </p:cNvGrpSpPr>
              <p:nvPr/>
            </p:nvGrpSpPr>
            <p:grpSpPr bwMode="auto">
              <a:xfrm>
                <a:off x="1104" y="2208"/>
                <a:ext cx="1920" cy="233"/>
                <a:chOff x="1104" y="2208"/>
                <a:chExt cx="1920" cy="233"/>
              </a:xfrm>
            </p:grpSpPr>
            <p:sp>
              <p:nvSpPr>
                <p:cNvPr id="180231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1104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 dirty="0"/>
                    <a:t>1</a:t>
                  </a:r>
                </a:p>
              </p:txBody>
            </p:sp>
            <p:sp>
              <p:nvSpPr>
                <p:cNvPr id="180232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1488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0</a:t>
                  </a:r>
                </a:p>
              </p:txBody>
            </p:sp>
            <p:sp>
              <p:nvSpPr>
                <p:cNvPr id="180233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1872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  <p:sp>
              <p:nvSpPr>
                <p:cNvPr id="180234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2256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  <p:sp>
              <p:nvSpPr>
                <p:cNvPr id="180236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2640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</p:grpSp>
          <p:grpSp>
            <p:nvGrpSpPr>
              <p:cNvPr id="180238" name="Group 14"/>
              <p:cNvGrpSpPr>
                <a:grpSpLocks/>
              </p:cNvGrpSpPr>
              <p:nvPr/>
            </p:nvGrpSpPr>
            <p:grpSpPr bwMode="auto">
              <a:xfrm>
                <a:off x="1104" y="2496"/>
                <a:ext cx="1920" cy="233"/>
                <a:chOff x="1104" y="2208"/>
                <a:chExt cx="1920" cy="233"/>
              </a:xfrm>
            </p:grpSpPr>
            <p:sp>
              <p:nvSpPr>
                <p:cNvPr id="180239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1104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0</a:t>
                  </a:r>
                </a:p>
              </p:txBody>
            </p:sp>
            <p:sp>
              <p:nvSpPr>
                <p:cNvPr id="180240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1488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  <p:sp>
              <p:nvSpPr>
                <p:cNvPr id="180241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1872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  <p:sp>
              <p:nvSpPr>
                <p:cNvPr id="180242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2256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 dirty="0"/>
                    <a:t>1</a:t>
                  </a:r>
                </a:p>
              </p:txBody>
            </p:sp>
            <p:sp>
              <p:nvSpPr>
                <p:cNvPr id="180243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2640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</p:grpSp>
        </p:grpSp>
        <p:sp>
          <p:nvSpPr>
            <p:cNvPr id="180244" name="Text Box 20"/>
            <p:cNvSpPr txBox="1">
              <a:spLocks noChangeArrowheads="1"/>
            </p:cNvSpPr>
            <p:nvPr/>
          </p:nvSpPr>
          <p:spPr bwMode="auto">
            <a:xfrm>
              <a:off x="192" y="1824"/>
              <a:ext cx="38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/>
                <a:t>P</a:t>
              </a:r>
              <a:r>
                <a:rPr lang="en-US" altLang="en-US" baseline="-25000"/>
                <a:t>3</a:t>
              </a:r>
              <a:endParaRPr lang="en-US" altLang="en-US"/>
            </a:p>
          </p:txBody>
        </p:sp>
        <p:sp>
          <p:nvSpPr>
            <p:cNvPr id="180245" name="Text Box 21"/>
            <p:cNvSpPr txBox="1">
              <a:spLocks noChangeArrowheads="1"/>
            </p:cNvSpPr>
            <p:nvPr/>
          </p:nvSpPr>
          <p:spPr bwMode="auto">
            <a:xfrm>
              <a:off x="192" y="2112"/>
              <a:ext cx="38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/>
                <a:t>P</a:t>
              </a:r>
              <a:r>
                <a:rPr lang="en-US" altLang="en-US" baseline="-25000"/>
                <a:t>2</a:t>
              </a:r>
              <a:endParaRPr lang="en-US" altLang="en-US"/>
            </a:p>
          </p:txBody>
        </p:sp>
        <p:sp>
          <p:nvSpPr>
            <p:cNvPr id="180246" name="Line 22"/>
            <p:cNvSpPr>
              <a:spLocks noChangeShapeType="1"/>
            </p:cNvSpPr>
            <p:nvPr/>
          </p:nvSpPr>
          <p:spPr bwMode="auto">
            <a:xfrm>
              <a:off x="960" y="1728"/>
              <a:ext cx="0" cy="7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80248" name="Group 24"/>
            <p:cNvGrpSpPr>
              <a:grpSpLocks/>
            </p:cNvGrpSpPr>
            <p:nvPr/>
          </p:nvGrpSpPr>
          <p:grpSpPr bwMode="auto">
            <a:xfrm>
              <a:off x="576" y="2544"/>
              <a:ext cx="1920" cy="521"/>
              <a:chOff x="1104" y="2208"/>
              <a:chExt cx="1920" cy="521"/>
            </a:xfrm>
          </p:grpSpPr>
          <p:grpSp>
            <p:nvGrpSpPr>
              <p:cNvPr id="180249" name="Group 25"/>
              <p:cNvGrpSpPr>
                <a:grpSpLocks/>
              </p:cNvGrpSpPr>
              <p:nvPr/>
            </p:nvGrpSpPr>
            <p:grpSpPr bwMode="auto">
              <a:xfrm>
                <a:off x="1104" y="2208"/>
                <a:ext cx="1920" cy="233"/>
                <a:chOff x="1104" y="2208"/>
                <a:chExt cx="1920" cy="233"/>
              </a:xfrm>
            </p:grpSpPr>
            <p:sp>
              <p:nvSpPr>
                <p:cNvPr id="180250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1104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  <p:sp>
              <p:nvSpPr>
                <p:cNvPr id="180251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1488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  <p:sp>
              <p:nvSpPr>
                <p:cNvPr id="180252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1872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  <p:sp>
              <p:nvSpPr>
                <p:cNvPr id="180253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2256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  <p:sp>
              <p:nvSpPr>
                <p:cNvPr id="180254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2640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</p:grpSp>
          <p:grpSp>
            <p:nvGrpSpPr>
              <p:cNvPr id="180255" name="Group 31"/>
              <p:cNvGrpSpPr>
                <a:grpSpLocks/>
              </p:cNvGrpSpPr>
              <p:nvPr/>
            </p:nvGrpSpPr>
            <p:grpSpPr bwMode="auto">
              <a:xfrm>
                <a:off x="1104" y="2496"/>
                <a:ext cx="1920" cy="233"/>
                <a:chOff x="1104" y="2208"/>
                <a:chExt cx="1920" cy="233"/>
              </a:xfrm>
            </p:grpSpPr>
            <p:sp>
              <p:nvSpPr>
                <p:cNvPr id="180256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1104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0</a:t>
                  </a:r>
                </a:p>
              </p:txBody>
            </p:sp>
            <p:sp>
              <p:nvSpPr>
                <p:cNvPr id="180257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1488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0</a:t>
                  </a:r>
                </a:p>
              </p:txBody>
            </p:sp>
            <p:sp>
              <p:nvSpPr>
                <p:cNvPr id="180258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1872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  <p:sp>
              <p:nvSpPr>
                <p:cNvPr id="180259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2256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  <p:sp>
              <p:nvSpPr>
                <p:cNvPr id="180260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2640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</p:grpSp>
        </p:grpSp>
        <p:sp>
          <p:nvSpPr>
            <p:cNvPr id="180261" name="Text Box 37"/>
            <p:cNvSpPr txBox="1">
              <a:spLocks noChangeArrowheads="1"/>
            </p:cNvSpPr>
            <p:nvPr/>
          </p:nvSpPr>
          <p:spPr bwMode="auto">
            <a:xfrm>
              <a:off x="144" y="2544"/>
              <a:ext cx="38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/>
                <a:t>C</a:t>
              </a:r>
              <a:r>
                <a:rPr lang="en-US" altLang="en-US" baseline="-25000"/>
                <a:t>1</a:t>
              </a:r>
              <a:endParaRPr lang="en-US" altLang="en-US"/>
            </a:p>
          </p:txBody>
        </p:sp>
        <p:sp>
          <p:nvSpPr>
            <p:cNvPr id="180262" name="Text Box 38"/>
            <p:cNvSpPr txBox="1">
              <a:spLocks noChangeArrowheads="1"/>
            </p:cNvSpPr>
            <p:nvPr/>
          </p:nvSpPr>
          <p:spPr bwMode="auto">
            <a:xfrm>
              <a:off x="144" y="2832"/>
              <a:ext cx="38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/>
                <a:t>C</a:t>
              </a:r>
              <a:r>
                <a:rPr lang="en-US" altLang="en-US" baseline="-25000"/>
                <a:t>2</a:t>
              </a:r>
              <a:endParaRPr lang="en-US" altLang="en-US"/>
            </a:p>
          </p:txBody>
        </p:sp>
      </p:grpSp>
      <p:grpSp>
        <p:nvGrpSpPr>
          <p:cNvPr id="180296" name="Group 72"/>
          <p:cNvGrpSpPr>
            <a:grpSpLocks/>
          </p:cNvGrpSpPr>
          <p:nvPr/>
        </p:nvGrpSpPr>
        <p:grpSpPr bwMode="auto">
          <a:xfrm>
            <a:off x="6248400" y="2743201"/>
            <a:ext cx="3733800" cy="2122488"/>
            <a:chOff x="2976" y="1728"/>
            <a:chExt cx="2352" cy="1337"/>
          </a:xfrm>
        </p:grpSpPr>
        <p:grpSp>
          <p:nvGrpSpPr>
            <p:cNvPr id="180265" name="Group 41"/>
            <p:cNvGrpSpPr>
              <a:grpSpLocks/>
            </p:cNvGrpSpPr>
            <p:nvPr/>
          </p:nvGrpSpPr>
          <p:grpSpPr bwMode="auto">
            <a:xfrm>
              <a:off x="3408" y="1824"/>
              <a:ext cx="1920" cy="521"/>
              <a:chOff x="1104" y="2208"/>
              <a:chExt cx="1920" cy="521"/>
            </a:xfrm>
          </p:grpSpPr>
          <p:grpSp>
            <p:nvGrpSpPr>
              <p:cNvPr id="180266" name="Group 42"/>
              <p:cNvGrpSpPr>
                <a:grpSpLocks/>
              </p:cNvGrpSpPr>
              <p:nvPr/>
            </p:nvGrpSpPr>
            <p:grpSpPr bwMode="auto">
              <a:xfrm>
                <a:off x="1104" y="2208"/>
                <a:ext cx="1920" cy="233"/>
                <a:chOff x="1104" y="2208"/>
                <a:chExt cx="1920" cy="233"/>
              </a:xfrm>
            </p:grpSpPr>
            <p:sp>
              <p:nvSpPr>
                <p:cNvPr id="180267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1104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0</a:t>
                  </a:r>
                </a:p>
              </p:txBody>
            </p:sp>
            <p:sp>
              <p:nvSpPr>
                <p:cNvPr id="180268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1488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0</a:t>
                  </a:r>
                </a:p>
              </p:txBody>
            </p:sp>
            <p:sp>
              <p:nvSpPr>
                <p:cNvPr id="180269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1872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  <p:sp>
              <p:nvSpPr>
                <p:cNvPr id="180270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2256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0</a:t>
                  </a:r>
                </a:p>
              </p:txBody>
            </p:sp>
            <p:sp>
              <p:nvSpPr>
                <p:cNvPr id="180271" name="Text Box 47"/>
                <p:cNvSpPr txBox="1">
                  <a:spLocks noChangeArrowheads="1"/>
                </p:cNvSpPr>
                <p:nvPr/>
              </p:nvSpPr>
              <p:spPr bwMode="auto">
                <a:xfrm>
                  <a:off x="2640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0</a:t>
                  </a:r>
                </a:p>
              </p:txBody>
            </p:sp>
          </p:grpSp>
          <p:grpSp>
            <p:nvGrpSpPr>
              <p:cNvPr id="180272" name="Group 48"/>
              <p:cNvGrpSpPr>
                <a:grpSpLocks/>
              </p:cNvGrpSpPr>
              <p:nvPr/>
            </p:nvGrpSpPr>
            <p:grpSpPr bwMode="auto">
              <a:xfrm>
                <a:off x="1104" y="2496"/>
                <a:ext cx="1920" cy="233"/>
                <a:chOff x="1104" y="2208"/>
                <a:chExt cx="1920" cy="233"/>
              </a:xfrm>
            </p:grpSpPr>
            <p:sp>
              <p:nvSpPr>
                <p:cNvPr id="180273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1104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0</a:t>
                  </a:r>
                </a:p>
              </p:txBody>
            </p:sp>
            <p:sp>
              <p:nvSpPr>
                <p:cNvPr id="180274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1488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  <p:sp>
              <p:nvSpPr>
                <p:cNvPr id="180275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1872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  <p:sp>
              <p:nvSpPr>
                <p:cNvPr id="180276" name="Text Box 52"/>
                <p:cNvSpPr txBox="1">
                  <a:spLocks noChangeArrowheads="1"/>
                </p:cNvSpPr>
                <p:nvPr/>
              </p:nvSpPr>
              <p:spPr bwMode="auto">
                <a:xfrm>
                  <a:off x="2256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  <p:sp>
              <p:nvSpPr>
                <p:cNvPr id="180277" name="Text Box 53"/>
                <p:cNvSpPr txBox="1">
                  <a:spLocks noChangeArrowheads="1"/>
                </p:cNvSpPr>
                <p:nvPr/>
              </p:nvSpPr>
              <p:spPr bwMode="auto">
                <a:xfrm>
                  <a:off x="2640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</p:grpSp>
        </p:grpSp>
        <p:sp>
          <p:nvSpPr>
            <p:cNvPr id="180278" name="Text Box 54"/>
            <p:cNvSpPr txBox="1">
              <a:spLocks noChangeArrowheads="1"/>
            </p:cNvSpPr>
            <p:nvPr/>
          </p:nvSpPr>
          <p:spPr bwMode="auto">
            <a:xfrm>
              <a:off x="3024" y="1824"/>
              <a:ext cx="38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/>
                <a:t>P</a:t>
              </a:r>
              <a:r>
                <a:rPr lang="en-US" altLang="en-US" baseline="-25000"/>
                <a:t>4</a:t>
              </a:r>
              <a:endParaRPr lang="en-US" altLang="en-US"/>
            </a:p>
          </p:txBody>
        </p:sp>
        <p:sp>
          <p:nvSpPr>
            <p:cNvPr id="180279" name="Text Box 55"/>
            <p:cNvSpPr txBox="1">
              <a:spLocks noChangeArrowheads="1"/>
            </p:cNvSpPr>
            <p:nvPr/>
          </p:nvSpPr>
          <p:spPr bwMode="auto">
            <a:xfrm>
              <a:off x="3024" y="2112"/>
              <a:ext cx="38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/>
                <a:t>P</a:t>
              </a:r>
              <a:r>
                <a:rPr lang="en-US" altLang="en-US" baseline="-25000"/>
                <a:t>2</a:t>
              </a:r>
              <a:endParaRPr lang="en-US" altLang="en-US"/>
            </a:p>
          </p:txBody>
        </p:sp>
        <p:sp>
          <p:nvSpPr>
            <p:cNvPr id="180280" name="Line 56"/>
            <p:cNvSpPr>
              <a:spLocks noChangeShapeType="1"/>
            </p:cNvSpPr>
            <p:nvPr/>
          </p:nvSpPr>
          <p:spPr bwMode="auto">
            <a:xfrm>
              <a:off x="4176" y="1728"/>
              <a:ext cx="0" cy="7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80281" name="Group 57"/>
            <p:cNvGrpSpPr>
              <a:grpSpLocks/>
            </p:cNvGrpSpPr>
            <p:nvPr/>
          </p:nvGrpSpPr>
          <p:grpSpPr bwMode="auto">
            <a:xfrm>
              <a:off x="3408" y="2544"/>
              <a:ext cx="1920" cy="521"/>
              <a:chOff x="1104" y="2208"/>
              <a:chExt cx="1920" cy="521"/>
            </a:xfrm>
          </p:grpSpPr>
          <p:grpSp>
            <p:nvGrpSpPr>
              <p:cNvPr id="180282" name="Group 58"/>
              <p:cNvGrpSpPr>
                <a:grpSpLocks/>
              </p:cNvGrpSpPr>
              <p:nvPr/>
            </p:nvGrpSpPr>
            <p:grpSpPr bwMode="auto">
              <a:xfrm>
                <a:off x="1104" y="2208"/>
                <a:ext cx="1920" cy="233"/>
                <a:chOff x="1104" y="2208"/>
                <a:chExt cx="1920" cy="233"/>
              </a:xfrm>
            </p:grpSpPr>
            <p:sp>
              <p:nvSpPr>
                <p:cNvPr id="180283" name="Text Box 59"/>
                <p:cNvSpPr txBox="1">
                  <a:spLocks noChangeArrowheads="1"/>
                </p:cNvSpPr>
                <p:nvPr/>
              </p:nvSpPr>
              <p:spPr bwMode="auto">
                <a:xfrm>
                  <a:off x="1104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0</a:t>
                  </a:r>
                </a:p>
              </p:txBody>
            </p:sp>
            <p:sp>
              <p:nvSpPr>
                <p:cNvPr id="180284" name="Text Box 60"/>
                <p:cNvSpPr txBox="1">
                  <a:spLocks noChangeArrowheads="1"/>
                </p:cNvSpPr>
                <p:nvPr/>
              </p:nvSpPr>
              <p:spPr bwMode="auto">
                <a:xfrm>
                  <a:off x="1488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0</a:t>
                  </a:r>
                </a:p>
              </p:txBody>
            </p:sp>
            <p:sp>
              <p:nvSpPr>
                <p:cNvPr id="180285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1872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  <p:sp>
              <p:nvSpPr>
                <p:cNvPr id="180286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2256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  <p:sp>
              <p:nvSpPr>
                <p:cNvPr id="180287" name="Text Box 63"/>
                <p:cNvSpPr txBox="1">
                  <a:spLocks noChangeArrowheads="1"/>
                </p:cNvSpPr>
                <p:nvPr/>
              </p:nvSpPr>
              <p:spPr bwMode="auto">
                <a:xfrm>
                  <a:off x="2640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</p:grpSp>
          <p:grpSp>
            <p:nvGrpSpPr>
              <p:cNvPr id="180288" name="Group 64"/>
              <p:cNvGrpSpPr>
                <a:grpSpLocks/>
              </p:cNvGrpSpPr>
              <p:nvPr/>
            </p:nvGrpSpPr>
            <p:grpSpPr bwMode="auto">
              <a:xfrm>
                <a:off x="1104" y="2496"/>
                <a:ext cx="1920" cy="233"/>
                <a:chOff x="1104" y="2208"/>
                <a:chExt cx="1920" cy="233"/>
              </a:xfrm>
            </p:grpSpPr>
            <p:sp>
              <p:nvSpPr>
                <p:cNvPr id="180289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1104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0</a:t>
                  </a:r>
                </a:p>
              </p:txBody>
            </p:sp>
            <p:sp>
              <p:nvSpPr>
                <p:cNvPr id="180290" name="Text Box 66"/>
                <p:cNvSpPr txBox="1">
                  <a:spLocks noChangeArrowheads="1"/>
                </p:cNvSpPr>
                <p:nvPr/>
              </p:nvSpPr>
              <p:spPr bwMode="auto">
                <a:xfrm>
                  <a:off x="1488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  <p:sp>
              <p:nvSpPr>
                <p:cNvPr id="180291" name="Text Box 67"/>
                <p:cNvSpPr txBox="1">
                  <a:spLocks noChangeArrowheads="1"/>
                </p:cNvSpPr>
                <p:nvPr/>
              </p:nvSpPr>
              <p:spPr bwMode="auto">
                <a:xfrm>
                  <a:off x="1872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  <p:sp>
              <p:nvSpPr>
                <p:cNvPr id="180292" name="Text Box 68"/>
                <p:cNvSpPr txBox="1">
                  <a:spLocks noChangeArrowheads="1"/>
                </p:cNvSpPr>
                <p:nvPr/>
              </p:nvSpPr>
              <p:spPr bwMode="auto">
                <a:xfrm>
                  <a:off x="2256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0</a:t>
                  </a:r>
                </a:p>
              </p:txBody>
            </p:sp>
            <p:sp>
              <p:nvSpPr>
                <p:cNvPr id="180293" name="Text Box 69"/>
                <p:cNvSpPr txBox="1">
                  <a:spLocks noChangeArrowheads="1"/>
                </p:cNvSpPr>
                <p:nvPr/>
              </p:nvSpPr>
              <p:spPr bwMode="auto">
                <a:xfrm>
                  <a:off x="2640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0</a:t>
                  </a:r>
                </a:p>
              </p:txBody>
            </p:sp>
          </p:grpSp>
        </p:grpSp>
        <p:sp>
          <p:nvSpPr>
            <p:cNvPr id="180294" name="Text Box 70"/>
            <p:cNvSpPr txBox="1">
              <a:spLocks noChangeArrowheads="1"/>
            </p:cNvSpPr>
            <p:nvPr/>
          </p:nvSpPr>
          <p:spPr bwMode="auto">
            <a:xfrm>
              <a:off x="2976" y="2544"/>
              <a:ext cx="38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/>
                <a:t>C</a:t>
              </a:r>
              <a:r>
                <a:rPr lang="en-US" altLang="en-US" baseline="-25000"/>
                <a:t>3</a:t>
              </a:r>
              <a:endParaRPr lang="en-US" altLang="en-US"/>
            </a:p>
          </p:txBody>
        </p:sp>
        <p:sp>
          <p:nvSpPr>
            <p:cNvPr id="180295" name="Text Box 71"/>
            <p:cNvSpPr txBox="1">
              <a:spLocks noChangeArrowheads="1"/>
            </p:cNvSpPr>
            <p:nvPr/>
          </p:nvSpPr>
          <p:spPr bwMode="auto">
            <a:xfrm>
              <a:off x="2976" y="2832"/>
              <a:ext cx="38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/>
                <a:t>C</a:t>
              </a:r>
              <a:r>
                <a:rPr lang="en-US" altLang="en-US" baseline="-25000"/>
                <a:t>4</a:t>
              </a:r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43723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0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0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Aft>
                <a:spcPts val="300"/>
              </a:spcAft>
            </a:pPr>
            <a:r>
              <a:rPr lang="en-US" altLang="en-US"/>
              <a:t>GA Example - After First Round of Breeding</a:t>
            </a:r>
            <a:endParaRPr lang="en-GB" alt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The average evaluation has risen P</a:t>
            </a:r>
            <a:r>
              <a:rPr lang="en-US" altLang="en-US" baseline="-25000" dirty="0"/>
              <a:t>2</a:t>
            </a:r>
            <a:r>
              <a:rPr lang="en-US" altLang="en-US" dirty="0"/>
              <a:t>, was the strongest individual in the initial population. It was chosen both times but we have lost it from the current population</a:t>
            </a:r>
          </a:p>
          <a:p>
            <a:pPr>
              <a:buFontTx/>
              <a:buChar char="•"/>
            </a:pPr>
            <a:r>
              <a:rPr lang="en-US" altLang="en-US" dirty="0"/>
              <a:t>We have a value of x=7 in the population which is the closest value to 10 we have found</a:t>
            </a:r>
          </a:p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29370" y="4001294"/>
          <a:ext cx="7733260" cy="25603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98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4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8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23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Chromosome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Binary String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x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f(x)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P</a:t>
                      </a:r>
                      <a:r>
                        <a:rPr lang="en-US" sz="2400" baseline="-25000" dirty="0">
                          <a:effectLst/>
                        </a:rPr>
                        <a:t>1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11111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31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131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P</a:t>
                      </a:r>
                      <a:r>
                        <a:rPr lang="en-US" sz="2400" baseline="-25000" dirty="0">
                          <a:effectLst/>
                        </a:rPr>
                        <a:t>2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00111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7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3803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P</a:t>
                      </a:r>
                      <a:r>
                        <a:rPr lang="en-US" sz="2400" baseline="-25000" dirty="0">
                          <a:effectLst/>
                        </a:rPr>
                        <a:t>3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00111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7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3803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P</a:t>
                      </a:r>
                      <a:r>
                        <a:rPr lang="en-US" sz="2400" baseline="-25000" dirty="0">
                          <a:effectLst/>
                        </a:rPr>
                        <a:t>4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01100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12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3998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TOTAL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11735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AVERAGE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2933.75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7872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21334</TotalTime>
  <Words>2287</Words>
  <Application>Microsoft Office PowerPoint</Application>
  <PresentationFormat>Widescreen</PresentationFormat>
  <Paragraphs>523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Calibri</vt:lpstr>
      <vt:lpstr>Calibri Light</vt:lpstr>
      <vt:lpstr>Cambria Math</vt:lpstr>
      <vt:lpstr>Times</vt:lpstr>
      <vt:lpstr>Times New Roman</vt:lpstr>
      <vt:lpstr>Office Theme</vt:lpstr>
      <vt:lpstr>Genetic Algorithm</vt:lpstr>
      <vt:lpstr>Local Search and GA</vt:lpstr>
      <vt:lpstr>Evolutionary Computing</vt:lpstr>
      <vt:lpstr>Genetic Algorithms</vt:lpstr>
      <vt:lpstr>Genetic Algorithm</vt:lpstr>
      <vt:lpstr>Genetic Algorithm</vt:lpstr>
      <vt:lpstr>PowerPoint Presentation</vt:lpstr>
      <vt:lpstr>Genetic Algorithms</vt:lpstr>
      <vt:lpstr>Representation of States (Solution)</vt:lpstr>
      <vt:lpstr>Reproduction: Building New States</vt:lpstr>
      <vt:lpstr>Evaluation and Selection</vt:lpstr>
      <vt:lpstr>Survival of the Fittest</vt:lpstr>
      <vt:lpstr>Genetic Operators</vt:lpstr>
      <vt:lpstr>Crossover Operator</vt:lpstr>
      <vt:lpstr>Crossover</vt:lpstr>
      <vt:lpstr>Crossover operator</vt:lpstr>
      <vt:lpstr>Mutation operator</vt:lpstr>
      <vt:lpstr>Mutation</vt:lpstr>
      <vt:lpstr>Fitness Function (Optimization)</vt:lpstr>
      <vt:lpstr>Fitness Function (Optimization)</vt:lpstr>
      <vt:lpstr>Fitness Function (Optimization)</vt:lpstr>
      <vt:lpstr>Fitness Function (Optimization)</vt:lpstr>
      <vt:lpstr>Roulette-wheel selection</vt:lpstr>
      <vt:lpstr>Next Generation</vt:lpstr>
      <vt:lpstr>Next Generation cont.</vt:lpstr>
      <vt:lpstr>Second generation: c5 to c8</vt:lpstr>
      <vt:lpstr>Termination criteria </vt:lpstr>
      <vt:lpstr>Example: f(x)=x^2</vt:lpstr>
      <vt:lpstr>Example: f(x)=x^2</vt:lpstr>
      <vt:lpstr>f(x)=x^2</vt:lpstr>
      <vt:lpstr>f(x)=x^2</vt:lpstr>
      <vt:lpstr>Practice Question</vt:lpstr>
      <vt:lpstr>Practice Question</vt:lpstr>
      <vt:lpstr>Practice Question</vt:lpstr>
      <vt:lpstr>Practice Question</vt:lpstr>
      <vt:lpstr>Practice Question – SOLUTION </vt:lpstr>
      <vt:lpstr>Practice Question – SOLUTION </vt:lpstr>
      <vt:lpstr>GA Example - Crossover</vt:lpstr>
      <vt:lpstr>GA Example - After First Round of Breeding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Genetic Algorithm</dc:title>
  <dc:creator>FARHAN DAWOOD</dc:creator>
  <cp:lastModifiedBy>Dr. Mohsin Ashraf</cp:lastModifiedBy>
  <cp:revision>128</cp:revision>
  <dcterms:created xsi:type="dcterms:W3CDTF">2019-04-09T05:49:33Z</dcterms:created>
  <dcterms:modified xsi:type="dcterms:W3CDTF">2022-05-24T07:06:44Z</dcterms:modified>
</cp:coreProperties>
</file>